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Published rules (A)</c:v>
                </c:pt>
              </c:strCache>
            </c:strRef>
          </c:tx>
          <c:spPr>
            <a:solidFill>
              <a:srgbClr val="A6A6A6"/>
            </a:solidFill>
          </c:spPr>
          <c:invertIfNegative val="0"/>
          <c:cat>
            <c:strRef>
              <c:f>Sheet1!$A$2:$A$5</c:f>
              <c:strCache>
                <c:ptCount val="4"/>
                <c:pt idx="0">
                  <c:v>Blob</c:v>
                </c:pt>
                <c:pt idx="1">
                  <c:v>Data Class</c:v>
                </c:pt>
                <c:pt idx="2">
                  <c:v>Feature Envy</c:v>
                </c:pt>
                <c:pt idx="3">
                  <c:v>Long Method</c:v>
                </c:pt>
              </c:strCache>
            </c:strRef>
          </c:cat>
          <c:val>
            <c:numRef>
              <c:f>Sheet1!$B$2:$B$5</c:f>
              <c:numCache>
                <c:formatCode>0.00</c:formatCode>
                <c:ptCount val="4"/>
                <c:pt idx="0">
                  <c:v>0.3357</c:v>
                </c:pt>
                <c:pt idx="1">
                  <c:v>0.3668</c:v>
                </c:pt>
                <c:pt idx="2">
                  <c:v>0.2429</c:v>
                </c:pt>
                <c:pt idx="3">
                  <c:v>0.6166</c:v>
                </c:pt>
              </c:numCache>
            </c:numRef>
          </c:val>
        </c:ser>
        <c:ser>
          <c:idx val="1"/>
          <c:order val="1"/>
          <c:tx>
            <c:strRef>
              <c:f>Sheet1!$C$1</c:f>
              <c:strCache>
                <c:ptCount val="1"/>
                <c:pt idx="0">
                  <c:v>Best ML model (B)</c:v>
                </c:pt>
              </c:strCache>
            </c:strRef>
          </c:tx>
          <c:spPr>
            <a:solidFill>
              <a:srgbClr val="1F4E79"/>
            </a:solidFill>
          </c:spPr>
          <c:invertIfNegative val="0"/>
          <c:cat>
            <c:strRef>
              <c:f>Sheet1!$A$2:$A$5</c:f>
              <c:strCache>
                <c:ptCount val="4"/>
                <c:pt idx="0">
                  <c:v>Blob</c:v>
                </c:pt>
                <c:pt idx="1">
                  <c:v>Data Class</c:v>
                </c:pt>
                <c:pt idx="2">
                  <c:v>Feature Envy</c:v>
                </c:pt>
                <c:pt idx="3">
                  <c:v>Long Method</c:v>
                </c:pt>
              </c:strCache>
            </c:strRef>
          </c:cat>
          <c:val>
            <c:numRef>
              <c:f>Sheet1!$C$2:$C$5</c:f>
              <c:numCache>
                <c:formatCode>0.00</c:formatCode>
                <c:ptCount val="4"/>
                <c:pt idx="0">
                  <c:v>0.5387125336366718</c:v>
                </c:pt>
                <c:pt idx="1">
                  <c:v>0.4734406599321139</c:v>
                </c:pt>
                <c:pt idx="2">
                  <c:v>0.3205120550113616</c:v>
                </c:pt>
                <c:pt idx="3">
                  <c:v>0.7232588772153082</c:v>
                </c:pt>
              </c:numCache>
            </c:numRef>
          </c:val>
        </c:ser>
        <c:dLbls>
          <c:numFmt formatCode="0.00" sourceLinked="0"/>
          <c:txPr>
            <a:bodyPr/>
            <a:lstStyle/>
            <a:p>
              <a:pPr>
                <a:defRPr sz="1600"/>
              </a:pPr>
            </a:p>
          </c:txPr>
          <c:showLegendKey val="0"/>
          <c:showVal val="1"/>
          <c:showCatName val="0"/>
          <c:showSerName val="0"/>
          <c:showPercent val="0"/>
          <c:showBubbleSize val="0"/>
          <c:showLeaderLines val="1"/>
        </c:dLbls>
        <c:gapWidth val="60"/>
        <c:overlap val="-10"/>
        <c:axId val="-2068027336"/>
        <c:axId val="-2113994440"/>
      </c:barChart>
      <c:catAx>
        <c:axId val="-2068027336"/>
        <c:scaling>
          <c:orientation val="minMax"/>
        </c:scaling>
        <c:delete val="0"/>
        <c:axPos val="b"/>
        <c:majorTickMark val="out"/>
        <c:minorTickMark val="none"/>
        <c:tickLblPos val="low"/>
        <c:txPr>
          <a:bodyPr/>
          <a:lstStyle/>
          <a:p>
            <a:pPr>
              <a:defRPr sz="1800"/>
            </a:pPr>
          </a:p>
        </c:txPr>
        <c:crossAx val="-2113994440"/>
        <c:crosses val="autoZero"/>
        <c:auto val="1"/>
        <c:lblAlgn val="ctr"/>
        <c:lblOffset val="100"/>
        <c:noMultiLvlLbl val="0"/>
      </c:catAx>
      <c:valAx>
        <c:axId val="-2113994440"/>
        <c:scaling>
          <c:max val="1.0"/>
          <c:min val="0.0"/>
        </c:scaling>
        <c:delete/>
        <c:axPos val="l"/>
        <c:majorTickMark val="out"/>
        <c:minorTickMark val="none"/>
        <c:tickLblPos val="nextTo"/>
        <c:crossAx val="-2068027336"/>
        <c:crosses val="autoZero"/>
      </c:valAx>
    </c:plotArea>
    <c:legend>
      <c:legendPos val="t"/>
      <c:overlay val="0"/>
      <c:txPr>
        <a:bodyPr/>
        <a:lstStyle/>
        <a:p>
          <a:pPr>
            <a:defRPr sz="1600"/>
          </a:pPr>
        </a:p>
      </c:txPr>
    </c:legend>
    <c:dispBlanksAs val="gap"/>
  </c:chart>
  <c:txPr>
    <a:bodyPr/>
    <a:lstStyle/>
    <a:p>
      <a:pPr>
        <a:defRPr sz="1600">
          <a:latin typeface="Segoe U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Two reviewers</c:v>
                </c:pt>
              </c:strCache>
            </c:strRef>
          </c:tx>
          <c:spPr>
            <a:solidFill>
              <a:srgbClr val="1F4E79"/>
            </a:solidFill>
          </c:spPr>
          <c:invertIfNegative val="0"/>
          <c:dPt>
            <c:idx val="2"/>
            <c:invertIfNegative val="0"/>
            <c:spPr>
              <a:solidFill>
                <a:srgbClr val="8C2F22"/>
              </a:solidFill>
            </c:spPr>
          </c:dPt>
          <c:cat>
            <c:strRef>
              <c:f>Sheet1!$A$2:$A$5</c:f>
              <c:strCache>
                <c:ptCount val="4"/>
                <c:pt idx="0">
                  <c:v>Blob</c:v>
                </c:pt>
                <c:pt idx="1">
                  <c:v>Data Class</c:v>
                </c:pt>
                <c:pt idx="2">
                  <c:v>Feature Envy</c:v>
                </c:pt>
                <c:pt idx="3">
                  <c:v>Long Method</c:v>
                </c:pt>
              </c:strCache>
            </c:strRef>
          </c:cat>
          <c:val>
            <c:numRef>
              <c:f>Sheet1!$B$2:$B$5</c:f>
              <c:numCache>
                <c:formatCode>0.00</c:formatCode>
                <c:ptCount val="4"/>
                <c:pt idx="0">
                  <c:v>0.3122139059809652</c:v>
                </c:pt>
                <c:pt idx="1">
                  <c:v>0.3963586974485641</c:v>
                </c:pt>
                <c:pt idx="2">
                  <c:v>-0.07063755144675195</c:v>
                </c:pt>
                <c:pt idx="3">
                  <c:v>0.5671074064341379</c:v>
                </c:pt>
              </c:numCache>
            </c:numRef>
          </c:val>
        </c:ser>
        <c:dLbls>
          <c:numFmt formatCode="0.00" sourceLinked="0"/>
          <c:txPr>
            <a:bodyPr/>
            <a:lstStyle/>
            <a:p>
              <a:pPr>
                <a:defRPr sz="1600"/>
              </a:pPr>
            </a:p>
          </c:txPr>
          <c:showLegendKey val="0"/>
          <c:showVal val="1"/>
          <c:showCatName val="0"/>
          <c:showSerName val="0"/>
          <c:showPercent val="0"/>
          <c:showBubbleSize val="0"/>
          <c:showLeaderLines val="1"/>
        </c:dLbls>
        <c:gapWidth val="60"/>
        <c:overlap val="-10"/>
        <c:axId val="-2068027336"/>
        <c:axId val="-2113994440"/>
      </c:barChart>
      <c:catAx>
        <c:axId val="-2068027336"/>
        <c:scaling>
          <c:orientation val="minMax"/>
        </c:scaling>
        <c:delete val="0"/>
        <c:axPos val="b"/>
        <c:majorTickMark val="out"/>
        <c:minorTickMark val="none"/>
        <c:tickLblPos val="low"/>
        <c:txPr>
          <a:bodyPr/>
          <a:lstStyle/>
          <a:p>
            <a:pPr>
              <a:defRPr sz="1800"/>
            </a:pPr>
          </a:p>
        </c:txPr>
        <c:crossAx val="-2113994440"/>
        <c:crosses val="autoZero"/>
        <c:auto val="1"/>
        <c:lblAlgn val="ctr"/>
        <c:lblOffset val="100"/>
        <c:noMultiLvlLbl val="0"/>
      </c:catAx>
      <c:valAx>
        <c:axId val="-2113994440"/>
        <c:scaling>
          <c:max val="1.0"/>
          <c:min val="-0.2"/>
        </c:scaling>
        <c:delete/>
        <c:axPos val="l"/>
        <c:majorTickMark val="out"/>
        <c:minorTickMark val="none"/>
        <c:tickLblPos val="nextTo"/>
        <c:crossAx val="-2068027336"/>
        <c:crosses val="autoZero"/>
      </c:valAx>
    </c:plotArea>
    <c:dispBlanksAs val="gap"/>
  </c:chart>
  <c:txPr>
    <a:bodyPr/>
    <a:lstStyle/>
    <a:p>
      <a:pPr>
        <a:defRPr sz="1600">
          <a:latin typeface="Segoe U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Good morning, everyone. My name is Florent Latifi, and this work comes from my bachelor thesis at UBT, supervised by Altina Salihu. In the next ten minutes I will show how we can detect code smells in Java automatically, how accurate that detection really is, and how far we can go in fixing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Every developer knows the class that nobody wants to touch. The program works, but every change takes longer than it should. These design problems are called code smells. They are not bugs, but they make maintenance expensive. Most tools find them with fixed thresholds. For example, if a method is longer than a certain number of lines, it is a Long Method. But these numbers were calibrated on other code, and most tools only point at the problem. They do not fix it. So we asked three questions. First, how accurate are the published detection rules? Second, can machine learning do better with the same metrics? And third, can we fix smells automatically without breaking the code?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To answer them, I built a tool called JavaSmell. It reads Java code and measures 26 metrics for every class and method. On top of these metrics there are three approaches. A uses 8 detection strategies from the literature, such as Lanza and Marinescu and Fowler. B trains machine learning classifiers on the same metrics. And C is a refactoring engine. It rewrites code only when it can prove its preconditions from the syntax tree, and then it checks the result with the Java compiler.</a:t>
            </a:r>
            <a:r>
              <a:rPr i="1"/>
              <a:t> Every detection also shows the conditions it checked, so a developer can see why a class was flagged, not only that it was.</a:t>
            </a:r>
            <a:r>
              <a:rPr i="0"/>
              <a:t> On the right you can see the web interface. It also has a plain-language mode for people without a technical background.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For a fair test, we need labels from people. We used MLCQ, a public dataset where professional developers reviewed real open-source Java code. After matching the samples to our tool, we have 9,046 labeled samples from 512 repositories, for four smells.</a:t>
            </a:r>
            <a:r>
              <a:rPr i="1"/>
              <a:t> Blob is a class that does too much. Data Class only holds data and has almost no behavior. Long Method is a method that has grown too long, and Feature Envy is a method that uses another class more than its own.</a:t>
            </a:r>
            <a:r>
              <a:rPr i="0"/>
              <a:t> One important detail is how we split the data. Code from the same project looks very similar, so we grouped the data by repository: a model is never tested on a project it learned from. And we report the Matthews correlation coefficient, MCC. Most samples are clean, so simple accuracy would look very good even for a detector that never fires.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Here are the main results. The gray bars are the published rules, and the blue bars are the best machine learning model for each smell. The rules are often correct when they fire, but they catch only 17 to 47 percent of the smells that developers marked. The models are better on all four smells, with MCC from 0.32 to 0.72. We also computed 95 percent confidence intervals by resampling repositories. The improvement is clearly above zero for Blob, Data Class and Long Method. For Feature Envy, the difference could be chance.</a:t>
            </a:r>
            <a:r>
              <a:rPr i="1"/>
              <a:t> We also compared with PMD, a popular open-source analyzer, on the same samples. Once the confidence interval is considered, PMD is never ahead, and for Long Method our rules are clearly better.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Why is Feature Envy so hard? We measured how much the human reviewers agree with each other. For Blob, Data Class and Long Method, two reviewers agree only moderately. For Feature Envy, they agree no better than chance.</a:t>
            </a:r>
            <a:r>
              <a:rPr i="1"/>
              <a:t> For Feature Envy, their MCC is -0.07, practically zero. This matches the previous slide: Feature Envy is where the model could not clearly beat the rules.</a:t>
            </a:r>
            <a:r>
              <a:rPr i="0"/>
              <a:t> So the problem is not only the algorithm. It is the definition of the smell itself. If experts do not agree on what a smell is, no detector can learn it well. For me, this is the main lesson of the detection part.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Now the refactoring engine. It supports three transformations: Extract Method, Replace Nested Conditional with Guard Clauses, and Introduce Parameter Object. On the whole corpus it found 15,800 sites and rewrote 3,532 of them, which is 22 percent. The rest were refused, each with a reason.</a:t>
            </a:r>
            <a:r>
              <a:rPr i="1"/>
              <a:t> In 45 percent of the sites, the reason is simply that the code does not have the shape the transformation needs.</a:t>
            </a:r>
            <a:r>
              <a:rPr i="0"/>
              <a:t> For us, refusing is a correct result, not a failure. After rewriting, the smell disappeared in 65 percent of the cases. Only 1.6 percent of the rewrites introduced a new type of compilation error, and those never reach the code, because the tool only writes verified rewrites. I also read 60 rewrites by hand: after reweighting, about 63 percent would be acceptable to a developer.</a:t>
            </a:r>
            <a:r>
              <a:rPr i="1"/>
              <a:t> Refactoring can also create new smells: 865 appeared after rewriting, most often Long Parameter List, because Extract Method passes every input as a parameter.</a:t>
            </a:r>
            <a:r>
              <a:rPr i="1"/>
              <a:t> In that review, Guard Clauses were always acceptable, and Introduce Parameter Object never, because it only moves the long list into a new class.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Here is one real example from Apache Geode. Before, the whole method is wrapped in one if statement, so everything is nested deeply. After the rewrite, the condition becomes a guard clause with an early return, and the rest of the method moves one level up.</a:t>
            </a:r>
            <a:r>
              <a:rPr i="1"/>
              <a:t> The engine accepts only exactly this shape: a void method whose whole body is one if statement, without else. It also wraps the condition in a not, instead of inverting it by hand, so it stays correct for every condition.</a:t>
            </a:r>
            <a:r>
              <a:rPr i="0"/>
              <a:t> The rewrite passed the compiler check, and in my review it was acceptable as it is.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To be honest about the limits: compiling is not the same as behaving the same. We did not run the projects' test suites, so behavior preservation is future work. We also used one dataset, four smells, and only Java.</a:t>
            </a:r>
            <a:r>
              <a:rPr i="1"/>
              <a:t> And the best model was chosen on the same predictions it is scored on, so its numbers are slightly optimistic.</a:t>
            </a:r>
            <a:r>
              <a:rPr i="1"/>
              <a:t> As next steps, I would add a small symbol resolver to support more refactorings, and ask independent reviewers to judge the rewrites.</a:t>
            </a:r>
            <a:r>
              <a:rPr i="0"/>
              <a:t> To summarize: learned boundaries beat fixed thresholds. Safe automatic refactoring is possible, but narrow, and it should be reviewed by a developer. The tool is open source, and every number in this talk can be regenerated with a script. Thank you. I am happy to take your questions.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when asked for precision or recall per smell.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Above zero means the model's advantage is not explained by which projects happen to be in the sample.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whether choosing the best model inflates the result: yes, slightly. Even the weakest learning algorithm beats the rules on three of four smells.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PMD is never ahead once the confidence interval is considered. PMD has no Feature Envy rule.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Isolated files often cannot compile because their neighbours are missing; inside the project many more compile fully.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extracted method is named 'extracted'; choosing a meaningful name is left to the developer.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They used random 5-fold cross-validation and tuned hyperparameters; we grouped by repository and did not tune. Our results are in the same range.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chart" Target="../charts/char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11535" y="6355080"/>
            <a:ext cx="914400" cy="365760"/>
          </a:xfrm>
          <a:prstGeom prst="rect">
            <a:avLst/>
          </a:prstGeom>
          <a:noFill/>
        </p:spPr>
        <p:txBody>
          <a:bodyPr wrap="square">
            <a:spAutoFit/>
          </a:bodyPr>
          <a:lstStyle/>
          <a:p>
            <a:pPr>
              <a:defRPr sz="1200" b="0">
                <a:solidFill>
                  <a:srgbClr val="838D99"/>
                </a:solidFill>
                <a:latin typeface="Segoe UI"/>
              </a:defRPr>
            </a:pPr>
            <a:r>
              <a:t>1</a:t>
            </a:r>
          </a:p>
        </p:txBody>
      </p:sp>
      <p:sp>
        <p:nvSpPr>
          <p:cNvPr id="3" name="TextBox 2"/>
          <p:cNvSpPr txBox="1"/>
          <p:nvPr/>
        </p:nvSpPr>
        <p:spPr>
          <a:xfrm>
            <a:off x="777240" y="1828800"/>
            <a:ext cx="10637215" cy="1828800"/>
          </a:xfrm>
          <a:prstGeom prst="rect">
            <a:avLst/>
          </a:prstGeom>
          <a:noFill/>
        </p:spPr>
        <p:txBody>
          <a:bodyPr wrap="square">
            <a:spAutoFit/>
          </a:bodyPr>
          <a:lstStyle/>
          <a:p>
            <a:pPr>
              <a:defRPr sz="3600" b="0">
                <a:solidFill>
                  <a:srgbClr val="1A1D21"/>
                </a:solidFill>
                <a:latin typeface="Times New Roman"/>
              </a:defRPr>
            </a:pPr>
            <a:r>
              <a:t>Automated Code Smell Detection and Refactoring Recommendations Using Software Metrics and Machine Learning</a:t>
            </a:r>
          </a:p>
        </p:txBody>
      </p:sp>
      <p:sp>
        <p:nvSpPr>
          <p:cNvPr id="4" name="TextBox 3"/>
          <p:cNvSpPr txBox="1"/>
          <p:nvPr/>
        </p:nvSpPr>
        <p:spPr>
          <a:xfrm>
            <a:off x="777240" y="4023360"/>
            <a:ext cx="10637215" cy="1463040"/>
          </a:xfrm>
          <a:prstGeom prst="rect">
            <a:avLst/>
          </a:prstGeom>
          <a:noFill/>
        </p:spPr>
        <p:txBody>
          <a:bodyPr wrap="square">
            <a:spAutoFit/>
          </a:bodyPr>
          <a:lstStyle/>
          <a:p>
            <a:pPr>
              <a:defRPr sz="1900" b="0">
                <a:solidFill>
                  <a:srgbClr val="4C5560"/>
                </a:solidFill>
                <a:latin typeface="Segoe UI"/>
              </a:defRPr>
            </a:pPr>
            <a:r>
              <a:t>Florent Latifi  ·  Altina Salihu</a:t>
            </a:r>
          </a:p>
          <a:p>
            <a:pPr>
              <a:defRPr sz="1400">
                <a:solidFill>
                  <a:srgbClr val="838D99"/>
                </a:solidFill>
                <a:latin typeface="Segoe UI"/>
              </a:defRPr>
            </a:pPr>
            <a:r>
              <a:t>UBT – Higher Education Institution, Kosovo</a:t>
            </a:r>
          </a:p>
          <a:p>
            <a:pPr>
              <a:defRPr sz="1400">
                <a:solidFill>
                  <a:srgbClr val="838D99"/>
                </a:solidFill>
                <a:latin typeface="Segoe UI"/>
              </a:defRPr>
            </a:pPr>
            <a:r>
              <a:t>15th UBT Annual International Conference on Computer Science and Engineering  ·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11535" y="6355080"/>
            <a:ext cx="914400" cy="365760"/>
          </a:xfrm>
          <a:prstGeom prst="rect">
            <a:avLst/>
          </a:prstGeom>
          <a:noFill/>
        </p:spPr>
        <p:txBody>
          <a:bodyPr wrap="square">
            <a:spAutoFit/>
          </a:bodyPr>
          <a:lstStyle/>
          <a:p>
            <a:pPr>
              <a:defRPr sz="1200" b="0">
                <a:solidFill>
                  <a:srgbClr val="838D99"/>
                </a:solidFill>
                <a:latin typeface="Segoe UI"/>
              </a:defRPr>
            </a:pPr>
            <a:r>
              <a:t>2</a:t>
            </a:r>
          </a:p>
        </p:txBody>
      </p:sp>
      <p:sp>
        <p:nvSpPr>
          <p:cNvPr id="3" name="TextBox 2"/>
          <p:cNvSpPr txBox="1"/>
          <p:nvPr/>
        </p:nvSpPr>
        <p:spPr>
          <a:xfrm>
            <a:off x="777240" y="457200"/>
            <a:ext cx="10637215" cy="914400"/>
          </a:xfrm>
          <a:prstGeom prst="rect">
            <a:avLst/>
          </a:prstGeom>
          <a:noFill/>
        </p:spPr>
        <p:txBody>
          <a:bodyPr wrap="square">
            <a:spAutoFit/>
          </a:bodyPr>
          <a:lstStyle/>
          <a:p>
            <a:pPr>
              <a:defRPr sz="3400" b="0">
                <a:solidFill>
                  <a:srgbClr val="1A1D21"/>
                </a:solidFill>
                <a:latin typeface="Times New Roman"/>
              </a:defRPr>
            </a:pPr>
            <a:r>
              <a:t>The class nobody wants to touch</a:t>
            </a:r>
          </a:p>
          <a:p>
            <a:pPr>
              <a:defRPr sz="1400">
                <a:solidFill>
                  <a:srgbClr val="838D99"/>
                </a:solidFill>
                <a:latin typeface="Segoe UI"/>
              </a:defRPr>
            </a:pPr>
            <a:r>
              <a:t>Code smells are design problems, not bugs</a:t>
            </a:r>
          </a:p>
        </p:txBody>
      </p:sp>
      <p:sp>
        <p:nvSpPr>
          <p:cNvPr id="4" name="TextBox 3"/>
          <p:cNvSpPr txBox="1"/>
          <p:nvPr/>
        </p:nvSpPr>
        <p:spPr>
          <a:xfrm>
            <a:off x="777240" y="1645920"/>
            <a:ext cx="10637215" cy="4206240"/>
          </a:xfrm>
          <a:prstGeom prst="rect">
            <a:avLst/>
          </a:prstGeom>
          <a:noFill/>
        </p:spPr>
        <p:txBody>
          <a:bodyPr wrap="square">
            <a:spAutoFit/>
          </a:bodyPr>
          <a:lstStyle/>
          <a:p>
            <a:pPr>
              <a:spcAft>
                <a:spcPts val="1400"/>
              </a:spcAft>
              <a:defRPr sz="1900" b="0">
                <a:solidFill>
                  <a:srgbClr val="1A1D21"/>
                </a:solidFill>
                <a:latin typeface="Segoe UI"/>
              </a:defRPr>
            </a:pPr>
            <a:r>
              <a:t>·  The program works, but every change costs more than it should.</a:t>
            </a:r>
          </a:p>
          <a:p>
            <a:pPr>
              <a:spcAft>
                <a:spcPts val="1400"/>
              </a:spcAft>
              <a:defRPr sz="1900">
                <a:solidFill>
                  <a:srgbClr val="1A1D21"/>
                </a:solidFill>
                <a:latin typeface="Segoe UI"/>
              </a:defRPr>
            </a:pPr>
            <a:r>
              <a:t>·  Existing tools use fixed thresholds, calibrated on other code.</a:t>
            </a:r>
          </a:p>
          <a:p>
            <a:pPr>
              <a:spcAft>
                <a:spcPts val="1400"/>
              </a:spcAft>
              <a:defRPr sz="1900">
                <a:solidFill>
                  <a:srgbClr val="1A1D21"/>
                </a:solidFill>
                <a:latin typeface="Segoe UI"/>
              </a:defRPr>
            </a:pPr>
            <a:r>
              <a:t>·  They point at the problem, but rarely fix it.</a:t>
            </a:r>
          </a:p>
        </p:txBody>
      </p:sp>
      <p:sp>
        <p:nvSpPr>
          <p:cNvPr id="5" name="TextBox 4"/>
          <p:cNvSpPr txBox="1"/>
          <p:nvPr/>
        </p:nvSpPr>
        <p:spPr>
          <a:xfrm>
            <a:off x="777240" y="3886200"/>
            <a:ext cx="10637215" cy="2194560"/>
          </a:xfrm>
          <a:prstGeom prst="rect">
            <a:avLst/>
          </a:prstGeom>
          <a:noFill/>
        </p:spPr>
        <p:txBody>
          <a:bodyPr wrap="square">
            <a:spAutoFit/>
          </a:bodyPr>
          <a:lstStyle/>
          <a:p>
            <a:pPr>
              <a:spcAft>
                <a:spcPts val="800"/>
              </a:spcAft>
              <a:defRPr sz="1900" b="0">
                <a:solidFill>
                  <a:srgbClr val="1F4E79"/>
                </a:solidFill>
                <a:latin typeface="Segoe UI"/>
              </a:defRPr>
            </a:pPr>
            <a:r>
              <a:t>RQ1  How accurate are published detection rules?</a:t>
            </a:r>
          </a:p>
          <a:p>
            <a:pPr>
              <a:spcAft>
                <a:spcPts val="800"/>
              </a:spcAft>
              <a:defRPr sz="1900">
                <a:solidFill>
                  <a:srgbClr val="1F4E79"/>
                </a:solidFill>
                <a:latin typeface="Segoe UI"/>
              </a:defRPr>
            </a:pPr>
            <a:r>
              <a:t>RQ2  Does machine learning on the same metrics do better?</a:t>
            </a:r>
          </a:p>
          <a:p>
            <a:pPr>
              <a:spcAft>
                <a:spcPts val="800"/>
              </a:spcAft>
              <a:defRPr sz="1900">
                <a:solidFill>
                  <a:srgbClr val="1F4E79"/>
                </a:solidFill>
                <a:latin typeface="Segoe UI"/>
              </a:defRPr>
            </a:pPr>
            <a:r>
              <a:t>RQ3  Can fixes be applied automatically without breaking compilation?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11535" y="6355080"/>
            <a:ext cx="914400" cy="365760"/>
          </a:xfrm>
          <a:prstGeom prst="rect">
            <a:avLst/>
          </a:prstGeom>
          <a:noFill/>
        </p:spPr>
        <p:txBody>
          <a:bodyPr wrap="square">
            <a:spAutoFit/>
          </a:bodyPr>
          <a:lstStyle/>
          <a:p>
            <a:pPr>
              <a:defRPr sz="1200" b="0">
                <a:solidFill>
                  <a:srgbClr val="838D99"/>
                </a:solidFill>
                <a:latin typeface="Segoe UI"/>
              </a:defRPr>
            </a:pPr>
            <a:r>
              <a:t>3</a:t>
            </a:r>
          </a:p>
        </p:txBody>
      </p:sp>
      <p:sp>
        <p:nvSpPr>
          <p:cNvPr id="3" name="TextBox 2"/>
          <p:cNvSpPr txBox="1"/>
          <p:nvPr/>
        </p:nvSpPr>
        <p:spPr>
          <a:xfrm>
            <a:off x="777240" y="457200"/>
            <a:ext cx="10637215" cy="914400"/>
          </a:xfrm>
          <a:prstGeom prst="rect">
            <a:avLst/>
          </a:prstGeom>
          <a:noFill/>
        </p:spPr>
        <p:txBody>
          <a:bodyPr wrap="square">
            <a:spAutoFit/>
          </a:bodyPr>
          <a:lstStyle/>
          <a:p>
            <a:pPr>
              <a:defRPr sz="3400" b="0">
                <a:solidFill>
                  <a:srgbClr val="1A1D21"/>
                </a:solidFill>
                <a:latin typeface="Times New Roman"/>
              </a:defRPr>
            </a:pPr>
            <a:r>
              <a:t>What we built: JavaSmell</a:t>
            </a:r>
          </a:p>
          <a:p>
            <a:pPr>
              <a:defRPr sz="1400">
                <a:solidFill>
                  <a:srgbClr val="838D99"/>
                </a:solidFill>
                <a:latin typeface="Segoe UI"/>
              </a:defRPr>
            </a:pPr>
            <a:r>
              <a:t>One Java analyzer, three approaches</a:t>
            </a:r>
          </a:p>
        </p:txBody>
      </p:sp>
      <p:sp>
        <p:nvSpPr>
          <p:cNvPr id="4" name="Rectangle 3"/>
          <p:cNvSpPr/>
          <p:nvPr/>
        </p:nvSpPr>
        <p:spPr>
          <a:xfrm>
            <a:off x="777240" y="1737360"/>
            <a:ext cx="4846320" cy="123444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defRPr sz="2100" b="1">
                <a:solidFill>
                  <a:srgbClr val="1F4E79"/>
                </a:solidFill>
                <a:latin typeface="Segoe UI"/>
              </a:defRPr>
            </a:pPr>
            <a:r>
              <a:t>A  Rules</a:t>
            </a:r>
          </a:p>
          <a:p>
            <a:pPr algn="l">
              <a:defRPr sz="1600">
                <a:solidFill>
                  <a:srgbClr val="1A1D21"/>
                </a:solidFill>
                <a:latin typeface="Segoe UI"/>
              </a:defRPr>
            </a:pPr>
            <a:r>
              <a:t>8 published detection strategies over 26 metrics</a:t>
            </a:r>
          </a:p>
        </p:txBody>
      </p:sp>
      <p:sp>
        <p:nvSpPr>
          <p:cNvPr id="5" name="Rectangle 4"/>
          <p:cNvSpPr/>
          <p:nvPr/>
        </p:nvSpPr>
        <p:spPr>
          <a:xfrm>
            <a:off x="777240" y="3154680"/>
            <a:ext cx="4846320" cy="123444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defRPr sz="2100" b="1">
                <a:solidFill>
                  <a:srgbClr val="1F4E79"/>
                </a:solidFill>
                <a:latin typeface="Segoe UI"/>
              </a:defRPr>
            </a:pPr>
            <a:r>
              <a:t>B  Machine learning</a:t>
            </a:r>
          </a:p>
          <a:p>
            <a:pPr algn="l">
              <a:defRPr sz="1600">
                <a:solidFill>
                  <a:srgbClr val="1A1D21"/>
                </a:solidFill>
                <a:latin typeface="Segoe UI"/>
              </a:defRPr>
            </a:pPr>
            <a:r>
              <a:t>classifiers trained on the same metrics</a:t>
            </a:r>
          </a:p>
        </p:txBody>
      </p:sp>
      <p:sp>
        <p:nvSpPr>
          <p:cNvPr id="6" name="Rectangle 5"/>
          <p:cNvSpPr/>
          <p:nvPr/>
        </p:nvSpPr>
        <p:spPr>
          <a:xfrm>
            <a:off x="777240" y="4572000"/>
            <a:ext cx="4846320" cy="123444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defRPr sz="2100" b="1">
                <a:solidFill>
                  <a:srgbClr val="1F4E79"/>
                </a:solidFill>
                <a:latin typeface="Segoe UI"/>
              </a:defRPr>
            </a:pPr>
            <a:r>
              <a:t>C  Refactoring engine</a:t>
            </a:r>
          </a:p>
          <a:p>
            <a:pPr algn="l">
              <a:defRPr sz="1600">
                <a:solidFill>
                  <a:srgbClr val="1A1D21"/>
                </a:solidFill>
                <a:latin typeface="Segoe UI"/>
              </a:defRPr>
            </a:pPr>
            <a:r>
              <a:t>AST rewrites only when preconditions are proven, then javac</a:t>
            </a:r>
          </a:p>
        </p:txBody>
      </p:sp>
      <p:pic>
        <p:nvPicPr>
          <p:cNvPr id="7" name="Picture 6" descr="nderfaqja_paneli.png"/>
          <p:cNvPicPr>
            <a:picLocks noChangeAspect="1"/>
          </p:cNvPicPr>
          <p:nvPr/>
        </p:nvPicPr>
        <p:blipFill>
          <a:blip r:embed="rId3"/>
          <a:stretch>
            <a:fillRect/>
          </a:stretch>
        </p:blipFill>
        <p:spPr>
          <a:xfrm>
            <a:off x="5943600" y="1920240"/>
            <a:ext cx="5486400" cy="3429000"/>
          </a:xfrm>
          <a:prstGeom prst="rect">
            <a:avLst/>
          </a:prstGeom>
        </p:spPr>
      </p:pic>
      <p:sp>
        <p:nvSpPr>
          <p:cNvPr id="8" name="TextBox 7"/>
          <p:cNvSpPr txBox="1"/>
          <p:nvPr/>
        </p:nvSpPr>
        <p:spPr>
          <a:xfrm>
            <a:off x="5943600" y="5422392"/>
            <a:ext cx="5486400" cy="365760"/>
          </a:xfrm>
          <a:prstGeom prst="rect">
            <a:avLst/>
          </a:prstGeom>
          <a:noFill/>
        </p:spPr>
        <p:txBody>
          <a:bodyPr wrap="square">
            <a:spAutoFit/>
          </a:bodyPr>
          <a:lstStyle/>
          <a:p>
            <a:pPr>
              <a:defRPr sz="1300" b="0">
                <a:solidFill>
                  <a:srgbClr val="838D99"/>
                </a:solidFill>
                <a:latin typeface="Segoe UI"/>
              </a:defRPr>
            </a:pPr>
            <a:r>
              <a:t>Web interface on the jsoup library (plain-language mode, Albanian)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11535" y="6355080"/>
            <a:ext cx="914400" cy="365760"/>
          </a:xfrm>
          <a:prstGeom prst="rect">
            <a:avLst/>
          </a:prstGeom>
          <a:noFill/>
        </p:spPr>
        <p:txBody>
          <a:bodyPr wrap="square">
            <a:spAutoFit/>
          </a:bodyPr>
          <a:lstStyle/>
          <a:p>
            <a:pPr>
              <a:defRPr sz="1200" b="0">
                <a:solidFill>
                  <a:srgbClr val="838D99"/>
                </a:solidFill>
                <a:latin typeface="Segoe UI"/>
              </a:defRPr>
            </a:pPr>
            <a:r>
              <a:t>4</a:t>
            </a:r>
          </a:p>
        </p:txBody>
      </p:sp>
      <p:sp>
        <p:nvSpPr>
          <p:cNvPr id="3" name="TextBox 2"/>
          <p:cNvSpPr txBox="1"/>
          <p:nvPr/>
        </p:nvSpPr>
        <p:spPr>
          <a:xfrm>
            <a:off x="777240" y="457200"/>
            <a:ext cx="10637215" cy="914400"/>
          </a:xfrm>
          <a:prstGeom prst="rect">
            <a:avLst/>
          </a:prstGeom>
          <a:noFill/>
        </p:spPr>
        <p:txBody>
          <a:bodyPr wrap="square">
            <a:spAutoFit/>
          </a:bodyPr>
          <a:lstStyle/>
          <a:p>
            <a:pPr>
              <a:defRPr sz="3400" b="0">
                <a:solidFill>
                  <a:srgbClr val="1A1D21"/>
                </a:solidFill>
                <a:latin typeface="Times New Roman"/>
              </a:defRPr>
            </a:pPr>
            <a:r>
              <a:t>Data and a fair test</a:t>
            </a:r>
          </a:p>
          <a:p>
            <a:pPr>
              <a:defRPr sz="1400">
                <a:solidFill>
                  <a:srgbClr val="838D99"/>
                </a:solidFill>
                <a:latin typeface="Segoe UI"/>
              </a:defRPr>
            </a:pPr>
            <a:r>
              <a:t>MLCQ: real Java code labeled by professional developers</a:t>
            </a:r>
          </a:p>
        </p:txBody>
      </p:sp>
      <p:sp>
        <p:nvSpPr>
          <p:cNvPr id="4" name="TextBox 3"/>
          <p:cNvSpPr txBox="1"/>
          <p:nvPr/>
        </p:nvSpPr>
        <p:spPr>
          <a:xfrm>
            <a:off x="777240" y="1737360"/>
            <a:ext cx="2659303" cy="1097280"/>
          </a:xfrm>
          <a:prstGeom prst="rect">
            <a:avLst/>
          </a:prstGeom>
          <a:noFill/>
        </p:spPr>
        <p:txBody>
          <a:bodyPr wrap="square">
            <a:spAutoFit/>
          </a:bodyPr>
          <a:lstStyle/>
          <a:p>
            <a:pPr>
              <a:defRPr sz="5400" b="0">
                <a:solidFill>
                  <a:srgbClr val="1F4E79"/>
                </a:solidFill>
                <a:latin typeface="Times New Roman"/>
              </a:defRPr>
            </a:pPr>
            <a:r>
              <a:t>9,046</a:t>
            </a:r>
          </a:p>
          <a:p>
            <a:pPr>
              <a:defRPr sz="1400">
                <a:solidFill>
                  <a:srgbClr val="838D99"/>
                </a:solidFill>
                <a:latin typeface="Segoe UI"/>
              </a:defRPr>
            </a:pPr>
            <a:r>
              <a:t>labeled samples</a:t>
            </a:r>
          </a:p>
        </p:txBody>
      </p:sp>
      <p:sp>
        <p:nvSpPr>
          <p:cNvPr id="5" name="TextBox 4"/>
          <p:cNvSpPr txBox="1"/>
          <p:nvPr/>
        </p:nvSpPr>
        <p:spPr>
          <a:xfrm>
            <a:off x="3436543" y="1737360"/>
            <a:ext cx="2659303" cy="1097280"/>
          </a:xfrm>
          <a:prstGeom prst="rect">
            <a:avLst/>
          </a:prstGeom>
          <a:noFill/>
        </p:spPr>
        <p:txBody>
          <a:bodyPr wrap="square">
            <a:spAutoFit/>
          </a:bodyPr>
          <a:lstStyle/>
          <a:p>
            <a:pPr>
              <a:defRPr sz="5400" b="0">
                <a:solidFill>
                  <a:srgbClr val="1F4E79"/>
                </a:solidFill>
                <a:latin typeface="Times New Roman"/>
              </a:defRPr>
            </a:pPr>
            <a:r>
              <a:t>512</a:t>
            </a:r>
          </a:p>
          <a:p>
            <a:pPr>
              <a:defRPr sz="1400">
                <a:solidFill>
                  <a:srgbClr val="838D99"/>
                </a:solidFill>
                <a:latin typeface="Segoe UI"/>
              </a:defRPr>
            </a:pPr>
            <a:r>
              <a:t>repositories</a:t>
            </a:r>
          </a:p>
        </p:txBody>
      </p:sp>
      <p:sp>
        <p:nvSpPr>
          <p:cNvPr id="6" name="TextBox 5"/>
          <p:cNvSpPr txBox="1"/>
          <p:nvPr/>
        </p:nvSpPr>
        <p:spPr>
          <a:xfrm>
            <a:off x="6095846" y="1737360"/>
            <a:ext cx="2659303" cy="1097280"/>
          </a:xfrm>
          <a:prstGeom prst="rect">
            <a:avLst/>
          </a:prstGeom>
          <a:noFill/>
        </p:spPr>
        <p:txBody>
          <a:bodyPr wrap="square">
            <a:spAutoFit/>
          </a:bodyPr>
          <a:lstStyle/>
          <a:p>
            <a:pPr>
              <a:defRPr sz="5400" b="0">
                <a:solidFill>
                  <a:srgbClr val="1F4E79"/>
                </a:solidFill>
                <a:latin typeface="Times New Roman"/>
              </a:defRPr>
            </a:pPr>
            <a:r>
              <a:t>4</a:t>
            </a:r>
          </a:p>
          <a:p>
            <a:pPr>
              <a:defRPr sz="1400">
                <a:solidFill>
                  <a:srgbClr val="838D99"/>
                </a:solidFill>
                <a:latin typeface="Segoe UI"/>
              </a:defRPr>
            </a:pPr>
            <a:r>
              <a:t>code smells</a:t>
            </a:r>
          </a:p>
        </p:txBody>
      </p:sp>
      <p:sp>
        <p:nvSpPr>
          <p:cNvPr id="7" name="TextBox 6"/>
          <p:cNvSpPr txBox="1"/>
          <p:nvPr/>
        </p:nvSpPr>
        <p:spPr>
          <a:xfrm>
            <a:off x="8755149" y="1737360"/>
            <a:ext cx="2659303" cy="1097280"/>
          </a:xfrm>
          <a:prstGeom prst="rect">
            <a:avLst/>
          </a:prstGeom>
          <a:noFill/>
        </p:spPr>
        <p:txBody>
          <a:bodyPr wrap="square">
            <a:spAutoFit/>
          </a:bodyPr>
          <a:lstStyle/>
          <a:p>
            <a:pPr>
              <a:defRPr sz="5400" b="0">
                <a:solidFill>
                  <a:srgbClr val="1F4E79"/>
                </a:solidFill>
                <a:latin typeface="Times New Roman"/>
              </a:defRPr>
            </a:pPr>
            <a:r>
              <a:t>26</a:t>
            </a:r>
          </a:p>
          <a:p>
            <a:pPr>
              <a:defRPr sz="1400">
                <a:solidFill>
                  <a:srgbClr val="838D99"/>
                </a:solidFill>
                <a:latin typeface="Segoe UI"/>
              </a:defRPr>
            </a:pPr>
            <a:r>
              <a:t>metrics</a:t>
            </a:r>
          </a:p>
        </p:txBody>
      </p:sp>
      <p:sp>
        <p:nvSpPr>
          <p:cNvPr id="8" name="TextBox 7"/>
          <p:cNvSpPr txBox="1"/>
          <p:nvPr/>
        </p:nvSpPr>
        <p:spPr>
          <a:xfrm>
            <a:off x="777240" y="3657600"/>
            <a:ext cx="10637215" cy="4206240"/>
          </a:xfrm>
          <a:prstGeom prst="rect">
            <a:avLst/>
          </a:prstGeom>
          <a:noFill/>
        </p:spPr>
        <p:txBody>
          <a:bodyPr wrap="square">
            <a:spAutoFit/>
          </a:bodyPr>
          <a:lstStyle/>
          <a:p>
            <a:pPr>
              <a:spcAft>
                <a:spcPts val="1400"/>
              </a:spcAft>
              <a:defRPr sz="1900" b="0">
                <a:solidFill>
                  <a:srgbClr val="1A1D21"/>
                </a:solidFill>
                <a:latin typeface="Segoe UI"/>
              </a:defRPr>
            </a:pPr>
            <a:r>
              <a:t>·  Labels from MLCQ (Madeyski &amp; Lewowski, 2020): open-source Java reviewed by 26 professional developers.</a:t>
            </a:r>
          </a:p>
          <a:p>
            <a:pPr>
              <a:spcAft>
                <a:spcPts val="1400"/>
              </a:spcAft>
              <a:defRPr sz="1900">
                <a:solidFill>
                  <a:srgbClr val="1A1D21"/>
                </a:solidFill>
                <a:latin typeface="Segoe UI"/>
              </a:defRPr>
            </a:pPr>
            <a:r>
              <a:t>·  Grouped by repository: a model is never tested on a project it learned from.</a:t>
            </a:r>
          </a:p>
          <a:p>
            <a:pPr>
              <a:spcAft>
                <a:spcPts val="1400"/>
              </a:spcAft>
              <a:defRPr sz="1900">
                <a:solidFill>
                  <a:srgbClr val="1A1D21"/>
                </a:solidFill>
                <a:latin typeface="Segoe UI"/>
              </a:defRPr>
            </a:pPr>
            <a:r>
              <a:t>·  Main score: Matthews correlation coefficient (MCC), because most samples are clean.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11535" y="6355080"/>
            <a:ext cx="914400" cy="365760"/>
          </a:xfrm>
          <a:prstGeom prst="rect">
            <a:avLst/>
          </a:prstGeom>
          <a:noFill/>
        </p:spPr>
        <p:txBody>
          <a:bodyPr wrap="square">
            <a:spAutoFit/>
          </a:bodyPr>
          <a:lstStyle/>
          <a:p>
            <a:pPr>
              <a:defRPr sz="1200" b="0">
                <a:solidFill>
                  <a:srgbClr val="838D99"/>
                </a:solidFill>
                <a:latin typeface="Segoe UI"/>
              </a:defRPr>
            </a:pPr>
            <a:r>
              <a:t>5</a:t>
            </a:r>
          </a:p>
        </p:txBody>
      </p:sp>
      <p:sp>
        <p:nvSpPr>
          <p:cNvPr id="3" name="TextBox 2"/>
          <p:cNvSpPr txBox="1"/>
          <p:nvPr/>
        </p:nvSpPr>
        <p:spPr>
          <a:xfrm>
            <a:off x="777240" y="457200"/>
            <a:ext cx="10637215" cy="914400"/>
          </a:xfrm>
          <a:prstGeom prst="rect">
            <a:avLst/>
          </a:prstGeom>
          <a:noFill/>
        </p:spPr>
        <p:txBody>
          <a:bodyPr wrap="square">
            <a:spAutoFit/>
          </a:bodyPr>
          <a:lstStyle/>
          <a:p>
            <a:pPr>
              <a:defRPr sz="3400" b="0">
                <a:solidFill>
                  <a:srgbClr val="1A1D21"/>
                </a:solidFill>
                <a:latin typeface="Times New Roman"/>
              </a:defRPr>
            </a:pPr>
            <a:r>
              <a:t>Rules vs. machine learning</a:t>
            </a:r>
          </a:p>
          <a:p>
            <a:pPr>
              <a:defRPr sz="1400">
                <a:solidFill>
                  <a:srgbClr val="838D99"/>
                </a:solidFill>
                <a:latin typeface="Segoe UI"/>
              </a:defRPr>
            </a:pPr>
            <a:r>
              <a:t>MCC on the same samples, with the same scoring code</a:t>
            </a:r>
          </a:p>
        </p:txBody>
      </p:sp>
      <p:graphicFrame>
        <p:nvGraphicFramePr>
          <p:cNvPr id="4" name="Chart 3"/>
          <p:cNvGraphicFramePr>
            <a:graphicFrameLocks noGrp="1"/>
          </p:cNvGraphicFramePr>
          <p:nvPr/>
        </p:nvGraphicFramePr>
        <p:xfrm>
          <a:off x="777240" y="1554480"/>
          <a:ext cx="10637215" cy="3840480"/>
        </p:xfrm>
        <a:graphic>
          <a:graphicData uri="http://schemas.openxmlformats.org/drawingml/2006/chart">
            <c:chart xmlns:c="http://schemas.openxmlformats.org/drawingml/2006/chart" r:id="rId3"/>
          </a:graphicData>
        </a:graphic>
      </p:graphicFrame>
      <p:sp>
        <p:nvSpPr>
          <p:cNvPr id="5" name="TextBox 4"/>
          <p:cNvSpPr txBox="1"/>
          <p:nvPr/>
        </p:nvSpPr>
        <p:spPr>
          <a:xfrm>
            <a:off x="777240" y="5486400"/>
            <a:ext cx="10637215" cy="4206240"/>
          </a:xfrm>
          <a:prstGeom prst="rect">
            <a:avLst/>
          </a:prstGeom>
          <a:noFill/>
        </p:spPr>
        <p:txBody>
          <a:bodyPr wrap="square">
            <a:spAutoFit/>
          </a:bodyPr>
          <a:lstStyle/>
          <a:p>
            <a:pPr>
              <a:spcAft>
                <a:spcPts val="1400"/>
              </a:spcAft>
              <a:defRPr sz="1700" b="0">
                <a:solidFill>
                  <a:srgbClr val="1A1D21"/>
                </a:solidFill>
                <a:latin typeface="Segoe UI"/>
              </a:defRPr>
            </a:pPr>
            <a:r>
              <a:t>·  Rules: precise when they fire, but catch only 17–47% of the cases.</a:t>
            </a:r>
          </a:p>
          <a:p>
            <a:pPr>
              <a:spcAft>
                <a:spcPts val="1400"/>
              </a:spcAft>
              <a:defRPr sz="1700">
                <a:solidFill>
                  <a:srgbClr val="1A1D21"/>
                </a:solidFill>
                <a:latin typeface="Segoe UI"/>
              </a:defRPr>
            </a:pPr>
            <a:r>
              <a:t>·  Models: better on all four smells; significant on Blob, Data Class and Long Method (95% bootstrap CI by repository).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11535" y="6355080"/>
            <a:ext cx="914400" cy="365760"/>
          </a:xfrm>
          <a:prstGeom prst="rect">
            <a:avLst/>
          </a:prstGeom>
          <a:noFill/>
        </p:spPr>
        <p:txBody>
          <a:bodyPr wrap="square">
            <a:spAutoFit/>
          </a:bodyPr>
          <a:lstStyle/>
          <a:p>
            <a:pPr>
              <a:defRPr sz="1200" b="0">
                <a:solidFill>
                  <a:srgbClr val="838D99"/>
                </a:solidFill>
                <a:latin typeface="Segoe UI"/>
              </a:defRPr>
            </a:pPr>
            <a:r>
              <a:t>6</a:t>
            </a:r>
          </a:p>
        </p:txBody>
      </p:sp>
      <p:sp>
        <p:nvSpPr>
          <p:cNvPr id="3" name="TextBox 2"/>
          <p:cNvSpPr txBox="1"/>
          <p:nvPr/>
        </p:nvSpPr>
        <p:spPr>
          <a:xfrm>
            <a:off x="777240" y="457200"/>
            <a:ext cx="10637215" cy="914400"/>
          </a:xfrm>
          <a:prstGeom prst="rect">
            <a:avLst/>
          </a:prstGeom>
          <a:noFill/>
        </p:spPr>
        <p:txBody>
          <a:bodyPr wrap="square">
            <a:spAutoFit/>
          </a:bodyPr>
          <a:lstStyle/>
          <a:p>
            <a:pPr>
              <a:defRPr sz="3400" b="0">
                <a:solidFill>
                  <a:srgbClr val="1A1D21"/>
                </a:solidFill>
                <a:latin typeface="Times New Roman"/>
              </a:defRPr>
            </a:pPr>
            <a:r>
              <a:t>Why some smells stay hard</a:t>
            </a:r>
          </a:p>
          <a:p>
            <a:pPr>
              <a:defRPr sz="1400">
                <a:solidFill>
                  <a:srgbClr val="838D99"/>
                </a:solidFill>
                <a:latin typeface="Segoe UI"/>
              </a:defRPr>
            </a:pPr>
            <a:r>
              <a:t>Agreement between two human reviewers of the same code (MCC)</a:t>
            </a:r>
          </a:p>
        </p:txBody>
      </p:sp>
      <p:graphicFrame>
        <p:nvGraphicFramePr>
          <p:cNvPr id="4" name="Chart 3"/>
          <p:cNvGraphicFramePr>
            <a:graphicFrameLocks noGrp="1"/>
          </p:cNvGraphicFramePr>
          <p:nvPr/>
        </p:nvGraphicFramePr>
        <p:xfrm>
          <a:off x="777240" y="1645920"/>
          <a:ext cx="10637215" cy="3566160"/>
        </p:xfrm>
        <a:graphic>
          <a:graphicData uri="http://schemas.openxmlformats.org/drawingml/2006/chart">
            <c:chart xmlns:c="http://schemas.openxmlformats.org/drawingml/2006/chart" r:id="rId3"/>
          </a:graphicData>
        </a:graphic>
      </p:graphicFrame>
      <p:sp>
        <p:nvSpPr>
          <p:cNvPr id="5" name="TextBox 4"/>
          <p:cNvSpPr txBox="1"/>
          <p:nvPr/>
        </p:nvSpPr>
        <p:spPr>
          <a:xfrm>
            <a:off x="777240" y="5486400"/>
            <a:ext cx="10637215" cy="4206240"/>
          </a:xfrm>
          <a:prstGeom prst="rect">
            <a:avLst/>
          </a:prstGeom>
          <a:noFill/>
        </p:spPr>
        <p:txBody>
          <a:bodyPr wrap="square">
            <a:spAutoFit/>
          </a:bodyPr>
          <a:lstStyle/>
          <a:p>
            <a:pPr>
              <a:spcAft>
                <a:spcPts val="1400"/>
              </a:spcAft>
              <a:defRPr sz="1900" b="0">
                <a:solidFill>
                  <a:srgbClr val="1A1D21"/>
                </a:solidFill>
                <a:latin typeface="Segoe UI"/>
              </a:defRPr>
            </a:pPr>
            <a:r>
              <a:t>·  The limit is not only the algorithm, but the definition of the smell itself.</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11535" y="6355080"/>
            <a:ext cx="914400" cy="365760"/>
          </a:xfrm>
          <a:prstGeom prst="rect">
            <a:avLst/>
          </a:prstGeom>
          <a:noFill/>
        </p:spPr>
        <p:txBody>
          <a:bodyPr wrap="square">
            <a:spAutoFit/>
          </a:bodyPr>
          <a:lstStyle/>
          <a:p>
            <a:pPr>
              <a:defRPr sz="1200" b="0">
                <a:solidFill>
                  <a:srgbClr val="838D99"/>
                </a:solidFill>
                <a:latin typeface="Segoe UI"/>
              </a:defRPr>
            </a:pPr>
            <a:r>
              <a:t>7</a:t>
            </a:r>
          </a:p>
        </p:txBody>
      </p:sp>
      <p:sp>
        <p:nvSpPr>
          <p:cNvPr id="3" name="TextBox 2"/>
          <p:cNvSpPr txBox="1"/>
          <p:nvPr/>
        </p:nvSpPr>
        <p:spPr>
          <a:xfrm>
            <a:off x="777240" y="457200"/>
            <a:ext cx="10637215" cy="914400"/>
          </a:xfrm>
          <a:prstGeom prst="rect">
            <a:avLst/>
          </a:prstGeom>
          <a:noFill/>
        </p:spPr>
        <p:txBody>
          <a:bodyPr wrap="square">
            <a:spAutoFit/>
          </a:bodyPr>
          <a:lstStyle/>
          <a:p>
            <a:pPr>
              <a:defRPr sz="3400" b="0">
                <a:solidFill>
                  <a:srgbClr val="1A1D21"/>
                </a:solidFill>
                <a:latin typeface="Times New Roman"/>
              </a:defRPr>
            </a:pPr>
            <a:r>
              <a:t>Automatic refactoring</a:t>
            </a:r>
          </a:p>
          <a:p>
            <a:pPr>
              <a:defRPr sz="1400">
                <a:solidFill>
                  <a:srgbClr val="838D99"/>
                </a:solidFill>
                <a:latin typeface="Segoe UI"/>
              </a:defRPr>
            </a:pPr>
            <a:r>
              <a:t>Rewrite only when the preconditions are proven</a:t>
            </a:r>
          </a:p>
        </p:txBody>
      </p:sp>
      <p:sp>
        <p:nvSpPr>
          <p:cNvPr id="4" name="TextBox 3"/>
          <p:cNvSpPr txBox="1"/>
          <p:nvPr/>
        </p:nvSpPr>
        <p:spPr>
          <a:xfrm>
            <a:off x="777240" y="1737360"/>
            <a:ext cx="2659303" cy="1097280"/>
          </a:xfrm>
          <a:prstGeom prst="rect">
            <a:avLst/>
          </a:prstGeom>
          <a:noFill/>
        </p:spPr>
        <p:txBody>
          <a:bodyPr wrap="square">
            <a:spAutoFit/>
          </a:bodyPr>
          <a:lstStyle/>
          <a:p>
            <a:pPr>
              <a:defRPr sz="5400" b="0">
                <a:solidFill>
                  <a:srgbClr val="1F4E79"/>
                </a:solidFill>
                <a:latin typeface="Times New Roman"/>
              </a:defRPr>
            </a:pPr>
            <a:r>
              <a:t>15,800</a:t>
            </a:r>
          </a:p>
          <a:p>
            <a:pPr>
              <a:defRPr sz="1400">
                <a:solidFill>
                  <a:srgbClr val="838D99"/>
                </a:solidFill>
                <a:latin typeface="Segoe UI"/>
              </a:defRPr>
            </a:pPr>
            <a:r>
              <a:t>sites with a transformation</a:t>
            </a:r>
          </a:p>
        </p:txBody>
      </p:sp>
      <p:sp>
        <p:nvSpPr>
          <p:cNvPr id="5" name="TextBox 4"/>
          <p:cNvSpPr txBox="1"/>
          <p:nvPr/>
        </p:nvSpPr>
        <p:spPr>
          <a:xfrm>
            <a:off x="3436543" y="1737360"/>
            <a:ext cx="2659303" cy="1097280"/>
          </a:xfrm>
          <a:prstGeom prst="rect">
            <a:avLst/>
          </a:prstGeom>
          <a:noFill/>
        </p:spPr>
        <p:txBody>
          <a:bodyPr wrap="square">
            <a:spAutoFit/>
          </a:bodyPr>
          <a:lstStyle/>
          <a:p>
            <a:pPr>
              <a:defRPr sz="5400" b="0">
                <a:solidFill>
                  <a:srgbClr val="1F4E79"/>
                </a:solidFill>
                <a:latin typeface="Times New Roman"/>
              </a:defRPr>
            </a:pPr>
            <a:r>
              <a:t>3,532</a:t>
            </a:r>
          </a:p>
          <a:p>
            <a:pPr>
              <a:defRPr sz="1400">
                <a:solidFill>
                  <a:srgbClr val="838D99"/>
                </a:solidFill>
                <a:latin typeface="Segoe UI"/>
              </a:defRPr>
            </a:pPr>
            <a:r>
              <a:t>rewritten (22.4%)</a:t>
            </a:r>
          </a:p>
        </p:txBody>
      </p:sp>
      <p:sp>
        <p:nvSpPr>
          <p:cNvPr id="6" name="TextBox 5"/>
          <p:cNvSpPr txBox="1"/>
          <p:nvPr/>
        </p:nvSpPr>
        <p:spPr>
          <a:xfrm>
            <a:off x="6095846" y="1737360"/>
            <a:ext cx="2659303" cy="1097280"/>
          </a:xfrm>
          <a:prstGeom prst="rect">
            <a:avLst/>
          </a:prstGeom>
          <a:noFill/>
        </p:spPr>
        <p:txBody>
          <a:bodyPr wrap="square">
            <a:spAutoFit/>
          </a:bodyPr>
          <a:lstStyle/>
          <a:p>
            <a:pPr>
              <a:defRPr sz="5400" b="0">
                <a:solidFill>
                  <a:srgbClr val="1F4E79"/>
                </a:solidFill>
                <a:latin typeface="Times New Roman"/>
              </a:defRPr>
            </a:pPr>
            <a:r>
              <a:t>64.8%</a:t>
            </a:r>
          </a:p>
          <a:p>
            <a:pPr>
              <a:defRPr sz="1400">
                <a:solidFill>
                  <a:srgbClr val="838D99"/>
                </a:solidFill>
                <a:latin typeface="Segoe UI"/>
              </a:defRPr>
            </a:pPr>
            <a:r>
              <a:t>smell removed</a:t>
            </a:r>
          </a:p>
        </p:txBody>
      </p:sp>
      <p:sp>
        <p:nvSpPr>
          <p:cNvPr id="7" name="TextBox 6"/>
          <p:cNvSpPr txBox="1"/>
          <p:nvPr/>
        </p:nvSpPr>
        <p:spPr>
          <a:xfrm>
            <a:off x="8755149" y="1737360"/>
            <a:ext cx="2659303" cy="1097280"/>
          </a:xfrm>
          <a:prstGeom prst="rect">
            <a:avLst/>
          </a:prstGeom>
          <a:noFill/>
        </p:spPr>
        <p:txBody>
          <a:bodyPr wrap="square">
            <a:spAutoFit/>
          </a:bodyPr>
          <a:lstStyle/>
          <a:p>
            <a:pPr>
              <a:defRPr sz="5400" b="0">
                <a:solidFill>
                  <a:srgbClr val="1F4E79"/>
                </a:solidFill>
                <a:latin typeface="Times New Roman"/>
              </a:defRPr>
            </a:pPr>
            <a:r>
              <a:t>1.6%</a:t>
            </a:r>
          </a:p>
          <a:p>
            <a:pPr>
              <a:defRPr sz="1400">
                <a:solidFill>
                  <a:srgbClr val="838D99"/>
                </a:solidFill>
                <a:latin typeface="Segoe UI"/>
              </a:defRPr>
            </a:pPr>
            <a:r>
              <a:t>new compile-error types</a:t>
            </a:r>
          </a:p>
        </p:txBody>
      </p:sp>
      <p:sp>
        <p:nvSpPr>
          <p:cNvPr id="8" name="TextBox 7"/>
          <p:cNvSpPr txBox="1"/>
          <p:nvPr/>
        </p:nvSpPr>
        <p:spPr>
          <a:xfrm>
            <a:off x="777240" y="3657600"/>
            <a:ext cx="10637215" cy="4206240"/>
          </a:xfrm>
          <a:prstGeom prst="rect">
            <a:avLst/>
          </a:prstGeom>
          <a:noFill/>
        </p:spPr>
        <p:txBody>
          <a:bodyPr wrap="square">
            <a:spAutoFit/>
          </a:bodyPr>
          <a:lstStyle/>
          <a:p>
            <a:pPr>
              <a:spcAft>
                <a:spcPts val="1400"/>
              </a:spcAft>
              <a:defRPr sz="1900" b="0">
                <a:solidFill>
                  <a:srgbClr val="1A1D21"/>
                </a:solidFill>
                <a:latin typeface="Segoe UI"/>
              </a:defRPr>
            </a:pPr>
            <a:r>
              <a:t>·  Three transformations: Extract Method, Guard Clauses, Introduce Parameter Object.</a:t>
            </a:r>
          </a:p>
          <a:p>
            <a:pPr>
              <a:spcAft>
                <a:spcPts val="1400"/>
              </a:spcAft>
              <a:defRPr sz="1900">
                <a:solidFill>
                  <a:srgbClr val="1A1D21"/>
                </a:solidFill>
                <a:latin typeface="Segoe UI"/>
              </a:defRPr>
            </a:pPr>
            <a:r>
              <a:t>·  Refusing is a correct outcome: 77.5% of the sites were refused, each with a reason.</a:t>
            </a:r>
          </a:p>
          <a:p>
            <a:pPr>
              <a:spcAft>
                <a:spcPts val="1400"/>
              </a:spcAft>
              <a:defRPr sz="1900">
                <a:solidFill>
                  <a:srgbClr val="1A1D21"/>
                </a:solidFill>
                <a:latin typeface="Segoe UI"/>
              </a:defRPr>
            </a:pPr>
            <a:r>
              <a:t>·  Manual review of 60 rewrites: 62.9% acceptable to a developer (reweighted).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11535" y="6355080"/>
            <a:ext cx="914400" cy="365760"/>
          </a:xfrm>
          <a:prstGeom prst="rect">
            <a:avLst/>
          </a:prstGeom>
          <a:noFill/>
        </p:spPr>
        <p:txBody>
          <a:bodyPr wrap="square">
            <a:spAutoFit/>
          </a:bodyPr>
          <a:lstStyle/>
          <a:p>
            <a:pPr>
              <a:defRPr sz="1200" b="0">
                <a:solidFill>
                  <a:srgbClr val="838D99"/>
                </a:solidFill>
                <a:latin typeface="Segoe UI"/>
              </a:defRPr>
            </a:pPr>
            <a:r>
              <a:t>8</a:t>
            </a:r>
          </a:p>
        </p:txBody>
      </p:sp>
      <p:sp>
        <p:nvSpPr>
          <p:cNvPr id="3" name="TextBox 2"/>
          <p:cNvSpPr txBox="1"/>
          <p:nvPr/>
        </p:nvSpPr>
        <p:spPr>
          <a:xfrm>
            <a:off x="777240" y="457200"/>
            <a:ext cx="10637215" cy="914400"/>
          </a:xfrm>
          <a:prstGeom prst="rect">
            <a:avLst/>
          </a:prstGeom>
          <a:noFill/>
        </p:spPr>
        <p:txBody>
          <a:bodyPr wrap="square">
            <a:spAutoFit/>
          </a:bodyPr>
          <a:lstStyle/>
          <a:p>
            <a:pPr>
              <a:defRPr sz="3400" b="0">
                <a:solidFill>
                  <a:srgbClr val="1A1D21"/>
                </a:solidFill>
                <a:latin typeface="Times New Roman"/>
              </a:defRPr>
            </a:pPr>
            <a:r>
              <a:t>Example from real code</a:t>
            </a:r>
          </a:p>
          <a:p>
            <a:pPr>
              <a:defRPr sz="1400">
                <a:solidFill>
                  <a:srgbClr val="838D99"/>
                </a:solidFill>
                <a:latin typeface="Segoe UI"/>
              </a:defRPr>
            </a:pPr>
            <a:r>
              <a:t>Apache Geode · DistributedRegion.checkForLimitedOrNoAccess · Guard Clauses</a:t>
            </a:r>
          </a:p>
        </p:txBody>
      </p:sp>
      <p:sp>
        <p:nvSpPr>
          <p:cNvPr id="4" name="TextBox 3"/>
          <p:cNvSpPr txBox="1"/>
          <p:nvPr/>
        </p:nvSpPr>
        <p:spPr>
          <a:xfrm>
            <a:off x="777240" y="1417320"/>
            <a:ext cx="6949440" cy="320040"/>
          </a:xfrm>
          <a:prstGeom prst="rect">
            <a:avLst/>
          </a:prstGeom>
          <a:noFill/>
        </p:spPr>
        <p:txBody>
          <a:bodyPr wrap="square">
            <a:spAutoFit/>
          </a:bodyPr>
          <a:lstStyle/>
          <a:p>
            <a:pPr>
              <a:defRPr sz="1400" b="1">
                <a:solidFill>
                  <a:srgbClr val="4C5560"/>
                </a:solidFill>
                <a:latin typeface="Segoe UI"/>
              </a:defRPr>
            </a:pPr>
            <a:r>
              <a:t>Before</a:t>
            </a:r>
          </a:p>
        </p:txBody>
      </p:sp>
      <p:sp>
        <p:nvSpPr>
          <p:cNvPr id="5" name="Rectangle 4"/>
          <p:cNvSpPr/>
          <p:nvPr/>
        </p:nvSpPr>
        <p:spPr>
          <a:xfrm>
            <a:off x="777240" y="1764792"/>
            <a:ext cx="6949440" cy="208280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109728" rIns="109728" tIns="73152" bIns="73152"/>
          <a:lstStyle/>
          <a:p>
            <a:pPr algn="l">
              <a:lnSpc>
                <a:spcPts val="1360"/>
              </a:lnSpc>
              <a:spcAft>
                <a:spcPts val="0"/>
              </a:spcAft>
            </a:pPr>
            <a:r>
              <a:rPr sz="1200" b="0">
                <a:solidFill>
                  <a:srgbClr val="1A1D21"/>
                </a:solidFill>
                <a:latin typeface="Consolas"/>
              </a:rPr>
              <a:t>@Override</a:t>
            </a:r>
          </a:p>
          <a:p>
            <a:pPr algn="l">
              <a:lnSpc>
                <a:spcPts val="1360"/>
              </a:lnSpc>
              <a:spcAft>
                <a:spcPts val="0"/>
              </a:spcAft>
            </a:pPr>
            <a:r>
              <a:rPr sz="1200" b="0">
                <a:solidFill>
                  <a:srgbClr val="1A1D21"/>
                </a:solidFill>
                <a:latin typeface="Consolas"/>
              </a:rPr>
              <a:t>public void checkForLimitedOrNoAccess() {</a:t>
            </a:r>
          </a:p>
          <a:p>
            <a:pPr algn="l">
              <a:lnSpc>
                <a:spcPts val="1360"/>
              </a:lnSpc>
              <a:spcAft>
                <a:spcPts val="0"/>
              </a:spcAft>
            </a:pPr>
            <a:r>
              <a:rPr sz="1200" b="1">
                <a:solidFill>
                  <a:srgbClr val="8C2F22"/>
                </a:solidFill>
                <a:latin typeface="Consolas"/>
              </a:rPr>
              <a:t>  if (this.requiresReliabilityCheck &amp;&amp; this.isMissingRequiredRoles) {</a:t>
            </a:r>
          </a:p>
          <a:p>
            <a:pPr algn="l">
              <a:lnSpc>
                <a:spcPts val="1360"/>
              </a:lnSpc>
              <a:spcAft>
                <a:spcPts val="0"/>
              </a:spcAft>
            </a:pPr>
            <a:r>
              <a:rPr sz="1200" b="0">
                <a:solidFill>
                  <a:srgbClr val="1A1D21"/>
                </a:solidFill>
                <a:latin typeface="Consolas"/>
              </a:rPr>
              <a:t>    if (getMembershipAttributes().getLossAction().isNoAccess()</a:t>
            </a:r>
          </a:p>
          <a:p>
            <a:pPr algn="l">
              <a:lnSpc>
                <a:spcPts val="1360"/>
              </a:lnSpc>
              <a:spcAft>
                <a:spcPts val="0"/>
              </a:spcAft>
            </a:pPr>
            <a:r>
              <a:rPr sz="1200" b="0">
                <a:solidFill>
                  <a:srgbClr val="1A1D21"/>
                </a:solidFill>
                <a:latin typeface="Consolas"/>
              </a:rPr>
              <a:t>        || getMembershipAttributes().getLossAction().isLimitedAccess()) {</a:t>
            </a:r>
          </a:p>
          <a:p>
            <a:pPr algn="l">
              <a:lnSpc>
                <a:spcPts val="1360"/>
              </a:lnSpc>
              <a:spcAft>
                <a:spcPts val="0"/>
              </a:spcAft>
            </a:pPr>
            <a:r>
              <a:rPr sz="1200" b="0">
                <a:solidFill>
                  <a:srgbClr val="1A1D21"/>
                </a:solidFill>
                <a:latin typeface="Consolas"/>
              </a:rPr>
              <a:t>      synchronized (this.missingRequiredRoles) {</a:t>
            </a:r>
          </a:p>
          <a:p>
            <a:pPr algn="l">
              <a:lnSpc>
                <a:spcPts val="1360"/>
              </a:lnSpc>
              <a:spcAft>
                <a:spcPts val="0"/>
              </a:spcAft>
            </a:pPr>
            <a:r>
              <a:rPr sz="1200" b="0">
                <a:solidFill>
                  <a:srgbClr val="1A1D21"/>
                </a:solidFill>
                <a:latin typeface="Consolas"/>
              </a:rPr>
              <a:t>        // … 9 unchanged lines</a:t>
            </a:r>
          </a:p>
          <a:p>
            <a:pPr algn="l">
              <a:lnSpc>
                <a:spcPts val="1360"/>
              </a:lnSpc>
              <a:spcAft>
                <a:spcPts val="0"/>
              </a:spcAft>
            </a:pPr>
            <a:r>
              <a:rPr sz="1200" b="0">
                <a:solidFill>
                  <a:srgbClr val="1A1D21"/>
                </a:solidFill>
                <a:latin typeface="Consolas"/>
              </a:rPr>
              <a:t>      }</a:t>
            </a:r>
          </a:p>
          <a:p>
            <a:pPr algn="l">
              <a:lnSpc>
                <a:spcPts val="1360"/>
              </a:lnSpc>
              <a:spcAft>
                <a:spcPts val="0"/>
              </a:spcAft>
            </a:pPr>
            <a:r>
              <a:rPr sz="1200" b="0">
                <a:solidFill>
                  <a:srgbClr val="1A1D21"/>
                </a:solidFill>
                <a:latin typeface="Consolas"/>
              </a:rPr>
              <a:t>    }</a:t>
            </a:r>
          </a:p>
          <a:p>
            <a:pPr algn="l">
              <a:lnSpc>
                <a:spcPts val="1360"/>
              </a:lnSpc>
              <a:spcAft>
                <a:spcPts val="0"/>
              </a:spcAft>
            </a:pPr>
            <a:r>
              <a:rPr sz="1200" b="0">
                <a:solidFill>
                  <a:srgbClr val="1A1D21"/>
                </a:solidFill>
                <a:latin typeface="Consolas"/>
              </a:rPr>
              <a:t>  }</a:t>
            </a:r>
          </a:p>
          <a:p>
            <a:pPr algn="l">
              <a:lnSpc>
                <a:spcPts val="1360"/>
              </a:lnSpc>
              <a:spcAft>
                <a:spcPts val="0"/>
              </a:spcAft>
            </a:pPr>
            <a:r>
              <a:rPr sz="1200" b="1">
                <a:solidFill>
                  <a:srgbClr val="8C2F22"/>
                </a:solidFill>
                <a:latin typeface="Consolas"/>
              </a:rPr>
              <a:t>}</a:t>
            </a:r>
          </a:p>
        </p:txBody>
      </p:sp>
      <p:sp>
        <p:nvSpPr>
          <p:cNvPr id="6" name="TextBox 5"/>
          <p:cNvSpPr txBox="1"/>
          <p:nvPr/>
        </p:nvSpPr>
        <p:spPr>
          <a:xfrm>
            <a:off x="777240" y="3957320"/>
            <a:ext cx="6949440" cy="320040"/>
          </a:xfrm>
          <a:prstGeom prst="rect">
            <a:avLst/>
          </a:prstGeom>
          <a:noFill/>
        </p:spPr>
        <p:txBody>
          <a:bodyPr wrap="square">
            <a:spAutoFit/>
          </a:bodyPr>
          <a:lstStyle/>
          <a:p>
            <a:pPr>
              <a:defRPr sz="1400" b="1">
                <a:solidFill>
                  <a:srgbClr val="4C5560"/>
                </a:solidFill>
                <a:latin typeface="Segoe UI"/>
              </a:defRPr>
            </a:pPr>
            <a:r>
              <a:t>After</a:t>
            </a:r>
          </a:p>
        </p:txBody>
      </p:sp>
      <p:sp>
        <p:nvSpPr>
          <p:cNvPr id="7" name="Rectangle 6"/>
          <p:cNvSpPr/>
          <p:nvPr/>
        </p:nvSpPr>
        <p:spPr>
          <a:xfrm>
            <a:off x="777240" y="4304792"/>
            <a:ext cx="6949440" cy="225552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109728" rIns="109728" tIns="73152" bIns="73152"/>
          <a:lstStyle/>
          <a:p>
            <a:pPr algn="l">
              <a:lnSpc>
                <a:spcPts val="1360"/>
              </a:lnSpc>
              <a:spcAft>
                <a:spcPts val="0"/>
              </a:spcAft>
            </a:pPr>
            <a:r>
              <a:rPr sz="1200" b="0">
                <a:solidFill>
                  <a:srgbClr val="1A1D21"/>
                </a:solidFill>
                <a:latin typeface="Consolas"/>
              </a:rPr>
              <a:t>@Override</a:t>
            </a:r>
          </a:p>
          <a:p>
            <a:pPr algn="l">
              <a:lnSpc>
                <a:spcPts val="1360"/>
              </a:lnSpc>
              <a:spcAft>
                <a:spcPts val="0"/>
              </a:spcAft>
            </a:pPr>
            <a:r>
              <a:rPr sz="1200" b="0">
                <a:solidFill>
                  <a:srgbClr val="1A1D21"/>
                </a:solidFill>
                <a:latin typeface="Consolas"/>
              </a:rPr>
              <a:t>public void checkForLimitedOrNoAccess() {</a:t>
            </a:r>
          </a:p>
          <a:p>
            <a:pPr algn="l">
              <a:lnSpc>
                <a:spcPts val="1360"/>
              </a:lnSpc>
              <a:spcAft>
                <a:spcPts val="0"/>
              </a:spcAft>
            </a:pPr>
            <a:r>
              <a:rPr sz="1200" b="1">
                <a:solidFill>
                  <a:srgbClr val="2F6F45"/>
                </a:solidFill>
                <a:latin typeface="Consolas"/>
              </a:rPr>
              <a:t>  if (!(this.requiresReliabilityCheck &amp;&amp; this.isMissingRequiredRoles)) {</a:t>
            </a:r>
          </a:p>
          <a:p>
            <a:pPr algn="l">
              <a:lnSpc>
                <a:spcPts val="1360"/>
              </a:lnSpc>
              <a:spcAft>
                <a:spcPts val="0"/>
              </a:spcAft>
            </a:pPr>
            <a:r>
              <a:rPr sz="1200" b="1">
                <a:solidFill>
                  <a:srgbClr val="2F6F45"/>
                </a:solidFill>
                <a:latin typeface="Consolas"/>
              </a:rPr>
              <a:t>    return;</a:t>
            </a:r>
          </a:p>
          <a:p>
            <a:pPr algn="l">
              <a:lnSpc>
                <a:spcPts val="1360"/>
              </a:lnSpc>
              <a:spcAft>
                <a:spcPts val="0"/>
              </a:spcAft>
            </a:pPr>
            <a:r>
              <a:rPr sz="1200" b="1">
                <a:solidFill>
                  <a:srgbClr val="2F6F45"/>
                </a:solidFill>
                <a:latin typeface="Consolas"/>
              </a:rPr>
              <a:t>  }</a:t>
            </a:r>
          </a:p>
          <a:p>
            <a:pPr algn="l">
              <a:lnSpc>
                <a:spcPts val="1360"/>
              </a:lnSpc>
              <a:spcAft>
                <a:spcPts val="0"/>
              </a:spcAft>
            </a:pPr>
            <a:r>
              <a:rPr sz="1200" b="0">
                <a:solidFill>
                  <a:srgbClr val="1A1D21"/>
                </a:solidFill>
                <a:latin typeface="Consolas"/>
              </a:rPr>
              <a:t>  if (getMembershipAttributes().getLossAction().isNoAccess()</a:t>
            </a:r>
          </a:p>
          <a:p>
            <a:pPr algn="l">
              <a:lnSpc>
                <a:spcPts val="1360"/>
              </a:lnSpc>
              <a:spcAft>
                <a:spcPts val="0"/>
              </a:spcAft>
            </a:pPr>
            <a:r>
              <a:rPr sz="1200" b="0">
                <a:solidFill>
                  <a:srgbClr val="1A1D21"/>
                </a:solidFill>
                <a:latin typeface="Consolas"/>
              </a:rPr>
              <a:t>      || getMembershipAttributes().getLossAction().isLimitedAccess()) {</a:t>
            </a:r>
          </a:p>
          <a:p>
            <a:pPr algn="l">
              <a:lnSpc>
                <a:spcPts val="1360"/>
              </a:lnSpc>
              <a:spcAft>
                <a:spcPts val="0"/>
              </a:spcAft>
            </a:pPr>
            <a:r>
              <a:rPr sz="1200" b="0">
                <a:solidFill>
                  <a:srgbClr val="1A1D21"/>
                </a:solidFill>
                <a:latin typeface="Consolas"/>
              </a:rPr>
              <a:t>    synchronized (this.missingRequiredRoles) {</a:t>
            </a:r>
          </a:p>
          <a:p>
            <a:pPr algn="l">
              <a:lnSpc>
                <a:spcPts val="1360"/>
              </a:lnSpc>
              <a:spcAft>
                <a:spcPts val="0"/>
              </a:spcAft>
            </a:pPr>
            <a:r>
              <a:rPr sz="1200" b="0">
                <a:solidFill>
                  <a:srgbClr val="1A1D21"/>
                </a:solidFill>
                <a:latin typeface="Consolas"/>
              </a:rPr>
              <a:t>      // … 9 unchanged lines</a:t>
            </a:r>
          </a:p>
          <a:p>
            <a:pPr algn="l">
              <a:lnSpc>
                <a:spcPts val="1360"/>
              </a:lnSpc>
              <a:spcAft>
                <a:spcPts val="0"/>
              </a:spcAft>
            </a:pPr>
            <a:r>
              <a:rPr sz="1200" b="0">
                <a:solidFill>
                  <a:srgbClr val="1A1D21"/>
                </a:solidFill>
                <a:latin typeface="Consolas"/>
              </a:rPr>
              <a:t>    }</a:t>
            </a:r>
          </a:p>
          <a:p>
            <a:pPr algn="l">
              <a:lnSpc>
                <a:spcPts val="1360"/>
              </a:lnSpc>
              <a:spcAft>
                <a:spcPts val="0"/>
              </a:spcAft>
            </a:pPr>
            <a:r>
              <a:rPr sz="1200" b="0">
                <a:solidFill>
                  <a:srgbClr val="1A1D21"/>
                </a:solidFill>
                <a:latin typeface="Consolas"/>
              </a:rPr>
              <a:t>  }</a:t>
            </a:r>
          </a:p>
          <a:p>
            <a:pPr algn="l">
              <a:lnSpc>
                <a:spcPts val="1360"/>
              </a:lnSpc>
              <a:spcAft>
                <a:spcPts val="0"/>
              </a:spcAft>
            </a:pPr>
            <a:r>
              <a:rPr sz="1200" b="0">
                <a:solidFill>
                  <a:srgbClr val="1A1D21"/>
                </a:solidFill>
                <a:latin typeface="Consolas"/>
              </a:rPr>
              <a:t>}</a:t>
            </a:r>
          </a:p>
        </p:txBody>
      </p:sp>
      <p:sp>
        <p:nvSpPr>
          <p:cNvPr id="8" name="TextBox 7"/>
          <p:cNvSpPr txBox="1"/>
          <p:nvPr/>
        </p:nvSpPr>
        <p:spPr>
          <a:xfrm>
            <a:off x="8046720" y="1828800"/>
            <a:ext cx="3291840" cy="4206240"/>
          </a:xfrm>
          <a:prstGeom prst="rect">
            <a:avLst/>
          </a:prstGeom>
          <a:noFill/>
        </p:spPr>
        <p:txBody>
          <a:bodyPr wrap="square">
            <a:spAutoFit/>
          </a:bodyPr>
          <a:lstStyle/>
          <a:p>
            <a:pPr>
              <a:spcAft>
                <a:spcPts val="1400"/>
              </a:spcAft>
              <a:defRPr sz="1700" b="0">
                <a:solidFill>
                  <a:srgbClr val="1A1D21"/>
                </a:solidFill>
                <a:latin typeface="Segoe UI"/>
              </a:defRPr>
            </a:pPr>
            <a:r>
              <a:t>·  The outer condition becomes a guard clause with an early return.</a:t>
            </a:r>
          </a:p>
          <a:p>
            <a:pPr>
              <a:spcAft>
                <a:spcPts val="1400"/>
              </a:spcAft>
              <a:defRPr sz="1700">
                <a:solidFill>
                  <a:srgbClr val="1A1D21"/>
                </a:solidFill>
                <a:latin typeface="Segoe UI"/>
              </a:defRPr>
            </a:pPr>
            <a:r>
              <a:t>·  The rest of the method moves one level up.</a:t>
            </a:r>
          </a:p>
          <a:p>
            <a:pPr>
              <a:spcAft>
                <a:spcPts val="1400"/>
              </a:spcAft>
              <a:defRPr sz="1700">
                <a:solidFill>
                  <a:srgbClr val="1A1D21"/>
                </a:solidFill>
                <a:latin typeface="Segoe UI"/>
              </a:defRPr>
            </a:pPr>
            <a:r>
              <a:t>·  Passed the javac check; judged acceptable as-is in the manual review.</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11535" y="6355080"/>
            <a:ext cx="914400" cy="365760"/>
          </a:xfrm>
          <a:prstGeom prst="rect">
            <a:avLst/>
          </a:prstGeom>
          <a:noFill/>
        </p:spPr>
        <p:txBody>
          <a:bodyPr wrap="square">
            <a:spAutoFit/>
          </a:bodyPr>
          <a:lstStyle/>
          <a:p>
            <a:pPr>
              <a:defRPr sz="1200" b="0">
                <a:solidFill>
                  <a:srgbClr val="838D99"/>
                </a:solidFill>
                <a:latin typeface="Segoe UI"/>
              </a:defRPr>
            </a:pPr>
            <a:r>
              <a:t>9</a:t>
            </a:r>
          </a:p>
        </p:txBody>
      </p:sp>
      <p:sp>
        <p:nvSpPr>
          <p:cNvPr id="3" name="TextBox 2"/>
          <p:cNvSpPr txBox="1"/>
          <p:nvPr/>
        </p:nvSpPr>
        <p:spPr>
          <a:xfrm>
            <a:off x="777240" y="457200"/>
            <a:ext cx="10637215" cy="914400"/>
          </a:xfrm>
          <a:prstGeom prst="rect">
            <a:avLst/>
          </a:prstGeom>
          <a:noFill/>
        </p:spPr>
        <p:txBody>
          <a:bodyPr wrap="square">
            <a:spAutoFit/>
          </a:bodyPr>
          <a:lstStyle/>
          <a:p>
            <a:pPr>
              <a:defRPr sz="3400" b="0">
                <a:solidFill>
                  <a:srgbClr val="1A1D21"/>
                </a:solidFill>
                <a:latin typeface="Times New Roman"/>
              </a:defRPr>
            </a:pPr>
            <a:r>
              <a:t>Limitations and takeaways</a:t>
            </a:r>
          </a:p>
        </p:txBody>
      </p:sp>
      <p:sp>
        <p:nvSpPr>
          <p:cNvPr id="4" name="TextBox 3"/>
          <p:cNvSpPr txBox="1"/>
          <p:nvPr/>
        </p:nvSpPr>
        <p:spPr>
          <a:xfrm>
            <a:off x="777240" y="1463040"/>
            <a:ext cx="5135727" cy="457200"/>
          </a:xfrm>
          <a:prstGeom prst="rect">
            <a:avLst/>
          </a:prstGeom>
          <a:noFill/>
        </p:spPr>
        <p:txBody>
          <a:bodyPr wrap="square">
            <a:spAutoFit/>
          </a:bodyPr>
          <a:lstStyle/>
          <a:p>
            <a:pPr>
              <a:defRPr sz="2200" b="1">
                <a:solidFill>
                  <a:srgbClr val="8C2F22"/>
                </a:solidFill>
                <a:latin typeface="Segoe UI"/>
              </a:defRPr>
            </a:pPr>
            <a:r>
              <a:t>Limitations</a:t>
            </a:r>
          </a:p>
        </p:txBody>
      </p:sp>
      <p:sp>
        <p:nvSpPr>
          <p:cNvPr id="5" name="TextBox 4"/>
          <p:cNvSpPr txBox="1"/>
          <p:nvPr/>
        </p:nvSpPr>
        <p:spPr>
          <a:xfrm>
            <a:off x="777240" y="2011680"/>
            <a:ext cx="5135727" cy="4206240"/>
          </a:xfrm>
          <a:prstGeom prst="rect">
            <a:avLst/>
          </a:prstGeom>
          <a:noFill/>
        </p:spPr>
        <p:txBody>
          <a:bodyPr wrap="square">
            <a:spAutoFit/>
          </a:bodyPr>
          <a:lstStyle/>
          <a:p>
            <a:pPr>
              <a:spcAft>
                <a:spcPts val="1400"/>
              </a:spcAft>
              <a:defRPr sz="1800" b="0">
                <a:solidFill>
                  <a:srgbClr val="1A1D21"/>
                </a:solidFill>
                <a:latin typeface="Segoe UI"/>
              </a:defRPr>
            </a:pPr>
            <a:r>
              <a:t>·  Compiles ≠ behaves the same: project tests were not run.</a:t>
            </a:r>
          </a:p>
          <a:p>
            <a:pPr>
              <a:spcAft>
                <a:spcPts val="1400"/>
              </a:spcAft>
              <a:defRPr sz="1800">
                <a:solidFill>
                  <a:srgbClr val="1A1D21"/>
                </a:solidFill>
                <a:latin typeface="Segoe UI"/>
              </a:defRPr>
            </a:pPr>
            <a:r>
              <a:t>·  One dataset, four smells, Java only.</a:t>
            </a:r>
          </a:p>
          <a:p>
            <a:pPr>
              <a:spcAft>
                <a:spcPts val="1400"/>
              </a:spcAft>
              <a:defRPr sz="1800">
                <a:solidFill>
                  <a:srgbClr val="1A1D21"/>
                </a:solidFill>
                <a:latin typeface="Segoe UI"/>
              </a:defRPr>
            </a:pPr>
            <a:r>
              <a:t>·  Best model chosen on the same predictions: slightly optimistic.</a:t>
            </a:r>
          </a:p>
        </p:txBody>
      </p:sp>
      <p:sp>
        <p:nvSpPr>
          <p:cNvPr id="6" name="TextBox 5"/>
          <p:cNvSpPr txBox="1"/>
          <p:nvPr/>
        </p:nvSpPr>
        <p:spPr>
          <a:xfrm>
            <a:off x="6278727" y="1463040"/>
            <a:ext cx="5135727" cy="457200"/>
          </a:xfrm>
          <a:prstGeom prst="rect">
            <a:avLst/>
          </a:prstGeom>
          <a:noFill/>
        </p:spPr>
        <p:txBody>
          <a:bodyPr wrap="square">
            <a:spAutoFit/>
          </a:bodyPr>
          <a:lstStyle/>
          <a:p>
            <a:pPr>
              <a:defRPr sz="2200" b="1">
                <a:solidFill>
                  <a:srgbClr val="1F4E79"/>
                </a:solidFill>
                <a:latin typeface="Segoe UI"/>
              </a:defRPr>
            </a:pPr>
            <a:r>
              <a:t>Takeaways</a:t>
            </a:r>
          </a:p>
        </p:txBody>
      </p:sp>
      <p:sp>
        <p:nvSpPr>
          <p:cNvPr id="7" name="TextBox 6"/>
          <p:cNvSpPr txBox="1"/>
          <p:nvPr/>
        </p:nvSpPr>
        <p:spPr>
          <a:xfrm>
            <a:off x="6278727" y="2011680"/>
            <a:ext cx="5135727" cy="4206240"/>
          </a:xfrm>
          <a:prstGeom prst="rect">
            <a:avLst/>
          </a:prstGeom>
          <a:noFill/>
        </p:spPr>
        <p:txBody>
          <a:bodyPr wrap="square">
            <a:spAutoFit/>
          </a:bodyPr>
          <a:lstStyle/>
          <a:p>
            <a:pPr>
              <a:spcAft>
                <a:spcPts val="1400"/>
              </a:spcAft>
              <a:defRPr sz="1800" b="0">
                <a:solidFill>
                  <a:srgbClr val="1A1D21"/>
                </a:solidFill>
                <a:latin typeface="Segoe UI"/>
              </a:defRPr>
            </a:pPr>
            <a:r>
              <a:t>·  Learned boundaries beat fixed thresholds.</a:t>
            </a:r>
          </a:p>
          <a:p>
            <a:pPr>
              <a:spcAft>
                <a:spcPts val="1400"/>
              </a:spcAft>
              <a:defRPr sz="1800">
                <a:solidFill>
                  <a:srgbClr val="1A1D21"/>
                </a:solidFill>
                <a:latin typeface="Segoe UI"/>
              </a:defRPr>
            </a:pPr>
            <a:r>
              <a:t>·  Safe automation is narrow, but measurable.</a:t>
            </a:r>
          </a:p>
          <a:p>
            <a:pPr>
              <a:spcAft>
                <a:spcPts val="1400"/>
              </a:spcAft>
              <a:defRPr sz="1800">
                <a:solidFill>
                  <a:srgbClr val="1A1D21"/>
                </a:solidFill>
                <a:latin typeface="Segoe UI"/>
              </a:defRPr>
            </a:pPr>
            <a:r>
              <a:t>·  Open source and reproducible: every number comes from a script.</a:t>
            </a:r>
          </a:p>
        </p:txBody>
      </p:sp>
      <p:sp>
        <p:nvSpPr>
          <p:cNvPr id="8" name="TextBox 7"/>
          <p:cNvSpPr txBox="1"/>
          <p:nvPr/>
        </p:nvSpPr>
        <p:spPr>
          <a:xfrm>
            <a:off x="777240" y="4983480"/>
            <a:ext cx="10637215" cy="1097280"/>
          </a:xfrm>
          <a:prstGeom prst="rect">
            <a:avLst/>
          </a:prstGeom>
          <a:noFill/>
        </p:spPr>
        <p:txBody>
          <a:bodyPr wrap="square">
            <a:spAutoFit/>
          </a:bodyPr>
          <a:lstStyle/>
          <a:p>
            <a:pPr>
              <a:defRPr sz="3000" b="0">
                <a:solidFill>
                  <a:srgbClr val="1A1D21"/>
                </a:solidFill>
                <a:latin typeface="Times New Roman"/>
              </a:defRPr>
            </a:pPr>
            <a:r>
              <a:t>Thank you!  Questions?</a:t>
            </a:r>
          </a:p>
          <a:p>
            <a:pPr>
              <a:defRPr sz="1400">
                <a:solidFill>
                  <a:srgbClr val="838D99"/>
                </a:solidFill>
                <a:latin typeface="Segoe UI"/>
              </a:defRPr>
            </a:pPr>
            <a:r>
              <a:t>github.com/FlorentLatifi/Code-Smell-Detection-and-Refactoring-Recommendations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457200"/>
            <a:ext cx="10637215" cy="914400"/>
          </a:xfrm>
          <a:prstGeom prst="rect">
            <a:avLst/>
          </a:prstGeom>
          <a:noFill/>
        </p:spPr>
        <p:txBody>
          <a:bodyPr wrap="square">
            <a:spAutoFit/>
          </a:bodyPr>
          <a:lstStyle/>
          <a:p>
            <a:pPr>
              <a:defRPr sz="3400" b="0">
                <a:solidFill>
                  <a:srgbClr val="1A1D21"/>
                </a:solidFill>
                <a:latin typeface="Times New Roman"/>
              </a:defRPr>
            </a:pPr>
            <a:r>
              <a:t>Backup · Full detection results</a:t>
            </a:r>
          </a:p>
          <a:p>
            <a:pPr>
              <a:defRPr sz="1400">
                <a:solidFill>
                  <a:srgbClr val="838D99"/>
                </a:solidFill>
                <a:latin typeface="Segoe UI"/>
              </a:defRPr>
            </a:pPr>
            <a:r>
              <a:t>Precision, recall and MCC for both approaches</a:t>
            </a:r>
          </a:p>
        </p:txBody>
      </p:sp>
      <p:sp>
        <p:nvSpPr>
          <p:cNvPr id="3" name="TextBox 2"/>
          <p:cNvSpPr txBox="1"/>
          <p:nvPr/>
        </p:nvSpPr>
        <p:spPr>
          <a:xfrm>
            <a:off x="10911535" y="6355080"/>
            <a:ext cx="914400" cy="365760"/>
          </a:xfrm>
          <a:prstGeom prst="rect">
            <a:avLst/>
          </a:prstGeom>
          <a:noFill/>
        </p:spPr>
        <p:txBody>
          <a:bodyPr wrap="square">
            <a:spAutoFit/>
          </a:bodyPr>
          <a:lstStyle/>
          <a:p>
            <a:pPr>
              <a:defRPr sz="1200" b="0">
                <a:solidFill>
                  <a:srgbClr val="838D99"/>
                </a:solidFill>
                <a:latin typeface="Segoe UI"/>
              </a:defRPr>
            </a:pPr>
            <a:r>
              <a:t>10</a:t>
            </a:r>
          </a:p>
        </p:txBody>
      </p:sp>
      <p:graphicFrame>
        <p:nvGraphicFramePr>
          <p:cNvPr id="4" name="Table 3"/>
          <p:cNvGraphicFramePr>
            <a:graphicFrameLocks noGrp="1"/>
          </p:cNvGraphicFramePr>
          <p:nvPr/>
        </p:nvGraphicFramePr>
        <p:xfrm>
          <a:off x="777240" y="1828800"/>
          <a:ext cx="10637215" cy="457200"/>
        </p:xfrm>
        <a:graphic>
          <a:graphicData uri="http://schemas.openxmlformats.org/drawingml/2006/table">
            <a:tbl>
              <a:tblPr firstRow="1" bandRow="1">
                <a:tableStyleId>{5C22544A-7EE6-4342-B048-85BDC9FD1C3A}</a:tableStyleId>
              </a:tblPr>
              <a:tblGrid>
                <a:gridCol w="1329651"/>
                <a:gridCol w="1329651"/>
                <a:gridCol w="1329651"/>
                <a:gridCol w="1329651"/>
                <a:gridCol w="1329651"/>
                <a:gridCol w="1329651"/>
                <a:gridCol w="1329651"/>
                <a:gridCol w="1329658"/>
              </a:tblGrid>
              <a:tr h="91440">
                <a:tc>
                  <a:txBody>
                    <a:bodyPr/>
                    <a:lstStyle/>
                    <a:p>
                      <a:pPr>
                        <a:defRPr sz="1400" b="1">
                          <a:latin typeface="Segoe UI"/>
                        </a:defRPr>
                      </a:pPr>
                      <a:r>
                        <a:t>Smell</a:t>
                      </a:r>
                    </a:p>
                  </a:txBody>
                  <a:tcPr/>
                </a:tc>
                <a:tc>
                  <a:txBody>
                    <a:bodyPr/>
                    <a:lstStyle/>
                    <a:p>
                      <a:pPr>
                        <a:defRPr sz="1400" b="1">
                          <a:latin typeface="Segoe UI"/>
                        </a:defRPr>
                      </a:pPr>
                      <a:r>
                        <a:t>Rules P</a:t>
                      </a:r>
                    </a:p>
                  </a:txBody>
                  <a:tcPr/>
                </a:tc>
                <a:tc>
                  <a:txBody>
                    <a:bodyPr/>
                    <a:lstStyle/>
                    <a:p>
                      <a:pPr>
                        <a:defRPr sz="1400" b="1">
                          <a:latin typeface="Segoe UI"/>
                        </a:defRPr>
                      </a:pPr>
                      <a:r>
                        <a:t>Rules R</a:t>
                      </a:r>
                    </a:p>
                  </a:txBody>
                  <a:tcPr/>
                </a:tc>
                <a:tc>
                  <a:txBody>
                    <a:bodyPr/>
                    <a:lstStyle/>
                    <a:p>
                      <a:pPr>
                        <a:defRPr sz="1400" b="1">
                          <a:latin typeface="Segoe UI"/>
                        </a:defRPr>
                      </a:pPr>
                      <a:r>
                        <a:t>Rules MCC</a:t>
                      </a:r>
                    </a:p>
                  </a:txBody>
                  <a:tcPr/>
                </a:tc>
                <a:tc>
                  <a:txBody>
                    <a:bodyPr/>
                    <a:lstStyle/>
                    <a:p>
                      <a:pPr>
                        <a:defRPr sz="1400" b="1">
                          <a:latin typeface="Segoe UI"/>
                        </a:defRPr>
                      </a:pPr>
                      <a:r>
                        <a:t>Model</a:t>
                      </a:r>
                    </a:p>
                  </a:txBody>
                  <a:tcPr/>
                </a:tc>
                <a:tc>
                  <a:txBody>
                    <a:bodyPr/>
                    <a:lstStyle/>
                    <a:p>
                      <a:pPr>
                        <a:defRPr sz="1400" b="1">
                          <a:latin typeface="Segoe UI"/>
                        </a:defRPr>
                      </a:pPr>
                      <a:r>
                        <a:t>Model P</a:t>
                      </a:r>
                    </a:p>
                  </a:txBody>
                  <a:tcPr/>
                </a:tc>
                <a:tc>
                  <a:txBody>
                    <a:bodyPr/>
                    <a:lstStyle/>
                    <a:p>
                      <a:pPr>
                        <a:defRPr sz="1400" b="1">
                          <a:latin typeface="Segoe UI"/>
                        </a:defRPr>
                      </a:pPr>
                      <a:r>
                        <a:t>Model R</a:t>
                      </a:r>
                    </a:p>
                  </a:txBody>
                  <a:tcPr/>
                </a:tc>
                <a:tc>
                  <a:txBody>
                    <a:bodyPr/>
                    <a:lstStyle/>
                    <a:p>
                      <a:pPr>
                        <a:defRPr sz="1400" b="1">
                          <a:latin typeface="Segoe UI"/>
                        </a:defRPr>
                      </a:pPr>
                      <a:r>
                        <a:t>Model MCC</a:t>
                      </a:r>
                    </a:p>
                  </a:txBody>
                  <a:tcPr/>
                </a:tc>
              </a:tr>
              <a:tr h="91440">
                <a:tc>
                  <a:txBody>
                    <a:bodyPr/>
                    <a:lstStyle/>
                    <a:p>
                      <a:pPr>
                        <a:defRPr sz="1600">
                          <a:latin typeface="Segoe UI"/>
                        </a:defRPr>
                      </a:pPr>
                      <a:r>
                        <a:t>Blob</a:t>
                      </a:r>
                    </a:p>
                  </a:txBody>
                  <a:tcPr/>
                </a:tc>
                <a:tc>
                  <a:txBody>
                    <a:bodyPr/>
                    <a:lstStyle/>
                    <a:p>
                      <a:pPr algn="r">
                        <a:defRPr sz="1600">
                          <a:latin typeface="Segoe UI"/>
                        </a:defRPr>
                      </a:pPr>
                      <a:r>
                        <a:t>0.816</a:t>
                      </a:r>
                    </a:p>
                  </a:txBody>
                  <a:tcPr/>
                </a:tc>
                <a:tc>
                  <a:txBody>
                    <a:bodyPr/>
                    <a:lstStyle/>
                    <a:p>
                      <a:pPr algn="r">
                        <a:defRPr sz="1600">
                          <a:latin typeface="Segoe UI"/>
                        </a:defRPr>
                      </a:pPr>
                      <a:r>
                        <a:t>0.174</a:t>
                      </a:r>
                    </a:p>
                  </a:txBody>
                  <a:tcPr/>
                </a:tc>
                <a:tc>
                  <a:txBody>
                    <a:bodyPr/>
                    <a:lstStyle/>
                    <a:p>
                      <a:pPr algn="r">
                        <a:defRPr sz="1600">
                          <a:latin typeface="Segoe UI"/>
                        </a:defRPr>
                      </a:pPr>
                      <a:r>
                        <a:t>0.336</a:t>
                      </a:r>
                    </a:p>
                  </a:txBody>
                  <a:tcPr/>
                </a:tc>
                <a:tc>
                  <a:txBody>
                    <a:bodyPr/>
                    <a:lstStyle/>
                    <a:p>
                      <a:pPr algn="r">
                        <a:defRPr sz="1600">
                          <a:latin typeface="Segoe UI"/>
                        </a:defRPr>
                      </a:pPr>
                      <a:r>
                        <a:t>Logistic regression</a:t>
                      </a:r>
                    </a:p>
                  </a:txBody>
                  <a:tcPr/>
                </a:tc>
                <a:tc>
                  <a:txBody>
                    <a:bodyPr/>
                    <a:lstStyle/>
                    <a:p>
                      <a:pPr algn="r">
                        <a:defRPr sz="1600">
                          <a:latin typeface="Segoe UI"/>
                        </a:defRPr>
                      </a:pPr>
                      <a:r>
                        <a:t>0.510</a:t>
                      </a:r>
                    </a:p>
                  </a:txBody>
                  <a:tcPr/>
                </a:tc>
                <a:tc>
                  <a:txBody>
                    <a:bodyPr/>
                    <a:lstStyle/>
                    <a:p>
                      <a:pPr algn="r">
                        <a:defRPr sz="1600">
                          <a:latin typeface="Segoe UI"/>
                        </a:defRPr>
                      </a:pPr>
                      <a:r>
                        <a:t>0.770</a:t>
                      </a:r>
                    </a:p>
                  </a:txBody>
                  <a:tcPr/>
                </a:tc>
                <a:tc>
                  <a:txBody>
                    <a:bodyPr/>
                    <a:lstStyle/>
                    <a:p>
                      <a:pPr algn="r">
                        <a:defRPr sz="1600">
                          <a:latin typeface="Segoe UI"/>
                        </a:defRPr>
                      </a:pPr>
                      <a:r>
                        <a:t>0.539</a:t>
                      </a:r>
                    </a:p>
                  </a:txBody>
                  <a:tcPr/>
                </a:tc>
              </a:tr>
              <a:tr h="91440">
                <a:tc>
                  <a:txBody>
                    <a:bodyPr/>
                    <a:lstStyle/>
                    <a:p>
                      <a:pPr>
                        <a:defRPr sz="1600">
                          <a:latin typeface="Segoe UI"/>
                        </a:defRPr>
                      </a:pPr>
                      <a:r>
                        <a:t>Data Class</a:t>
                      </a:r>
                    </a:p>
                  </a:txBody>
                  <a:tcPr/>
                </a:tc>
                <a:tc>
                  <a:txBody>
                    <a:bodyPr/>
                    <a:lstStyle/>
                    <a:p>
                      <a:pPr algn="r">
                        <a:defRPr sz="1600">
                          <a:latin typeface="Segoe UI"/>
                        </a:defRPr>
                      </a:pPr>
                      <a:r>
                        <a:t>0.765</a:t>
                      </a:r>
                    </a:p>
                  </a:txBody>
                  <a:tcPr/>
                </a:tc>
                <a:tc>
                  <a:txBody>
                    <a:bodyPr/>
                    <a:lstStyle/>
                    <a:p>
                      <a:pPr algn="r">
                        <a:defRPr sz="1600">
                          <a:latin typeface="Segoe UI"/>
                        </a:defRPr>
                      </a:pPr>
                      <a:r>
                        <a:t>0.230</a:t>
                      </a:r>
                    </a:p>
                  </a:txBody>
                  <a:tcPr/>
                </a:tc>
                <a:tc>
                  <a:txBody>
                    <a:bodyPr/>
                    <a:lstStyle/>
                    <a:p>
                      <a:pPr algn="r">
                        <a:defRPr sz="1600">
                          <a:latin typeface="Segoe UI"/>
                        </a:defRPr>
                      </a:pPr>
                      <a:r>
                        <a:t>0.367</a:t>
                      </a:r>
                    </a:p>
                  </a:txBody>
                  <a:tcPr/>
                </a:tc>
                <a:tc>
                  <a:txBody>
                    <a:bodyPr/>
                    <a:lstStyle/>
                    <a:p>
                      <a:pPr algn="r">
                        <a:defRPr sz="1600">
                          <a:latin typeface="Segoe UI"/>
                        </a:defRPr>
                      </a:pPr>
                      <a:r>
                        <a:t>Gradient boosting</a:t>
                      </a:r>
                    </a:p>
                  </a:txBody>
                  <a:tcPr/>
                </a:tc>
                <a:tc>
                  <a:txBody>
                    <a:bodyPr/>
                    <a:lstStyle/>
                    <a:p>
                      <a:pPr algn="r">
                        <a:defRPr sz="1600">
                          <a:latin typeface="Segoe UI"/>
                        </a:defRPr>
                      </a:pPr>
                      <a:r>
                        <a:t>0.546</a:t>
                      </a:r>
                    </a:p>
                  </a:txBody>
                  <a:tcPr/>
                </a:tc>
                <a:tc>
                  <a:txBody>
                    <a:bodyPr/>
                    <a:lstStyle/>
                    <a:p>
                      <a:pPr algn="r">
                        <a:defRPr sz="1600">
                          <a:latin typeface="Segoe UI"/>
                        </a:defRPr>
                      </a:pPr>
                      <a:r>
                        <a:t>0.590</a:t>
                      </a:r>
                    </a:p>
                  </a:txBody>
                  <a:tcPr/>
                </a:tc>
                <a:tc>
                  <a:txBody>
                    <a:bodyPr/>
                    <a:lstStyle/>
                    <a:p>
                      <a:pPr algn="r">
                        <a:defRPr sz="1600">
                          <a:latin typeface="Segoe UI"/>
                        </a:defRPr>
                      </a:pPr>
                      <a:r>
                        <a:t>0.473</a:t>
                      </a:r>
                    </a:p>
                  </a:txBody>
                  <a:tcPr/>
                </a:tc>
              </a:tr>
              <a:tr h="91440">
                <a:tc>
                  <a:txBody>
                    <a:bodyPr/>
                    <a:lstStyle/>
                    <a:p>
                      <a:pPr>
                        <a:defRPr sz="1600">
                          <a:latin typeface="Segoe UI"/>
                        </a:defRPr>
                      </a:pPr>
                      <a:r>
                        <a:t>Feature Envy</a:t>
                      </a:r>
                    </a:p>
                  </a:txBody>
                  <a:tcPr/>
                </a:tc>
                <a:tc>
                  <a:txBody>
                    <a:bodyPr/>
                    <a:lstStyle/>
                    <a:p>
                      <a:pPr algn="r">
                        <a:defRPr sz="1600">
                          <a:latin typeface="Segoe UI"/>
                        </a:defRPr>
                      </a:pPr>
                      <a:r>
                        <a:t>0.413</a:t>
                      </a:r>
                    </a:p>
                  </a:txBody>
                  <a:tcPr/>
                </a:tc>
                <a:tc>
                  <a:txBody>
                    <a:bodyPr/>
                    <a:lstStyle/>
                    <a:p>
                      <a:pPr algn="r">
                        <a:defRPr sz="1600">
                          <a:latin typeface="Segoe UI"/>
                        </a:defRPr>
                      </a:pPr>
                      <a:r>
                        <a:t>0.188</a:t>
                      </a:r>
                    </a:p>
                  </a:txBody>
                  <a:tcPr/>
                </a:tc>
                <a:tc>
                  <a:txBody>
                    <a:bodyPr/>
                    <a:lstStyle/>
                    <a:p>
                      <a:pPr algn="r">
                        <a:defRPr sz="1600">
                          <a:latin typeface="Segoe UI"/>
                        </a:defRPr>
                      </a:pPr>
                      <a:r>
                        <a:t>0.243</a:t>
                      </a:r>
                    </a:p>
                  </a:txBody>
                  <a:tcPr/>
                </a:tc>
                <a:tc>
                  <a:txBody>
                    <a:bodyPr/>
                    <a:lstStyle/>
                    <a:p>
                      <a:pPr algn="r">
                        <a:defRPr sz="1600">
                          <a:latin typeface="Segoe UI"/>
                        </a:defRPr>
                      </a:pPr>
                      <a:r>
                        <a:t>Gradient boosting</a:t>
                      </a:r>
                    </a:p>
                  </a:txBody>
                  <a:tcPr/>
                </a:tc>
                <a:tc>
                  <a:txBody>
                    <a:bodyPr/>
                    <a:lstStyle/>
                    <a:p>
                      <a:pPr algn="r">
                        <a:defRPr sz="1600">
                          <a:latin typeface="Segoe UI"/>
                        </a:defRPr>
                      </a:pPr>
                      <a:r>
                        <a:t>0.438</a:t>
                      </a:r>
                    </a:p>
                  </a:txBody>
                  <a:tcPr/>
                </a:tc>
                <a:tc>
                  <a:txBody>
                    <a:bodyPr/>
                    <a:lstStyle/>
                    <a:p>
                      <a:pPr algn="r">
                        <a:defRPr sz="1600">
                          <a:latin typeface="Segoe UI"/>
                        </a:defRPr>
                      </a:pPr>
                      <a:r>
                        <a:t>0.297</a:t>
                      </a:r>
                    </a:p>
                  </a:txBody>
                  <a:tcPr/>
                </a:tc>
                <a:tc>
                  <a:txBody>
                    <a:bodyPr/>
                    <a:lstStyle/>
                    <a:p>
                      <a:pPr algn="r">
                        <a:defRPr sz="1600">
                          <a:latin typeface="Segoe UI"/>
                        </a:defRPr>
                      </a:pPr>
                      <a:r>
                        <a:t>0.321</a:t>
                      </a:r>
                    </a:p>
                  </a:txBody>
                  <a:tcPr/>
                </a:tc>
              </a:tr>
              <a:tr h="91440">
                <a:tc>
                  <a:txBody>
                    <a:bodyPr/>
                    <a:lstStyle/>
                    <a:p>
                      <a:pPr>
                        <a:defRPr sz="1600">
                          <a:latin typeface="Segoe UI"/>
                        </a:defRPr>
                      </a:pPr>
                      <a:r>
                        <a:t>Long Method</a:t>
                      </a:r>
                    </a:p>
                  </a:txBody>
                  <a:tcPr/>
                </a:tc>
                <a:tc>
                  <a:txBody>
                    <a:bodyPr/>
                    <a:lstStyle/>
                    <a:p>
                      <a:pPr algn="r">
                        <a:defRPr sz="1600">
                          <a:latin typeface="Segoe UI"/>
                        </a:defRPr>
                      </a:pPr>
                      <a:r>
                        <a:t>0.888</a:t>
                      </a:r>
                    </a:p>
                  </a:txBody>
                  <a:tcPr/>
                </a:tc>
                <a:tc>
                  <a:txBody>
                    <a:bodyPr/>
                    <a:lstStyle/>
                    <a:p>
                      <a:pPr algn="r">
                        <a:defRPr sz="1600">
                          <a:latin typeface="Segoe UI"/>
                        </a:defRPr>
                      </a:pPr>
                      <a:r>
                        <a:t>0.470</a:t>
                      </a:r>
                    </a:p>
                  </a:txBody>
                  <a:tcPr/>
                </a:tc>
                <a:tc>
                  <a:txBody>
                    <a:bodyPr/>
                    <a:lstStyle/>
                    <a:p>
                      <a:pPr algn="r">
                        <a:defRPr sz="1600">
                          <a:latin typeface="Segoe UI"/>
                        </a:defRPr>
                      </a:pPr>
                      <a:r>
                        <a:t>0.617</a:t>
                      </a:r>
                    </a:p>
                  </a:txBody>
                  <a:tcPr/>
                </a:tc>
                <a:tc>
                  <a:txBody>
                    <a:bodyPr/>
                    <a:lstStyle/>
                    <a:p>
                      <a:pPr algn="r">
                        <a:defRPr sz="1600">
                          <a:latin typeface="Segoe UI"/>
                        </a:defRPr>
                      </a:pPr>
                      <a:r>
                        <a:t>Random forest</a:t>
                      </a:r>
                    </a:p>
                  </a:txBody>
                  <a:tcPr/>
                </a:tc>
                <a:tc>
                  <a:txBody>
                    <a:bodyPr/>
                    <a:lstStyle/>
                    <a:p>
                      <a:pPr algn="r">
                        <a:defRPr sz="1600">
                          <a:latin typeface="Segoe UI"/>
                        </a:defRPr>
                      </a:pPr>
                      <a:r>
                        <a:t>0.690</a:t>
                      </a:r>
                    </a:p>
                  </a:txBody>
                  <a:tcPr/>
                </a:tc>
                <a:tc>
                  <a:txBody>
                    <a:bodyPr/>
                    <a:lstStyle/>
                    <a:p>
                      <a:pPr algn="r">
                        <a:defRPr sz="1600">
                          <a:latin typeface="Segoe UI"/>
                        </a:defRPr>
                      </a:pPr>
                      <a:r>
                        <a:t>0.833</a:t>
                      </a:r>
                    </a:p>
                  </a:txBody>
                  <a:tcPr/>
                </a:tc>
                <a:tc>
                  <a:txBody>
                    <a:bodyPr/>
                    <a:lstStyle/>
                    <a:p>
                      <a:pPr algn="r">
                        <a:defRPr sz="1600">
                          <a:latin typeface="Segoe UI"/>
                        </a:defRPr>
                      </a:pPr>
                      <a:r>
                        <a:t>0.723</a:t>
                      </a:r>
                    </a:p>
                  </a:txBody>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457200"/>
            <a:ext cx="10637215" cy="914400"/>
          </a:xfrm>
          <a:prstGeom prst="rect">
            <a:avLst/>
          </a:prstGeom>
          <a:noFill/>
        </p:spPr>
        <p:txBody>
          <a:bodyPr wrap="square">
            <a:spAutoFit/>
          </a:bodyPr>
          <a:lstStyle/>
          <a:p>
            <a:pPr>
              <a:defRPr sz="3400" b="0">
                <a:solidFill>
                  <a:srgbClr val="1A1D21"/>
                </a:solidFill>
                <a:latin typeface="Times New Roman"/>
              </a:defRPr>
            </a:pPr>
            <a:r>
              <a:t>Backup · Confidence intervals</a:t>
            </a:r>
          </a:p>
          <a:p>
            <a:pPr>
              <a:defRPr sz="1400">
                <a:solidFill>
                  <a:srgbClr val="838D99"/>
                </a:solidFill>
                <a:latin typeface="Segoe UI"/>
              </a:defRPr>
            </a:pPr>
            <a:r>
              <a:t>95% bootstrap intervals, resampling whole repositories</a:t>
            </a:r>
          </a:p>
        </p:txBody>
      </p:sp>
      <p:sp>
        <p:nvSpPr>
          <p:cNvPr id="3" name="TextBox 2"/>
          <p:cNvSpPr txBox="1"/>
          <p:nvPr/>
        </p:nvSpPr>
        <p:spPr>
          <a:xfrm>
            <a:off x="10911535" y="6355080"/>
            <a:ext cx="914400" cy="365760"/>
          </a:xfrm>
          <a:prstGeom prst="rect">
            <a:avLst/>
          </a:prstGeom>
          <a:noFill/>
        </p:spPr>
        <p:txBody>
          <a:bodyPr wrap="square">
            <a:spAutoFit/>
          </a:bodyPr>
          <a:lstStyle/>
          <a:p>
            <a:pPr>
              <a:defRPr sz="1200" b="0">
                <a:solidFill>
                  <a:srgbClr val="838D99"/>
                </a:solidFill>
                <a:latin typeface="Segoe UI"/>
              </a:defRPr>
            </a:pPr>
            <a:r>
              <a:t>11</a:t>
            </a:r>
          </a:p>
        </p:txBody>
      </p:sp>
      <p:graphicFrame>
        <p:nvGraphicFramePr>
          <p:cNvPr id="4" name="Table 3"/>
          <p:cNvGraphicFramePr>
            <a:graphicFrameLocks noGrp="1"/>
          </p:cNvGraphicFramePr>
          <p:nvPr/>
        </p:nvGraphicFramePr>
        <p:xfrm>
          <a:off x="777240" y="1828800"/>
          <a:ext cx="10637215" cy="457200"/>
        </p:xfrm>
        <a:graphic>
          <a:graphicData uri="http://schemas.openxmlformats.org/drawingml/2006/table">
            <a:tbl>
              <a:tblPr firstRow="1" bandRow="1">
                <a:tableStyleId>{5C22544A-7EE6-4342-B048-85BDC9FD1C3A}</a:tableStyleId>
              </a:tblPr>
              <a:tblGrid>
                <a:gridCol w="2127443"/>
                <a:gridCol w="2127443"/>
                <a:gridCol w="2127443"/>
                <a:gridCol w="2127443"/>
                <a:gridCol w="2127443"/>
              </a:tblGrid>
              <a:tr h="91440">
                <a:tc>
                  <a:txBody>
                    <a:bodyPr/>
                    <a:lstStyle/>
                    <a:p>
                      <a:pPr>
                        <a:defRPr sz="1400" b="1">
                          <a:latin typeface="Segoe UI"/>
                        </a:defRPr>
                      </a:pPr>
                      <a:r>
                        <a:t>Smell</a:t>
                      </a:r>
                    </a:p>
                  </a:txBody>
                  <a:tcPr/>
                </a:tc>
                <a:tc>
                  <a:txBody>
                    <a:bodyPr/>
                    <a:lstStyle/>
                    <a:p>
                      <a:pPr>
                        <a:defRPr sz="1400" b="1">
                          <a:latin typeface="Segoe UI"/>
                        </a:defRPr>
                      </a:pPr>
                      <a:r>
                        <a:t>Rules (A)</a:t>
                      </a:r>
                    </a:p>
                  </a:txBody>
                  <a:tcPr/>
                </a:tc>
                <a:tc>
                  <a:txBody>
                    <a:bodyPr/>
                    <a:lstStyle/>
                    <a:p>
                      <a:pPr>
                        <a:defRPr sz="1400" b="1">
                          <a:latin typeface="Segoe UI"/>
                        </a:defRPr>
                      </a:pPr>
                      <a:r>
                        <a:t>Model (B)</a:t>
                      </a:r>
                    </a:p>
                  </a:txBody>
                  <a:tcPr/>
                </a:tc>
                <a:tc>
                  <a:txBody>
                    <a:bodyPr/>
                    <a:lstStyle/>
                    <a:p>
                      <a:pPr>
                        <a:defRPr sz="1400" b="1">
                          <a:latin typeface="Segoe UI"/>
                        </a:defRPr>
                      </a:pPr>
                      <a:r>
                        <a:t>B − A</a:t>
                      </a:r>
                    </a:p>
                  </a:txBody>
                  <a:tcPr/>
                </a:tc>
                <a:tc>
                  <a:txBody>
                    <a:bodyPr/>
                    <a:lstStyle/>
                    <a:p>
                      <a:pPr>
                        <a:defRPr sz="1400" b="1">
                          <a:latin typeface="Segoe UI"/>
                        </a:defRPr>
                      </a:pPr>
                      <a:r>
                        <a:t>Above zero</a:t>
                      </a:r>
                    </a:p>
                  </a:txBody>
                  <a:tcPr/>
                </a:tc>
              </a:tr>
              <a:tr h="91440">
                <a:tc>
                  <a:txBody>
                    <a:bodyPr/>
                    <a:lstStyle/>
                    <a:p>
                      <a:pPr>
                        <a:defRPr sz="1600">
                          <a:latin typeface="Segoe UI"/>
                        </a:defRPr>
                      </a:pPr>
                      <a:r>
                        <a:t>Blob</a:t>
                      </a:r>
                    </a:p>
                  </a:txBody>
                  <a:tcPr/>
                </a:tc>
                <a:tc>
                  <a:txBody>
                    <a:bodyPr/>
                    <a:lstStyle/>
                    <a:p>
                      <a:pPr algn="r">
                        <a:defRPr sz="1600">
                          <a:latin typeface="Segoe UI"/>
                        </a:defRPr>
                      </a:pPr>
                      <a:r>
                        <a:t>[0.274, 0.393]</a:t>
                      </a:r>
                    </a:p>
                  </a:txBody>
                  <a:tcPr/>
                </a:tc>
                <a:tc>
                  <a:txBody>
                    <a:bodyPr/>
                    <a:lstStyle/>
                    <a:p>
                      <a:pPr algn="r">
                        <a:defRPr sz="1600">
                          <a:latin typeface="Segoe UI"/>
                        </a:defRPr>
                      </a:pPr>
                      <a:r>
                        <a:t>[0.494, 0.581]</a:t>
                      </a:r>
                    </a:p>
                  </a:txBody>
                  <a:tcPr/>
                </a:tc>
                <a:tc>
                  <a:txBody>
                    <a:bodyPr/>
                    <a:lstStyle/>
                    <a:p>
                      <a:pPr algn="r">
                        <a:defRPr sz="1600">
                          <a:latin typeface="Segoe UI"/>
                        </a:defRPr>
                      </a:pPr>
                      <a:r>
                        <a:t>[0.138, 0.271]</a:t>
                      </a:r>
                    </a:p>
                  </a:txBody>
                  <a:tcPr/>
                </a:tc>
                <a:tc>
                  <a:txBody>
                    <a:bodyPr/>
                    <a:lstStyle/>
                    <a:p>
                      <a:pPr algn="r">
                        <a:defRPr sz="1600">
                          <a:latin typeface="Segoe UI"/>
                        </a:defRPr>
                      </a:pPr>
                      <a:r>
                        <a:t>yes</a:t>
                      </a:r>
                    </a:p>
                  </a:txBody>
                  <a:tcPr/>
                </a:tc>
              </a:tr>
              <a:tr h="91440">
                <a:tc>
                  <a:txBody>
                    <a:bodyPr/>
                    <a:lstStyle/>
                    <a:p>
                      <a:pPr>
                        <a:defRPr sz="1600">
                          <a:latin typeface="Segoe UI"/>
                        </a:defRPr>
                      </a:pPr>
                      <a:r>
                        <a:t>Data Class</a:t>
                      </a:r>
                    </a:p>
                  </a:txBody>
                  <a:tcPr/>
                </a:tc>
                <a:tc>
                  <a:txBody>
                    <a:bodyPr/>
                    <a:lstStyle/>
                    <a:p>
                      <a:pPr algn="r">
                        <a:defRPr sz="1600">
                          <a:latin typeface="Segoe UI"/>
                        </a:defRPr>
                      </a:pPr>
                      <a:r>
                        <a:t>[0.313, 0.423]</a:t>
                      </a:r>
                    </a:p>
                  </a:txBody>
                  <a:tcPr/>
                </a:tc>
                <a:tc>
                  <a:txBody>
                    <a:bodyPr/>
                    <a:lstStyle/>
                    <a:p>
                      <a:pPr algn="r">
                        <a:defRPr sz="1600">
                          <a:latin typeface="Segoe UI"/>
                        </a:defRPr>
                      </a:pPr>
                      <a:r>
                        <a:t>[0.419, 0.530]</a:t>
                      </a:r>
                    </a:p>
                  </a:txBody>
                  <a:tcPr/>
                </a:tc>
                <a:tc>
                  <a:txBody>
                    <a:bodyPr/>
                    <a:lstStyle/>
                    <a:p>
                      <a:pPr algn="r">
                        <a:defRPr sz="1600">
                          <a:latin typeface="Segoe UI"/>
                        </a:defRPr>
                      </a:pPr>
                      <a:r>
                        <a:t>[0.050, 0.163]</a:t>
                      </a:r>
                    </a:p>
                  </a:txBody>
                  <a:tcPr/>
                </a:tc>
                <a:tc>
                  <a:txBody>
                    <a:bodyPr/>
                    <a:lstStyle/>
                    <a:p>
                      <a:pPr algn="r">
                        <a:defRPr sz="1600">
                          <a:latin typeface="Segoe UI"/>
                        </a:defRPr>
                      </a:pPr>
                      <a:r>
                        <a:t>yes</a:t>
                      </a:r>
                    </a:p>
                  </a:txBody>
                  <a:tcPr/>
                </a:tc>
              </a:tr>
              <a:tr h="91440">
                <a:tc>
                  <a:txBody>
                    <a:bodyPr/>
                    <a:lstStyle/>
                    <a:p>
                      <a:pPr>
                        <a:defRPr sz="1600">
                          <a:latin typeface="Segoe UI"/>
                        </a:defRPr>
                      </a:pPr>
                      <a:r>
                        <a:t>Feature Envy</a:t>
                      </a:r>
                    </a:p>
                  </a:txBody>
                  <a:tcPr/>
                </a:tc>
                <a:tc>
                  <a:txBody>
                    <a:bodyPr/>
                    <a:lstStyle/>
                    <a:p>
                      <a:pPr algn="r">
                        <a:defRPr sz="1600">
                          <a:latin typeface="Segoe UI"/>
                        </a:defRPr>
                      </a:pPr>
                      <a:r>
                        <a:t>[0.158, 0.330]</a:t>
                      </a:r>
                    </a:p>
                  </a:txBody>
                  <a:tcPr/>
                </a:tc>
                <a:tc>
                  <a:txBody>
                    <a:bodyPr/>
                    <a:lstStyle/>
                    <a:p>
                      <a:pPr algn="r">
                        <a:defRPr sz="1600">
                          <a:latin typeface="Segoe UI"/>
                        </a:defRPr>
                      </a:pPr>
                      <a:r>
                        <a:t>[0.246, 0.398]</a:t>
                      </a:r>
                    </a:p>
                  </a:txBody>
                  <a:tcPr/>
                </a:tc>
                <a:tc>
                  <a:txBody>
                    <a:bodyPr/>
                    <a:lstStyle/>
                    <a:p>
                      <a:pPr algn="r">
                        <a:defRPr sz="1600">
                          <a:latin typeface="Segoe UI"/>
                        </a:defRPr>
                      </a:pPr>
                      <a:r>
                        <a:t>[-0.012, 0.166]</a:t>
                      </a:r>
                    </a:p>
                  </a:txBody>
                  <a:tcPr/>
                </a:tc>
                <a:tc>
                  <a:txBody>
                    <a:bodyPr/>
                    <a:lstStyle/>
                    <a:p>
                      <a:pPr algn="r">
                        <a:defRPr sz="1600">
                          <a:latin typeface="Segoe UI"/>
                        </a:defRPr>
                      </a:pPr>
                      <a:r>
                        <a:t>no</a:t>
                      </a:r>
                    </a:p>
                  </a:txBody>
                  <a:tcPr/>
                </a:tc>
              </a:tr>
              <a:tr h="91440">
                <a:tc>
                  <a:txBody>
                    <a:bodyPr/>
                    <a:lstStyle/>
                    <a:p>
                      <a:pPr>
                        <a:defRPr sz="1600">
                          <a:latin typeface="Segoe UI"/>
                        </a:defRPr>
                      </a:pPr>
                      <a:r>
                        <a:t>Long Method</a:t>
                      </a:r>
                    </a:p>
                  </a:txBody>
                  <a:tcPr/>
                </a:tc>
                <a:tc>
                  <a:txBody>
                    <a:bodyPr/>
                    <a:lstStyle/>
                    <a:p>
                      <a:pPr algn="r">
                        <a:defRPr sz="1600">
                          <a:latin typeface="Segoe UI"/>
                        </a:defRPr>
                      </a:pPr>
                      <a:r>
                        <a:t>[0.559, 0.667]</a:t>
                      </a:r>
                    </a:p>
                  </a:txBody>
                  <a:tcPr/>
                </a:tc>
                <a:tc>
                  <a:txBody>
                    <a:bodyPr/>
                    <a:lstStyle/>
                    <a:p>
                      <a:pPr algn="r">
                        <a:defRPr sz="1600">
                          <a:latin typeface="Segoe UI"/>
                        </a:defRPr>
                      </a:pPr>
                      <a:r>
                        <a:t>[0.681, 0.768]</a:t>
                      </a:r>
                    </a:p>
                  </a:txBody>
                  <a:tcPr/>
                </a:tc>
                <a:tc>
                  <a:txBody>
                    <a:bodyPr/>
                    <a:lstStyle/>
                    <a:p>
                      <a:pPr algn="r">
                        <a:defRPr sz="1600">
                          <a:latin typeface="Segoe UI"/>
                        </a:defRPr>
                      </a:pPr>
                      <a:r>
                        <a:t>[0.050, 0.165]</a:t>
                      </a:r>
                    </a:p>
                  </a:txBody>
                  <a:tcPr/>
                </a:tc>
                <a:tc>
                  <a:txBody>
                    <a:bodyPr/>
                    <a:lstStyle/>
                    <a:p>
                      <a:pPr algn="r">
                        <a:defRPr sz="1600">
                          <a:latin typeface="Segoe UI"/>
                        </a:defRPr>
                      </a:pPr>
                      <a:r>
                        <a:t>yes</a:t>
                      </a:r>
                    </a:p>
                  </a:txBody>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457200"/>
            <a:ext cx="10637215" cy="914400"/>
          </a:xfrm>
          <a:prstGeom prst="rect">
            <a:avLst/>
          </a:prstGeom>
          <a:noFill/>
        </p:spPr>
        <p:txBody>
          <a:bodyPr wrap="square">
            <a:spAutoFit/>
          </a:bodyPr>
          <a:lstStyle/>
          <a:p>
            <a:pPr>
              <a:defRPr sz="3400" b="0">
                <a:solidFill>
                  <a:srgbClr val="1A1D21"/>
                </a:solidFill>
                <a:latin typeface="Times New Roman"/>
              </a:defRPr>
            </a:pPr>
            <a:r>
              <a:t>Backup · Every algorithm</a:t>
            </a:r>
          </a:p>
          <a:p>
            <a:pPr>
              <a:defRPr sz="1400">
                <a:solidFill>
                  <a:srgbClr val="838D99"/>
                </a:solidFill>
                <a:latin typeface="Segoe UI"/>
              </a:defRPr>
            </a:pPr>
            <a:r>
              <a:t>MCC of each classifier, same folds</a:t>
            </a:r>
          </a:p>
        </p:txBody>
      </p:sp>
      <p:sp>
        <p:nvSpPr>
          <p:cNvPr id="3" name="TextBox 2"/>
          <p:cNvSpPr txBox="1"/>
          <p:nvPr/>
        </p:nvSpPr>
        <p:spPr>
          <a:xfrm>
            <a:off x="10911535" y="6355080"/>
            <a:ext cx="914400" cy="365760"/>
          </a:xfrm>
          <a:prstGeom prst="rect">
            <a:avLst/>
          </a:prstGeom>
          <a:noFill/>
        </p:spPr>
        <p:txBody>
          <a:bodyPr wrap="square">
            <a:spAutoFit/>
          </a:bodyPr>
          <a:lstStyle/>
          <a:p>
            <a:pPr>
              <a:defRPr sz="1200" b="0">
                <a:solidFill>
                  <a:srgbClr val="838D99"/>
                </a:solidFill>
                <a:latin typeface="Segoe UI"/>
              </a:defRPr>
            </a:pPr>
            <a:r>
              <a:t>12</a:t>
            </a:r>
          </a:p>
        </p:txBody>
      </p:sp>
      <p:graphicFrame>
        <p:nvGraphicFramePr>
          <p:cNvPr id="4" name="Table 3"/>
          <p:cNvGraphicFramePr>
            <a:graphicFrameLocks noGrp="1"/>
          </p:cNvGraphicFramePr>
          <p:nvPr/>
        </p:nvGraphicFramePr>
        <p:xfrm>
          <a:off x="777240" y="1828800"/>
          <a:ext cx="10637215" cy="457200"/>
        </p:xfrm>
        <a:graphic>
          <a:graphicData uri="http://schemas.openxmlformats.org/drawingml/2006/table">
            <a:tbl>
              <a:tblPr firstRow="1" bandRow="1">
                <a:tableStyleId>{5C22544A-7EE6-4342-B048-85BDC9FD1C3A}</a:tableStyleId>
              </a:tblPr>
              <a:tblGrid>
                <a:gridCol w="2127443"/>
                <a:gridCol w="2127443"/>
                <a:gridCol w="2127443"/>
                <a:gridCol w="2127443"/>
                <a:gridCol w="2127443"/>
              </a:tblGrid>
              <a:tr h="91440">
                <a:tc>
                  <a:txBody>
                    <a:bodyPr/>
                    <a:lstStyle/>
                    <a:p>
                      <a:pPr>
                        <a:defRPr sz="1400" b="1">
                          <a:latin typeface="Segoe UI"/>
                        </a:defRPr>
                      </a:pPr>
                      <a:r>
                        <a:t>Smell</a:t>
                      </a:r>
                    </a:p>
                  </a:txBody>
                  <a:tcPr/>
                </a:tc>
                <a:tc>
                  <a:txBody>
                    <a:bodyPr/>
                    <a:lstStyle/>
                    <a:p>
                      <a:pPr>
                        <a:defRPr sz="1400" b="1">
                          <a:latin typeface="Segoe UI"/>
                        </a:defRPr>
                      </a:pPr>
                      <a:r>
                        <a:t>Logistic regression</a:t>
                      </a:r>
                    </a:p>
                  </a:txBody>
                  <a:tcPr/>
                </a:tc>
                <a:tc>
                  <a:txBody>
                    <a:bodyPr/>
                    <a:lstStyle/>
                    <a:p>
                      <a:pPr>
                        <a:defRPr sz="1400" b="1">
                          <a:latin typeface="Segoe UI"/>
                        </a:defRPr>
                      </a:pPr>
                      <a:r>
                        <a:t>Random forest</a:t>
                      </a:r>
                    </a:p>
                  </a:txBody>
                  <a:tcPr/>
                </a:tc>
                <a:tc>
                  <a:txBody>
                    <a:bodyPr/>
                    <a:lstStyle/>
                    <a:p>
                      <a:pPr>
                        <a:defRPr sz="1400" b="1">
                          <a:latin typeface="Segoe UI"/>
                        </a:defRPr>
                      </a:pPr>
                      <a:r>
                        <a:t>Gradient boosting</a:t>
                      </a:r>
                    </a:p>
                  </a:txBody>
                  <a:tcPr/>
                </a:tc>
                <a:tc>
                  <a:txBody>
                    <a:bodyPr/>
                    <a:lstStyle/>
                    <a:p>
                      <a:pPr>
                        <a:defRPr sz="1400" b="1">
                          <a:latin typeface="Segoe UI"/>
                        </a:defRPr>
                      </a:pPr>
                      <a:r>
                        <a:t>Rules (A)</a:t>
                      </a:r>
                    </a:p>
                  </a:txBody>
                  <a:tcPr/>
                </a:tc>
              </a:tr>
              <a:tr h="91440">
                <a:tc>
                  <a:txBody>
                    <a:bodyPr/>
                    <a:lstStyle/>
                    <a:p>
                      <a:pPr>
                        <a:defRPr sz="1600">
                          <a:latin typeface="Segoe UI"/>
                        </a:defRPr>
                      </a:pPr>
                      <a:r>
                        <a:t>Blob</a:t>
                      </a:r>
                    </a:p>
                  </a:txBody>
                  <a:tcPr/>
                </a:tc>
                <a:tc>
                  <a:txBody>
                    <a:bodyPr/>
                    <a:lstStyle/>
                    <a:p>
                      <a:pPr algn="r">
                        <a:defRPr sz="1600">
                          <a:latin typeface="Segoe UI"/>
                        </a:defRPr>
                      </a:pPr>
                      <a:r>
                        <a:t>0.539</a:t>
                      </a:r>
                    </a:p>
                  </a:txBody>
                  <a:tcPr/>
                </a:tc>
                <a:tc>
                  <a:txBody>
                    <a:bodyPr/>
                    <a:lstStyle/>
                    <a:p>
                      <a:pPr algn="r">
                        <a:defRPr sz="1600">
                          <a:latin typeface="Segoe UI"/>
                        </a:defRPr>
                      </a:pPr>
                      <a:r>
                        <a:t>0.510</a:t>
                      </a:r>
                    </a:p>
                  </a:txBody>
                  <a:tcPr/>
                </a:tc>
                <a:tc>
                  <a:txBody>
                    <a:bodyPr/>
                    <a:lstStyle/>
                    <a:p>
                      <a:pPr algn="r">
                        <a:defRPr sz="1600">
                          <a:latin typeface="Segoe UI"/>
                        </a:defRPr>
                      </a:pPr>
                      <a:r>
                        <a:t>0.505</a:t>
                      </a:r>
                    </a:p>
                  </a:txBody>
                  <a:tcPr/>
                </a:tc>
                <a:tc>
                  <a:txBody>
                    <a:bodyPr/>
                    <a:lstStyle/>
                    <a:p>
                      <a:pPr algn="r">
                        <a:defRPr sz="1600">
                          <a:latin typeface="Segoe UI"/>
                        </a:defRPr>
                      </a:pPr>
                      <a:r>
                        <a:t>0.336</a:t>
                      </a:r>
                    </a:p>
                  </a:txBody>
                  <a:tcPr/>
                </a:tc>
              </a:tr>
              <a:tr h="91440">
                <a:tc>
                  <a:txBody>
                    <a:bodyPr/>
                    <a:lstStyle/>
                    <a:p>
                      <a:pPr>
                        <a:defRPr sz="1600">
                          <a:latin typeface="Segoe UI"/>
                        </a:defRPr>
                      </a:pPr>
                      <a:r>
                        <a:t>Data Class</a:t>
                      </a:r>
                    </a:p>
                  </a:txBody>
                  <a:tcPr/>
                </a:tc>
                <a:tc>
                  <a:txBody>
                    <a:bodyPr/>
                    <a:lstStyle/>
                    <a:p>
                      <a:pPr algn="r">
                        <a:defRPr sz="1600">
                          <a:latin typeface="Segoe UI"/>
                        </a:defRPr>
                      </a:pPr>
                      <a:r>
                        <a:t>0.426</a:t>
                      </a:r>
                    </a:p>
                  </a:txBody>
                  <a:tcPr/>
                </a:tc>
                <a:tc>
                  <a:txBody>
                    <a:bodyPr/>
                    <a:lstStyle/>
                    <a:p>
                      <a:pPr algn="r">
                        <a:defRPr sz="1600">
                          <a:latin typeface="Segoe UI"/>
                        </a:defRPr>
                      </a:pPr>
                      <a:r>
                        <a:t>0.471</a:t>
                      </a:r>
                    </a:p>
                  </a:txBody>
                  <a:tcPr/>
                </a:tc>
                <a:tc>
                  <a:txBody>
                    <a:bodyPr/>
                    <a:lstStyle/>
                    <a:p>
                      <a:pPr algn="r">
                        <a:defRPr sz="1600">
                          <a:latin typeface="Segoe UI"/>
                        </a:defRPr>
                      </a:pPr>
                      <a:r>
                        <a:t>0.473</a:t>
                      </a:r>
                    </a:p>
                  </a:txBody>
                  <a:tcPr/>
                </a:tc>
                <a:tc>
                  <a:txBody>
                    <a:bodyPr/>
                    <a:lstStyle/>
                    <a:p>
                      <a:pPr algn="r">
                        <a:defRPr sz="1600">
                          <a:latin typeface="Segoe UI"/>
                        </a:defRPr>
                      </a:pPr>
                      <a:r>
                        <a:t>0.367</a:t>
                      </a:r>
                    </a:p>
                  </a:txBody>
                  <a:tcPr/>
                </a:tc>
              </a:tr>
              <a:tr h="91440">
                <a:tc>
                  <a:txBody>
                    <a:bodyPr/>
                    <a:lstStyle/>
                    <a:p>
                      <a:pPr>
                        <a:defRPr sz="1600">
                          <a:latin typeface="Segoe UI"/>
                        </a:defRPr>
                      </a:pPr>
                      <a:r>
                        <a:t>Feature Envy</a:t>
                      </a:r>
                    </a:p>
                  </a:txBody>
                  <a:tcPr/>
                </a:tc>
                <a:tc>
                  <a:txBody>
                    <a:bodyPr/>
                    <a:lstStyle/>
                    <a:p>
                      <a:pPr algn="r">
                        <a:defRPr sz="1600">
                          <a:latin typeface="Segoe UI"/>
                        </a:defRPr>
                      </a:pPr>
                      <a:r>
                        <a:t>0.241</a:t>
                      </a:r>
                    </a:p>
                  </a:txBody>
                  <a:tcPr/>
                </a:tc>
                <a:tc>
                  <a:txBody>
                    <a:bodyPr/>
                    <a:lstStyle/>
                    <a:p>
                      <a:pPr algn="r">
                        <a:defRPr sz="1600">
                          <a:latin typeface="Segoe UI"/>
                        </a:defRPr>
                      </a:pPr>
                      <a:r>
                        <a:t>0.296</a:t>
                      </a:r>
                    </a:p>
                  </a:txBody>
                  <a:tcPr/>
                </a:tc>
                <a:tc>
                  <a:txBody>
                    <a:bodyPr/>
                    <a:lstStyle/>
                    <a:p>
                      <a:pPr algn="r">
                        <a:defRPr sz="1600">
                          <a:latin typeface="Segoe UI"/>
                        </a:defRPr>
                      </a:pPr>
                      <a:r>
                        <a:t>0.321</a:t>
                      </a:r>
                    </a:p>
                  </a:txBody>
                  <a:tcPr/>
                </a:tc>
                <a:tc>
                  <a:txBody>
                    <a:bodyPr/>
                    <a:lstStyle/>
                    <a:p>
                      <a:pPr algn="r">
                        <a:defRPr sz="1600">
                          <a:latin typeface="Segoe UI"/>
                        </a:defRPr>
                      </a:pPr>
                      <a:r>
                        <a:t>0.243</a:t>
                      </a:r>
                    </a:p>
                  </a:txBody>
                  <a:tcPr/>
                </a:tc>
              </a:tr>
              <a:tr h="91440">
                <a:tc>
                  <a:txBody>
                    <a:bodyPr/>
                    <a:lstStyle/>
                    <a:p>
                      <a:pPr>
                        <a:defRPr sz="1600">
                          <a:latin typeface="Segoe UI"/>
                        </a:defRPr>
                      </a:pPr>
                      <a:r>
                        <a:t>Long Method</a:t>
                      </a:r>
                    </a:p>
                  </a:txBody>
                  <a:tcPr/>
                </a:tc>
                <a:tc>
                  <a:txBody>
                    <a:bodyPr/>
                    <a:lstStyle/>
                    <a:p>
                      <a:pPr algn="r">
                        <a:defRPr sz="1600">
                          <a:latin typeface="Segoe UI"/>
                        </a:defRPr>
                      </a:pPr>
                      <a:r>
                        <a:t>0.707</a:t>
                      </a:r>
                    </a:p>
                  </a:txBody>
                  <a:tcPr/>
                </a:tc>
                <a:tc>
                  <a:txBody>
                    <a:bodyPr/>
                    <a:lstStyle/>
                    <a:p>
                      <a:pPr algn="r">
                        <a:defRPr sz="1600">
                          <a:latin typeface="Segoe UI"/>
                        </a:defRPr>
                      </a:pPr>
                      <a:r>
                        <a:t>0.723</a:t>
                      </a:r>
                    </a:p>
                  </a:txBody>
                  <a:tcPr/>
                </a:tc>
                <a:tc>
                  <a:txBody>
                    <a:bodyPr/>
                    <a:lstStyle/>
                    <a:p>
                      <a:pPr algn="r">
                        <a:defRPr sz="1600">
                          <a:latin typeface="Segoe UI"/>
                        </a:defRPr>
                      </a:pPr>
                      <a:r>
                        <a:t>0.700</a:t>
                      </a:r>
                    </a:p>
                  </a:txBody>
                  <a:tcPr/>
                </a:tc>
                <a:tc>
                  <a:txBody>
                    <a:bodyPr/>
                    <a:lstStyle/>
                    <a:p>
                      <a:pPr algn="r">
                        <a:defRPr sz="1600">
                          <a:latin typeface="Segoe UI"/>
                        </a:defRPr>
                      </a:pPr>
                      <a:r>
                        <a:t>0.617</a:t>
                      </a:r>
                    </a:p>
                  </a:txBody>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457200"/>
            <a:ext cx="10637215" cy="914400"/>
          </a:xfrm>
          <a:prstGeom prst="rect">
            <a:avLst/>
          </a:prstGeom>
          <a:noFill/>
        </p:spPr>
        <p:txBody>
          <a:bodyPr wrap="square">
            <a:spAutoFit/>
          </a:bodyPr>
          <a:lstStyle/>
          <a:p>
            <a:pPr>
              <a:defRPr sz="3400" b="0">
                <a:solidFill>
                  <a:srgbClr val="1A1D21"/>
                </a:solidFill>
                <a:latin typeface="Times New Roman"/>
              </a:defRPr>
            </a:pPr>
            <a:r>
              <a:t>Backup · Comparison with PMD</a:t>
            </a:r>
          </a:p>
          <a:p>
            <a:pPr>
              <a:defRPr sz="1400">
                <a:solidFill>
                  <a:srgbClr val="838D99"/>
                </a:solidFill>
                <a:latin typeface="Segoe UI"/>
              </a:defRPr>
            </a:pPr>
            <a:r>
              <a:t>PMD 7.27.0 with its default thresholds, same samples</a:t>
            </a:r>
          </a:p>
        </p:txBody>
      </p:sp>
      <p:sp>
        <p:nvSpPr>
          <p:cNvPr id="3" name="TextBox 2"/>
          <p:cNvSpPr txBox="1"/>
          <p:nvPr/>
        </p:nvSpPr>
        <p:spPr>
          <a:xfrm>
            <a:off x="10911535" y="6355080"/>
            <a:ext cx="914400" cy="365760"/>
          </a:xfrm>
          <a:prstGeom prst="rect">
            <a:avLst/>
          </a:prstGeom>
          <a:noFill/>
        </p:spPr>
        <p:txBody>
          <a:bodyPr wrap="square">
            <a:spAutoFit/>
          </a:bodyPr>
          <a:lstStyle/>
          <a:p>
            <a:pPr>
              <a:defRPr sz="1200" b="0">
                <a:solidFill>
                  <a:srgbClr val="838D99"/>
                </a:solidFill>
                <a:latin typeface="Segoe UI"/>
              </a:defRPr>
            </a:pPr>
            <a:r>
              <a:t>13</a:t>
            </a:r>
          </a:p>
        </p:txBody>
      </p:sp>
      <p:graphicFrame>
        <p:nvGraphicFramePr>
          <p:cNvPr id="4" name="Table 3"/>
          <p:cNvGraphicFramePr>
            <a:graphicFrameLocks noGrp="1"/>
          </p:cNvGraphicFramePr>
          <p:nvPr/>
        </p:nvGraphicFramePr>
        <p:xfrm>
          <a:off x="777240" y="1828800"/>
          <a:ext cx="10637215" cy="457200"/>
        </p:xfrm>
        <a:graphic>
          <a:graphicData uri="http://schemas.openxmlformats.org/drawingml/2006/table">
            <a:tbl>
              <a:tblPr firstRow="1" bandRow="1">
                <a:tableStyleId>{5C22544A-7EE6-4342-B048-85BDC9FD1C3A}</a:tableStyleId>
              </a:tblPr>
              <a:tblGrid>
                <a:gridCol w="2659303"/>
                <a:gridCol w="2659303"/>
                <a:gridCol w="2659303"/>
                <a:gridCol w="2659306"/>
              </a:tblGrid>
              <a:tr h="76200">
                <a:tc>
                  <a:txBody>
                    <a:bodyPr/>
                    <a:lstStyle/>
                    <a:p>
                      <a:pPr>
                        <a:defRPr sz="1400" b="1">
                          <a:latin typeface="Segoe UI"/>
                        </a:defRPr>
                      </a:pPr>
                      <a:r>
                        <a:t>Smell</a:t>
                      </a:r>
                    </a:p>
                  </a:txBody>
                  <a:tcPr/>
                </a:tc>
                <a:tc>
                  <a:txBody>
                    <a:bodyPr/>
                    <a:lstStyle/>
                    <a:p>
                      <a:pPr>
                        <a:defRPr sz="1400" b="1">
                          <a:latin typeface="Segoe UI"/>
                        </a:defRPr>
                      </a:pPr>
                      <a:r>
                        <a:t>PMD MCC</a:t>
                      </a:r>
                    </a:p>
                  </a:txBody>
                  <a:tcPr/>
                </a:tc>
                <a:tc>
                  <a:txBody>
                    <a:bodyPr/>
                    <a:lstStyle/>
                    <a:p>
                      <a:pPr>
                        <a:defRPr sz="1400" b="1">
                          <a:latin typeface="Segoe UI"/>
                        </a:defRPr>
                      </a:pPr>
                      <a:r>
                        <a:t>Our MCC</a:t>
                      </a:r>
                    </a:p>
                  </a:txBody>
                  <a:tcPr/>
                </a:tc>
                <a:tc>
                  <a:txBody>
                    <a:bodyPr/>
                    <a:lstStyle/>
                    <a:p>
                      <a:pPr>
                        <a:defRPr sz="1400" b="1">
                          <a:latin typeface="Segoe UI"/>
                        </a:defRPr>
                      </a:pPr>
                      <a:r>
                        <a:t>Difference, 95% CI</a:t>
                      </a:r>
                    </a:p>
                  </a:txBody>
                  <a:tcPr/>
                </a:tc>
              </a:tr>
              <a:tr h="76200">
                <a:tc>
                  <a:txBody>
                    <a:bodyPr/>
                    <a:lstStyle/>
                    <a:p>
                      <a:pPr>
                        <a:defRPr sz="1600">
                          <a:latin typeface="Segoe UI"/>
                        </a:defRPr>
                      </a:pPr>
                      <a:r>
                        <a:t>Blob (strategy)</a:t>
                      </a:r>
                    </a:p>
                  </a:txBody>
                  <a:tcPr/>
                </a:tc>
                <a:tc>
                  <a:txBody>
                    <a:bodyPr/>
                    <a:lstStyle/>
                    <a:p>
                      <a:pPr algn="r">
                        <a:defRPr sz="1600">
                          <a:latin typeface="Segoe UI"/>
                        </a:defRPr>
                      </a:pPr>
                      <a:r>
                        <a:t>0.382</a:t>
                      </a:r>
                    </a:p>
                  </a:txBody>
                  <a:tcPr/>
                </a:tc>
                <a:tc>
                  <a:txBody>
                    <a:bodyPr/>
                    <a:lstStyle/>
                    <a:p>
                      <a:pPr algn="r">
                        <a:defRPr sz="1600">
                          <a:latin typeface="Segoe UI"/>
                        </a:defRPr>
                      </a:pPr>
                      <a:r>
                        <a:t>0.342</a:t>
                      </a:r>
                    </a:p>
                  </a:txBody>
                  <a:tcPr/>
                </a:tc>
                <a:tc>
                  <a:txBody>
                    <a:bodyPr/>
                    <a:lstStyle/>
                    <a:p>
                      <a:pPr algn="r">
                        <a:defRPr sz="1600">
                          <a:latin typeface="Segoe UI"/>
                        </a:defRPr>
                      </a:pPr>
                      <a:r>
                        <a:t>-0.088 to +0.008</a:t>
                      </a:r>
                    </a:p>
                  </a:txBody>
                  <a:tcPr/>
                </a:tc>
              </a:tr>
              <a:tr h="76200">
                <a:tc>
                  <a:txBody>
                    <a:bodyPr/>
                    <a:lstStyle/>
                    <a:p>
                      <a:pPr>
                        <a:defRPr sz="1600">
                          <a:latin typeface="Segoe UI"/>
                        </a:defRPr>
                      </a:pPr>
                      <a:r>
                        <a:t>Blob (with size)</a:t>
                      </a:r>
                    </a:p>
                  </a:txBody>
                  <a:tcPr/>
                </a:tc>
                <a:tc>
                  <a:txBody>
                    <a:bodyPr/>
                    <a:lstStyle/>
                    <a:p>
                      <a:pPr algn="r">
                        <a:defRPr sz="1600">
                          <a:latin typeface="Segoe UI"/>
                        </a:defRPr>
                      </a:pPr>
                      <a:r>
                        <a:t>0.382</a:t>
                      </a:r>
                    </a:p>
                  </a:txBody>
                  <a:tcPr/>
                </a:tc>
                <a:tc>
                  <a:txBody>
                    <a:bodyPr/>
                    <a:lstStyle/>
                    <a:p>
                      <a:pPr algn="r">
                        <a:defRPr sz="1600">
                          <a:latin typeface="Segoe UI"/>
                        </a:defRPr>
                      </a:pPr>
                      <a:r>
                        <a:t>0.487</a:t>
                      </a:r>
                    </a:p>
                  </a:txBody>
                  <a:tcPr/>
                </a:tc>
                <a:tc>
                  <a:txBody>
                    <a:bodyPr/>
                    <a:lstStyle/>
                    <a:p>
                      <a:pPr algn="r">
                        <a:defRPr sz="1600">
                          <a:latin typeface="Segoe UI"/>
                        </a:defRPr>
                      </a:pPr>
                      <a:r>
                        <a:t>+0.054 to +0.158</a:t>
                      </a:r>
                    </a:p>
                  </a:txBody>
                  <a:tcPr/>
                </a:tc>
              </a:tr>
              <a:tr h="76200">
                <a:tc>
                  <a:txBody>
                    <a:bodyPr/>
                    <a:lstStyle/>
                    <a:p>
                      <a:pPr>
                        <a:defRPr sz="1600">
                          <a:latin typeface="Segoe UI"/>
                        </a:defRPr>
                      </a:pPr>
                      <a:r>
                        <a:t>Data Class</a:t>
                      </a:r>
                    </a:p>
                  </a:txBody>
                  <a:tcPr/>
                </a:tc>
                <a:tc>
                  <a:txBody>
                    <a:bodyPr/>
                    <a:lstStyle/>
                    <a:p>
                      <a:pPr algn="r">
                        <a:defRPr sz="1600">
                          <a:latin typeface="Segoe UI"/>
                        </a:defRPr>
                      </a:pPr>
                      <a:r>
                        <a:t>0.319</a:t>
                      </a:r>
                    </a:p>
                  </a:txBody>
                  <a:tcPr/>
                </a:tc>
                <a:tc>
                  <a:txBody>
                    <a:bodyPr/>
                    <a:lstStyle/>
                    <a:p>
                      <a:pPr algn="r">
                        <a:defRPr sz="1600">
                          <a:latin typeface="Segoe UI"/>
                        </a:defRPr>
                      </a:pPr>
                      <a:r>
                        <a:t>0.365</a:t>
                      </a:r>
                    </a:p>
                  </a:txBody>
                  <a:tcPr/>
                </a:tc>
                <a:tc>
                  <a:txBody>
                    <a:bodyPr/>
                    <a:lstStyle/>
                    <a:p>
                      <a:pPr algn="r">
                        <a:defRPr sz="1600">
                          <a:latin typeface="Segoe UI"/>
                        </a:defRPr>
                      </a:pPr>
                      <a:r>
                        <a:t>-0.012 to +0.101</a:t>
                      </a:r>
                    </a:p>
                  </a:txBody>
                  <a:tcPr/>
                </a:tc>
              </a:tr>
              <a:tr h="76200">
                <a:tc>
                  <a:txBody>
                    <a:bodyPr/>
                    <a:lstStyle/>
                    <a:p>
                      <a:pPr>
                        <a:defRPr sz="1600">
                          <a:latin typeface="Segoe UI"/>
                        </a:defRPr>
                      </a:pPr>
                      <a:r>
                        <a:t>Feature Envy (LawOfDemeter)</a:t>
                      </a:r>
                    </a:p>
                  </a:txBody>
                  <a:tcPr/>
                </a:tc>
                <a:tc>
                  <a:txBody>
                    <a:bodyPr/>
                    <a:lstStyle/>
                    <a:p>
                      <a:pPr algn="r">
                        <a:defRPr sz="1600">
                          <a:latin typeface="Segoe UI"/>
                        </a:defRPr>
                      </a:pPr>
                      <a:r>
                        <a:t>0.056</a:t>
                      </a:r>
                    </a:p>
                  </a:txBody>
                  <a:tcPr/>
                </a:tc>
                <a:tc>
                  <a:txBody>
                    <a:bodyPr/>
                    <a:lstStyle/>
                    <a:p>
                      <a:pPr algn="r">
                        <a:defRPr sz="1600">
                          <a:latin typeface="Segoe UI"/>
                        </a:defRPr>
                      </a:pPr>
                      <a:r>
                        <a:t>—</a:t>
                      </a:r>
                    </a:p>
                  </a:txBody>
                  <a:tcPr/>
                </a:tc>
                <a:tc>
                  <a:txBody>
                    <a:bodyPr/>
                    <a:lstStyle/>
                    <a:p>
                      <a:pPr algn="r">
                        <a:defRPr sz="1600">
                          <a:latin typeface="Segoe UI"/>
                        </a:defRPr>
                      </a:pPr>
                      <a:r>
                        <a:t>—</a:t>
                      </a:r>
                    </a:p>
                  </a:txBody>
                  <a:tcPr/>
                </a:tc>
              </a:tr>
              <a:tr h="76200">
                <a:tc>
                  <a:txBody>
                    <a:bodyPr/>
                    <a:lstStyle/>
                    <a:p>
                      <a:pPr>
                        <a:defRPr sz="1600">
                          <a:latin typeface="Segoe UI"/>
                        </a:defRPr>
                      </a:pPr>
                      <a:r>
                        <a:t>Long Method</a:t>
                      </a:r>
                    </a:p>
                  </a:txBody>
                  <a:tcPr/>
                </a:tc>
                <a:tc>
                  <a:txBody>
                    <a:bodyPr/>
                    <a:lstStyle/>
                    <a:p>
                      <a:pPr algn="r">
                        <a:defRPr sz="1600">
                          <a:latin typeface="Segoe UI"/>
                        </a:defRPr>
                      </a:pPr>
                      <a:r>
                        <a:t>0.221</a:t>
                      </a:r>
                    </a:p>
                  </a:txBody>
                  <a:tcPr/>
                </a:tc>
                <a:tc>
                  <a:txBody>
                    <a:bodyPr/>
                    <a:lstStyle/>
                    <a:p>
                      <a:pPr algn="r">
                        <a:defRPr sz="1600">
                          <a:latin typeface="Segoe UI"/>
                        </a:defRPr>
                      </a:pPr>
                      <a:r>
                        <a:t>0.615</a:t>
                      </a:r>
                    </a:p>
                  </a:txBody>
                  <a:tcPr/>
                </a:tc>
                <a:tc>
                  <a:txBody>
                    <a:bodyPr/>
                    <a:lstStyle/>
                    <a:p>
                      <a:pPr algn="r">
                        <a:defRPr sz="1600">
                          <a:latin typeface="Segoe UI"/>
                        </a:defRPr>
                      </a:pPr>
                      <a:r>
                        <a:t>+0.316 to +0.475</a:t>
                      </a:r>
                    </a:p>
                  </a:txBody>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457200"/>
            <a:ext cx="10637215" cy="914400"/>
          </a:xfrm>
          <a:prstGeom prst="rect">
            <a:avLst/>
          </a:prstGeom>
          <a:noFill/>
        </p:spPr>
        <p:txBody>
          <a:bodyPr wrap="square">
            <a:spAutoFit/>
          </a:bodyPr>
          <a:lstStyle/>
          <a:p>
            <a:pPr>
              <a:defRPr sz="3400" b="0">
                <a:solidFill>
                  <a:srgbClr val="1A1D21"/>
                </a:solidFill>
                <a:latin typeface="Times New Roman"/>
              </a:defRPr>
            </a:pPr>
            <a:r>
              <a:t>Backup · Verification in detail</a:t>
            </a:r>
          </a:p>
          <a:p>
            <a:pPr>
              <a:defRPr sz="1400">
                <a:solidFill>
                  <a:srgbClr val="838D99"/>
                </a:solidFill>
                <a:latin typeface="Segoe UI"/>
              </a:defRPr>
            </a:pPr>
            <a:r>
              <a:t>Why sites were refused, and what compiling inside the project shows</a:t>
            </a:r>
          </a:p>
        </p:txBody>
      </p:sp>
      <p:sp>
        <p:nvSpPr>
          <p:cNvPr id="3" name="TextBox 2"/>
          <p:cNvSpPr txBox="1"/>
          <p:nvPr/>
        </p:nvSpPr>
        <p:spPr>
          <a:xfrm>
            <a:off x="10911535" y="6355080"/>
            <a:ext cx="914400" cy="365760"/>
          </a:xfrm>
          <a:prstGeom prst="rect">
            <a:avLst/>
          </a:prstGeom>
          <a:noFill/>
        </p:spPr>
        <p:txBody>
          <a:bodyPr wrap="square">
            <a:spAutoFit/>
          </a:bodyPr>
          <a:lstStyle/>
          <a:p>
            <a:pPr>
              <a:defRPr sz="1200" b="0">
                <a:solidFill>
                  <a:srgbClr val="838D99"/>
                </a:solidFill>
                <a:latin typeface="Segoe UI"/>
              </a:defRPr>
            </a:pPr>
            <a:r>
              <a:t>14</a:t>
            </a:r>
          </a:p>
        </p:txBody>
      </p:sp>
      <p:sp>
        <p:nvSpPr>
          <p:cNvPr id="4" name="TextBox 3"/>
          <p:cNvSpPr txBox="1"/>
          <p:nvPr/>
        </p:nvSpPr>
        <p:spPr>
          <a:xfrm>
            <a:off x="777240" y="1737360"/>
            <a:ext cx="10637215" cy="4206240"/>
          </a:xfrm>
          <a:prstGeom prst="rect">
            <a:avLst/>
          </a:prstGeom>
          <a:noFill/>
        </p:spPr>
        <p:txBody>
          <a:bodyPr wrap="square">
            <a:spAutoFit/>
          </a:bodyPr>
          <a:lstStyle/>
          <a:p>
            <a:pPr>
              <a:spcAft>
                <a:spcPts val="1400"/>
              </a:spcAft>
              <a:defRPr sz="1800" b="0">
                <a:solidFill>
                  <a:srgbClr val="1A1D21"/>
                </a:solidFill>
                <a:latin typeface="Segoe UI"/>
              </a:defRPr>
            </a:pPr>
            <a:r>
              <a:t>·  Code shape does not match the transformation: 7,154 sites (45.3%)</a:t>
            </a:r>
          </a:p>
          <a:p>
            <a:pPr>
              <a:spcAft>
                <a:spcPts val="1400"/>
              </a:spcAft>
              <a:defRPr sz="1800">
                <a:solidFill>
                  <a:srgbClr val="1A1D21"/>
                </a:solidFill>
                <a:latin typeface="Segoe UI"/>
              </a:defRPr>
            </a:pPr>
            <a:r>
              <a:t>·  A return, break or continue leaves the block: 4,050 sites (25.6%)</a:t>
            </a:r>
          </a:p>
          <a:p>
            <a:pPr>
              <a:spcAft>
                <a:spcPts val="1400"/>
              </a:spcAft>
              <a:defRPr sz="1800">
                <a:solidFill>
                  <a:srgbClr val="1A1D21"/>
                </a:solidFill>
                <a:latin typeface="Segoe UI"/>
              </a:defRPr>
            </a:pPr>
            <a:r>
              <a:t>·  An input value is not definitely assigned: 621 sites (3.9%)</a:t>
            </a:r>
          </a:p>
          <a:p>
            <a:pPr>
              <a:spcAft>
                <a:spcPts val="1400"/>
              </a:spcAft>
              <a:defRPr sz="1800">
                <a:solidFill>
                  <a:srgbClr val="1A1D21"/>
                </a:solidFill>
                <a:latin typeface="Segoe UI"/>
              </a:defRPr>
            </a:pPr>
            <a:r>
              <a:t>·  Same 201 rewrites compiled inside their project: 4 → 66 compile fully, 2 add a new error.</a:t>
            </a:r>
          </a:p>
          <a:p>
            <a:pPr>
              <a:spcAft>
                <a:spcPts val="1400"/>
              </a:spcAft>
              <a:defRPr sz="1800">
                <a:solidFill>
                  <a:srgbClr val="1A1D21"/>
                </a:solidFill>
                <a:latin typeface="Segoe UI"/>
              </a:defRPr>
            </a:pPr>
            <a:r>
              <a:t>·  After rewriting, 865 new smells appeared, mostly Long Parameter List from Extract Method.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457200"/>
            <a:ext cx="10637215" cy="914400"/>
          </a:xfrm>
          <a:prstGeom prst="rect">
            <a:avLst/>
          </a:prstGeom>
          <a:noFill/>
        </p:spPr>
        <p:txBody>
          <a:bodyPr wrap="square">
            <a:spAutoFit/>
          </a:bodyPr>
          <a:lstStyle/>
          <a:p>
            <a:pPr>
              <a:defRPr sz="3400" b="0">
                <a:solidFill>
                  <a:srgbClr val="1A1D21"/>
                </a:solidFill>
                <a:latin typeface="Times New Roman"/>
              </a:defRPr>
            </a:pPr>
            <a:r>
              <a:t>Backup · Extract Method in the interface</a:t>
            </a:r>
          </a:p>
          <a:p>
            <a:pPr>
              <a:defRPr sz="1400">
                <a:solidFill>
                  <a:srgbClr val="838D99"/>
                </a:solidFill>
                <a:latin typeface="Segoe UI"/>
              </a:defRPr>
            </a:pPr>
            <a:r>
              <a:t>jsoup · NodeTraversor.traverse, preview before any file is touched</a:t>
            </a:r>
          </a:p>
        </p:txBody>
      </p:sp>
      <p:sp>
        <p:nvSpPr>
          <p:cNvPr id="3" name="TextBox 2"/>
          <p:cNvSpPr txBox="1"/>
          <p:nvPr/>
        </p:nvSpPr>
        <p:spPr>
          <a:xfrm>
            <a:off x="10911535" y="6355080"/>
            <a:ext cx="914400" cy="365760"/>
          </a:xfrm>
          <a:prstGeom prst="rect">
            <a:avLst/>
          </a:prstGeom>
          <a:noFill/>
        </p:spPr>
        <p:txBody>
          <a:bodyPr wrap="square">
            <a:spAutoFit/>
          </a:bodyPr>
          <a:lstStyle/>
          <a:p>
            <a:pPr>
              <a:defRPr sz="1200" b="0">
                <a:solidFill>
                  <a:srgbClr val="838D99"/>
                </a:solidFill>
                <a:latin typeface="Segoe UI"/>
              </a:defRPr>
            </a:pPr>
            <a:r>
              <a:t>15</a:t>
            </a:r>
          </a:p>
        </p:txBody>
      </p:sp>
      <p:pic>
        <p:nvPicPr>
          <p:cNvPr id="4" name="Picture 3" descr="nderfaqja_rishkrimi.png"/>
          <p:cNvPicPr>
            <a:picLocks noChangeAspect="1"/>
          </p:cNvPicPr>
          <p:nvPr/>
        </p:nvPicPr>
        <p:blipFill>
          <a:blip r:embed="rId3"/>
          <a:stretch>
            <a:fillRect/>
          </a:stretch>
        </p:blipFill>
        <p:spPr>
          <a:xfrm>
            <a:off x="777240" y="1828800"/>
            <a:ext cx="10637215" cy="3462487"/>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457200"/>
            <a:ext cx="10637215" cy="914400"/>
          </a:xfrm>
          <a:prstGeom prst="rect">
            <a:avLst/>
          </a:prstGeom>
          <a:noFill/>
        </p:spPr>
        <p:txBody>
          <a:bodyPr wrap="square">
            <a:spAutoFit/>
          </a:bodyPr>
          <a:lstStyle/>
          <a:p>
            <a:pPr>
              <a:defRPr sz="3400" b="0">
                <a:solidFill>
                  <a:srgbClr val="1A1D21"/>
                </a:solidFill>
                <a:latin typeface="Times New Roman"/>
              </a:defRPr>
            </a:pPr>
            <a:r>
              <a:t>Backup · Comparison with the literature</a:t>
            </a:r>
          </a:p>
          <a:p>
            <a:pPr>
              <a:defRPr sz="1400">
                <a:solidFill>
                  <a:srgbClr val="838D99"/>
                </a:solidFill>
                <a:latin typeface="Segoe UI"/>
              </a:defRPr>
            </a:pPr>
            <a:r>
              <a:t>Madeyski &amp; Lewowski (2023), same MLCQ dataset, DS1</a:t>
            </a:r>
          </a:p>
        </p:txBody>
      </p:sp>
      <p:sp>
        <p:nvSpPr>
          <p:cNvPr id="3" name="TextBox 2"/>
          <p:cNvSpPr txBox="1"/>
          <p:nvPr/>
        </p:nvSpPr>
        <p:spPr>
          <a:xfrm>
            <a:off x="10911535" y="6355080"/>
            <a:ext cx="914400" cy="365760"/>
          </a:xfrm>
          <a:prstGeom prst="rect">
            <a:avLst/>
          </a:prstGeom>
          <a:noFill/>
        </p:spPr>
        <p:txBody>
          <a:bodyPr wrap="square">
            <a:spAutoFit/>
          </a:bodyPr>
          <a:lstStyle/>
          <a:p>
            <a:pPr>
              <a:defRPr sz="1200" b="0">
                <a:solidFill>
                  <a:srgbClr val="838D99"/>
                </a:solidFill>
                <a:latin typeface="Segoe UI"/>
              </a:defRPr>
            </a:pPr>
            <a:r>
              <a:t>16</a:t>
            </a:r>
          </a:p>
        </p:txBody>
      </p:sp>
      <p:graphicFrame>
        <p:nvGraphicFramePr>
          <p:cNvPr id="4" name="Table 3"/>
          <p:cNvGraphicFramePr>
            <a:graphicFrameLocks noGrp="1"/>
          </p:cNvGraphicFramePr>
          <p:nvPr/>
        </p:nvGraphicFramePr>
        <p:xfrm>
          <a:off x="777240" y="1828800"/>
          <a:ext cx="10637215" cy="457200"/>
        </p:xfrm>
        <a:graphic>
          <a:graphicData uri="http://schemas.openxmlformats.org/drawingml/2006/table">
            <a:tbl>
              <a:tblPr firstRow="1" bandRow="1">
                <a:tableStyleId>{5C22544A-7EE6-4342-B048-85BDC9FD1C3A}</a:tableStyleId>
              </a:tblPr>
              <a:tblGrid>
                <a:gridCol w="2659303"/>
                <a:gridCol w="2659303"/>
                <a:gridCol w="2659303"/>
                <a:gridCol w="2659306"/>
              </a:tblGrid>
              <a:tr h="91440">
                <a:tc>
                  <a:txBody>
                    <a:bodyPr/>
                    <a:lstStyle/>
                    <a:p>
                      <a:pPr>
                        <a:defRPr sz="1400" b="1">
                          <a:latin typeface="Segoe UI"/>
                        </a:defRPr>
                      </a:pPr>
                      <a:r>
                        <a:t>Smell</a:t>
                      </a:r>
                    </a:p>
                  </a:txBody>
                  <a:tcPr/>
                </a:tc>
                <a:tc>
                  <a:txBody>
                    <a:bodyPr/>
                    <a:lstStyle/>
                    <a:p>
                      <a:pPr>
                        <a:defRPr sz="1400" b="1">
                          <a:latin typeface="Segoe UI"/>
                        </a:defRPr>
                      </a:pPr>
                      <a:r>
                        <a:t>Rules (A)</a:t>
                      </a:r>
                    </a:p>
                  </a:txBody>
                  <a:tcPr/>
                </a:tc>
                <a:tc>
                  <a:txBody>
                    <a:bodyPr/>
                    <a:lstStyle/>
                    <a:p>
                      <a:pPr>
                        <a:defRPr sz="1400" b="1">
                          <a:latin typeface="Segoe UI"/>
                        </a:defRPr>
                      </a:pPr>
                      <a:r>
                        <a:t>Model (B)</a:t>
                      </a:r>
                    </a:p>
                  </a:txBody>
                  <a:tcPr/>
                </a:tc>
                <a:tc>
                  <a:txBody>
                    <a:bodyPr/>
                    <a:lstStyle/>
                    <a:p>
                      <a:pPr>
                        <a:defRPr sz="1400" b="1">
                          <a:latin typeface="Segoe UI"/>
                        </a:defRPr>
                      </a:pPr>
                      <a:r>
                        <a:t>Madeyski &amp; Lewowski 2023</a:t>
                      </a:r>
                    </a:p>
                  </a:txBody>
                  <a:tcPr/>
                </a:tc>
              </a:tr>
              <a:tr h="91440">
                <a:tc>
                  <a:txBody>
                    <a:bodyPr/>
                    <a:lstStyle/>
                    <a:p>
                      <a:pPr>
                        <a:defRPr sz="1600">
                          <a:latin typeface="Segoe UI"/>
                        </a:defRPr>
                      </a:pPr>
                      <a:r>
                        <a:t>Blob</a:t>
                      </a:r>
                    </a:p>
                  </a:txBody>
                  <a:tcPr/>
                </a:tc>
                <a:tc>
                  <a:txBody>
                    <a:bodyPr/>
                    <a:lstStyle/>
                    <a:p>
                      <a:pPr algn="r">
                        <a:defRPr sz="1600">
                          <a:latin typeface="Segoe UI"/>
                        </a:defRPr>
                      </a:pPr>
                      <a:r>
                        <a:t>0.336</a:t>
                      </a:r>
                    </a:p>
                  </a:txBody>
                  <a:tcPr/>
                </a:tc>
                <a:tc>
                  <a:txBody>
                    <a:bodyPr/>
                    <a:lstStyle/>
                    <a:p>
                      <a:pPr algn="r">
                        <a:defRPr sz="1600">
                          <a:latin typeface="Segoe UI"/>
                        </a:defRPr>
                      </a:pPr>
                      <a:r>
                        <a:t>0.539</a:t>
                      </a:r>
                    </a:p>
                  </a:txBody>
                  <a:tcPr/>
                </a:tc>
                <a:tc>
                  <a:txBody>
                    <a:bodyPr/>
                    <a:lstStyle/>
                    <a:p>
                      <a:pPr algn="r">
                        <a:defRPr sz="1600">
                          <a:latin typeface="Segoe UI"/>
                        </a:defRPr>
                      </a:pPr>
                      <a:r>
                        <a:t>0.51 (RF)</a:t>
                      </a:r>
                    </a:p>
                  </a:txBody>
                  <a:tcPr/>
                </a:tc>
              </a:tr>
              <a:tr h="91440">
                <a:tc>
                  <a:txBody>
                    <a:bodyPr/>
                    <a:lstStyle/>
                    <a:p>
                      <a:pPr>
                        <a:defRPr sz="1600">
                          <a:latin typeface="Segoe UI"/>
                        </a:defRPr>
                      </a:pPr>
                      <a:r>
                        <a:t>Data Class</a:t>
                      </a:r>
                    </a:p>
                  </a:txBody>
                  <a:tcPr/>
                </a:tc>
                <a:tc>
                  <a:txBody>
                    <a:bodyPr/>
                    <a:lstStyle/>
                    <a:p>
                      <a:pPr algn="r">
                        <a:defRPr sz="1600">
                          <a:latin typeface="Segoe UI"/>
                        </a:defRPr>
                      </a:pPr>
                      <a:r>
                        <a:t>0.367</a:t>
                      </a:r>
                    </a:p>
                  </a:txBody>
                  <a:tcPr/>
                </a:tc>
                <a:tc>
                  <a:txBody>
                    <a:bodyPr/>
                    <a:lstStyle/>
                    <a:p>
                      <a:pPr algn="r">
                        <a:defRPr sz="1600">
                          <a:latin typeface="Segoe UI"/>
                        </a:defRPr>
                      </a:pPr>
                      <a:r>
                        <a:t>0.473</a:t>
                      </a:r>
                    </a:p>
                  </a:txBody>
                  <a:tcPr/>
                </a:tc>
                <a:tc>
                  <a:txBody>
                    <a:bodyPr/>
                    <a:lstStyle/>
                    <a:p>
                      <a:pPr algn="r">
                        <a:defRPr sz="1600">
                          <a:latin typeface="Segoe UI"/>
                        </a:defRPr>
                      </a:pPr>
                      <a:r>
                        <a:t>0.57 (RF)</a:t>
                      </a:r>
                    </a:p>
                  </a:txBody>
                  <a:tcPr/>
                </a:tc>
              </a:tr>
              <a:tr h="91440">
                <a:tc>
                  <a:txBody>
                    <a:bodyPr/>
                    <a:lstStyle/>
                    <a:p>
                      <a:pPr>
                        <a:defRPr sz="1600">
                          <a:latin typeface="Segoe UI"/>
                        </a:defRPr>
                      </a:pPr>
                      <a:r>
                        <a:t>Feature Envy</a:t>
                      </a:r>
                    </a:p>
                  </a:txBody>
                  <a:tcPr/>
                </a:tc>
                <a:tc>
                  <a:txBody>
                    <a:bodyPr/>
                    <a:lstStyle/>
                    <a:p>
                      <a:pPr algn="r">
                        <a:defRPr sz="1600">
                          <a:latin typeface="Segoe UI"/>
                        </a:defRPr>
                      </a:pPr>
                      <a:r>
                        <a:t>0.243</a:t>
                      </a:r>
                    </a:p>
                  </a:txBody>
                  <a:tcPr/>
                </a:tc>
                <a:tc>
                  <a:txBody>
                    <a:bodyPr/>
                    <a:lstStyle/>
                    <a:p>
                      <a:pPr algn="r">
                        <a:defRPr sz="1600">
                          <a:latin typeface="Segoe UI"/>
                        </a:defRPr>
                      </a:pPr>
                      <a:r>
                        <a:t>0.321</a:t>
                      </a:r>
                    </a:p>
                  </a:txBody>
                  <a:tcPr/>
                </a:tc>
                <a:tc>
                  <a:txBody>
                    <a:bodyPr/>
                    <a:lstStyle/>
                    <a:p>
                      <a:pPr algn="r">
                        <a:defRPr sz="1600">
                          <a:latin typeface="Segoe UI"/>
                        </a:defRPr>
                      </a:pPr>
                      <a:r>
                        <a:t>0.31 (FDA)</a:t>
                      </a:r>
                    </a:p>
                  </a:txBody>
                  <a:tcPr/>
                </a:tc>
              </a:tr>
              <a:tr h="91440">
                <a:tc>
                  <a:txBody>
                    <a:bodyPr/>
                    <a:lstStyle/>
                    <a:p>
                      <a:pPr>
                        <a:defRPr sz="1600">
                          <a:latin typeface="Segoe UI"/>
                        </a:defRPr>
                      </a:pPr>
                      <a:r>
                        <a:t>Long Method</a:t>
                      </a:r>
                    </a:p>
                  </a:txBody>
                  <a:tcPr/>
                </a:tc>
                <a:tc>
                  <a:txBody>
                    <a:bodyPr/>
                    <a:lstStyle/>
                    <a:p>
                      <a:pPr algn="r">
                        <a:defRPr sz="1600">
                          <a:latin typeface="Segoe UI"/>
                        </a:defRPr>
                      </a:pPr>
                      <a:r>
                        <a:t>0.617</a:t>
                      </a:r>
                    </a:p>
                  </a:txBody>
                  <a:tcPr/>
                </a:tc>
                <a:tc>
                  <a:txBody>
                    <a:bodyPr/>
                    <a:lstStyle/>
                    <a:p>
                      <a:pPr algn="r">
                        <a:defRPr sz="1600">
                          <a:latin typeface="Segoe UI"/>
                        </a:defRPr>
                      </a:pPr>
                      <a:r>
                        <a:t>0.723</a:t>
                      </a:r>
                    </a:p>
                  </a:txBody>
                  <a:tcPr/>
                </a:tc>
                <a:tc>
                  <a:txBody>
                    <a:bodyPr/>
                    <a:lstStyle/>
                    <a:p>
                      <a:pPr algn="r">
                        <a:defRPr sz="1600">
                          <a:latin typeface="Segoe UI"/>
                        </a:defRPr>
                      </a:pPr>
                      <a:r>
                        <a:t>&gt; 0.75 (RF)</a:t>
                      </a:r>
                    </a:p>
                  </a:txBody>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