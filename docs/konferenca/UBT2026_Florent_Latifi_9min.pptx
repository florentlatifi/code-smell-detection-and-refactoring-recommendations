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Published rules (A)</c:v>
                </c:pt>
              </c:strCache>
            </c:strRef>
          </c:tx>
          <c:spPr>
            <a:solidFill>
              <a:srgbClr val="87919C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Blob
(significant)</c:v>
                </c:pt>
                <c:pt idx="1">
                  <c:v>Data Class
(significant)</c:v>
                </c:pt>
                <c:pt idx="2">
                  <c:v>Feature Envy
(could be chance)</c:v>
                </c:pt>
                <c:pt idx="3">
                  <c:v>Long Method
(significant)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0.3357</c:v>
                </c:pt>
                <c:pt idx="1">
                  <c:v>0.3668</c:v>
                </c:pt>
                <c:pt idx="2">
                  <c:v>0.2429</c:v>
                </c:pt>
                <c:pt idx="3">
                  <c:v>0.6166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Best ML model (B)</c:v>
                </c:pt>
              </c:strCache>
            </c:strRef>
          </c:tx>
          <c:spPr>
            <a:solidFill>
              <a:srgbClr val="1F4E79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Blob
(significant)</c:v>
                </c:pt>
                <c:pt idx="1">
                  <c:v>Data Class
(significant)</c:v>
                </c:pt>
                <c:pt idx="2">
                  <c:v>Feature Envy
(could be chance)</c:v>
                </c:pt>
                <c:pt idx="3">
                  <c:v>Long Method
(significant)</c:v>
                </c:pt>
              </c:strCache>
            </c:strRef>
          </c:cat>
          <c:val>
            <c:numRef>
              <c:f>Sheet1!$C$2:$C$5</c:f>
              <c:numCache>
                <c:formatCode>0.00</c:formatCode>
                <c:ptCount val="4"/>
                <c:pt idx="0">
                  <c:v>0.5387125336366718</c:v>
                </c:pt>
                <c:pt idx="1">
                  <c:v>0.4734406599321139</c:v>
                </c:pt>
                <c:pt idx="2">
                  <c:v>0.3205120550113616</c:v>
                </c:pt>
                <c:pt idx="3">
                  <c:v>0.7232588772153082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600">
                  <a:latin typeface="Segoe UI Semibol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C9D0D8"/>
            </a:solidFill>
          </a:ln>
        </c:spPr>
        <c:txPr>
          <a:bodyPr/>
          <a:lstStyle/>
          <a:p>
            <a:pPr>
              <a:defRPr sz="1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9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600"/>
          </a:pPr>
        </a:p>
      </c:txPr>
    </c:legend>
    <c:dispBlanksAs val="gap"/>
  </c:chart>
  <c:txPr>
    <a:bodyPr/>
    <a:lstStyle/>
    <a:p>
      <a:pPr>
        <a:defRPr sz="1600">
          <a:solidFill>
            <a:srgbClr val="1A1D21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Two reviewers</c:v>
                </c:pt>
              </c:strCache>
            </c:strRef>
          </c:tx>
          <c:spPr>
            <a:solidFill>
              <a:srgbClr val="1F4E79"/>
            </a:solidFill>
          </c:spPr>
          <c:invertIfNegative val="0"/>
          <c:dPt>
            <c:idx val="2"/>
            <c:invertIfNegative val="0"/>
            <c:spPr>
              <a:solidFill>
                <a:srgbClr val="8C2F22"/>
              </a:solidFill>
            </c:spPr>
          </c:dPt>
          <c:cat>
            <c:strRef>
              <c:f>Sheet1!$A$2:$A$5</c:f>
              <c:strCache>
                <c:ptCount val="4"/>
                <c:pt idx="0">
                  <c:v>Blob</c:v>
                </c:pt>
                <c:pt idx="1">
                  <c:v>Data Class</c:v>
                </c:pt>
                <c:pt idx="2">
                  <c:v>Feature Envy</c:v>
                </c:pt>
                <c:pt idx="3">
                  <c:v>Long Method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0.3122139059809652</c:v>
                </c:pt>
                <c:pt idx="1">
                  <c:v>0.3963586974485641</c:v>
                </c:pt>
                <c:pt idx="2">
                  <c:v>-0.07063755144675195</c:v>
                </c:pt>
                <c:pt idx="3">
                  <c:v>0.5671074064341379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600">
                  <a:latin typeface="Segoe UI Semibol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C9D0D8"/>
            </a:solidFill>
          </a:ln>
        </c:spPr>
        <c:txPr>
          <a:bodyPr/>
          <a:lstStyle/>
          <a:p>
            <a:pPr>
              <a:defRPr sz="1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9"/>
          <c:min val="-0.2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1A1D21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i="0"/>
              <a:t>Good morning, everyone.</a:t>
            </a:r>
            <a:r>
              <a:rPr i="0"/>
              <a:t> My name is Florent Latifi, and this work comes from my bachelor thesis at UBT, supervised by Altina Salihu.</a:t>
            </a:r>
            <a:r>
              <a:rPr i="0"/>
              <a:t> In the next ten minutes I will show how we can detect code smells in Java automatically, how accurate that detection really is, and how far we can go in fixing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i="0"/>
              <a:t>Every developer knows the class that nobody wants to touch.</a:t>
            </a:r>
            <a:r>
              <a:rPr i="0"/>
              <a:t> The program works, but every change takes longer than it should.</a:t>
            </a:r>
            <a:r>
              <a:rPr i="0"/>
              <a:t> These design problems are called code smells.</a:t>
            </a:r>
            <a:r>
              <a:rPr i="0"/>
              <a:t> They are not bugs, but they make maintenance expensive.</a:t>
            </a:r>
            <a:r>
              <a:rPr i="0"/>
              <a:t> Most tools find them with fixed thresholds.</a:t>
            </a:r>
            <a:r>
              <a:rPr i="0"/>
              <a:t> For example, if a method is longer than a certain number of lines, it is a Long Method.</a:t>
            </a:r>
            <a:r>
              <a:rPr i="0"/>
              <a:t> But these numbers were calibrated on other code, and most tools only point at the problem.</a:t>
            </a:r>
            <a:r>
              <a:rPr i="0"/>
              <a:t> They do not fix it.</a:t>
            </a:r>
            <a:r>
              <a:rPr i="0"/>
              <a:t> So we asked three questions.</a:t>
            </a:r>
            <a:r>
              <a:rPr i="0"/>
              <a:t> First, how accurate are the published detection rules?</a:t>
            </a:r>
            <a:r>
              <a:rPr i="0"/>
              <a:t> Second, can machine learning do better with the same metrics?</a:t>
            </a:r>
            <a:r>
              <a:rPr i="0"/>
              <a:t> And third, can we fix smells automatically without breaking the code?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i="0"/>
              <a:t>This study looks at four of them.</a:t>
            </a:r>
            <a:r>
              <a:rPr i="0"/>
              <a:t> Blob is a class that does too much.</a:t>
            </a:r>
            <a:r>
              <a:rPr i="0"/>
              <a:t> Data Class only holds data and has almost no behavior.</a:t>
            </a:r>
            <a:r>
              <a:rPr i="0"/>
              <a:t> Long Method is a method that has grown too long, and Feature Envy is a method that uses another class more than its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i="0"/>
              <a:t>To answer these questions, I built a tool called JavaSmell.</a:t>
            </a:r>
            <a:r>
              <a:rPr i="0"/>
              <a:t> It reads Java code and measures 26 metrics for every class and method.</a:t>
            </a:r>
            <a:r>
              <a:rPr i="0"/>
              <a:t> On top of these metrics there are three approaches.</a:t>
            </a:r>
            <a:r>
              <a:rPr i="0"/>
              <a:t> A uses 8 detection strategies from the literature, such as Lanza and Marinescu and Fowler.</a:t>
            </a:r>
            <a:r>
              <a:rPr i="0"/>
              <a:t> B trains machine learning classifiers on the same metrics.</a:t>
            </a:r>
            <a:r>
              <a:rPr i="0"/>
              <a:t> And C is a refactoring engine.</a:t>
            </a:r>
            <a:r>
              <a:rPr i="0"/>
              <a:t> It rewrites code only when it can prove its preconditions from the syntax tree, and then it checks the result with the Java compiler.</a:t>
            </a:r>
            <a:r>
              <a:rPr i="1"/>
              <a:t> Every detection also shows the conditions it checked, so a developer can see why a class was flagged, not only that it was.</a:t>
            </a:r>
            <a:r>
              <a:rPr i="0"/>
              <a:t> On the right you can see the web interface.</a:t>
            </a:r>
            <a:r>
              <a:rPr i="0"/>
              <a:t> It also has a plain-language mode for people without a technical background.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i="0"/>
              <a:t>For a fair test, we need labels from people.</a:t>
            </a:r>
            <a:r>
              <a:rPr i="0"/>
              <a:t> We used MLCQ, a public dataset where professional developers reviewed real open-source Java code.</a:t>
            </a:r>
            <a:r>
              <a:rPr i="0"/>
              <a:t> After matching the samples to our tool, we have 9,046 labeled samples from 512 repositories, for four smells.</a:t>
            </a:r>
            <a:r>
              <a:rPr i="0"/>
              <a:t> One important detail is how we split the data.</a:t>
            </a:r>
            <a:r>
              <a:rPr i="0"/>
              <a:t> Code from the same project looks very similar, so we grouped the data by repository: a model is never tested on a project it learned from.</a:t>
            </a:r>
            <a:r>
              <a:rPr i="0"/>
              <a:t> And we report the Matthews correlation coefficient, MCC.</a:t>
            </a:r>
            <a:r>
              <a:rPr i="0"/>
              <a:t> Most samples are clean, so simple accuracy would look very good even for a detector that never fires.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i="0"/>
              <a:t>Here are the main results.</a:t>
            </a:r>
            <a:r>
              <a:rPr i="0"/>
              <a:t> The gray bars are the published rules, and the blue bars are the best machine learning model for each smell.</a:t>
            </a:r>
            <a:r>
              <a:rPr i="0"/>
              <a:t> The rules are often correct when they fire, but they catch only 17 to 47 percent of the smells that developers marked.</a:t>
            </a:r>
            <a:r>
              <a:rPr i="0"/>
              <a:t> The models are better on all four smells, with MCC from 0.32 to 0.72.</a:t>
            </a:r>
            <a:r>
              <a:rPr i="0"/>
              <a:t> Out of every 100 smells, they find 30 to 83; the price is usually more false alarms.</a:t>
            </a:r>
            <a:r>
              <a:rPr i="0"/>
              <a:t> We also computed 95 percent confidence intervals by resampling repositories.</a:t>
            </a:r>
            <a:r>
              <a:rPr i="0"/>
              <a:t> The improvement is clearly above zero for Blob, Data Class and Long Method.</a:t>
            </a:r>
            <a:r>
              <a:rPr i="0"/>
              <a:t> For Feature Envy, the difference could be chance.</a:t>
            </a:r>
            <a:r>
              <a:rPr i="1"/>
              <a:t> We also compared with PMD, a popular open-source analyzer, on the same samples.</a:t>
            </a:r>
            <a:r>
              <a:rPr i="1"/>
              <a:t> Once the confidence interval is considered, PMD is never ahead, and for Long Method our rules are clearly better.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i="0"/>
              <a:t>Why is Feature Envy so hard?</a:t>
            </a:r>
            <a:r>
              <a:rPr i="0"/>
              <a:t> We measured how much the human reviewers agree with each other.</a:t>
            </a:r>
            <a:r>
              <a:rPr i="0"/>
              <a:t> For Blob, Data Class and Long Method, two reviewers agree only moderately.</a:t>
            </a:r>
            <a:r>
              <a:rPr i="0"/>
              <a:t> For Feature Envy, they agree no better than chance.</a:t>
            </a:r>
            <a:r>
              <a:rPr i="1"/>
              <a:t> For Feature Envy, their MCC is -0.07, practically zero.</a:t>
            </a:r>
            <a:r>
              <a:rPr i="1"/>
              <a:t> This matches the previous slide: Feature Envy is where the model could not clearly beat the rules.</a:t>
            </a:r>
            <a:r>
              <a:rPr i="0"/>
              <a:t> So the problem is not only the algorithm.</a:t>
            </a:r>
            <a:r>
              <a:rPr i="0"/>
              <a:t> It is the definition of the smell itself.</a:t>
            </a:r>
            <a:r>
              <a:rPr i="0"/>
              <a:t> If experts do not agree on what a smell is, no detector can learn it well.</a:t>
            </a:r>
            <a:r>
              <a:rPr i="0"/>
              <a:t> For me, this is the main lesson of the detection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i="0"/>
              <a:t>Now the refactoring engine.</a:t>
            </a:r>
            <a:r>
              <a:rPr i="0"/>
              <a:t> It supports three transformations: Extract Method, Replace Nested Conditional with Guard Clauses, and Introduce Parameter Object.</a:t>
            </a:r>
            <a:r>
              <a:rPr i="0"/>
              <a:t> On the whole corpus it found 15,800 sites and rewrote 3,532 of them, which is 22 percent.</a:t>
            </a:r>
            <a:r>
              <a:rPr i="0"/>
              <a:t> The rest were refused, each with a reason.</a:t>
            </a:r>
            <a:r>
              <a:rPr i="1"/>
              <a:t> In 45 percent of the sites, the reason is simply that the code does not have the shape the transformation needs.</a:t>
            </a:r>
            <a:r>
              <a:rPr i="0"/>
              <a:t> For us, refusing is a correct result, not a failure.</a:t>
            </a:r>
            <a:r>
              <a:rPr i="0"/>
              <a:t> After rewriting, the smell disappeared in 65 percent of the cases.</a:t>
            </a:r>
            <a:r>
              <a:rPr i="0"/>
              <a:t> Only 1.6 percent of the rewrites introduced a new type of compilation error, and those never reach the code, because the tool only writes verified rewrites.</a:t>
            </a:r>
            <a:r>
              <a:rPr i="0"/>
              <a:t> I also read 60 rewrites by hand: after reweighting, about 63 percent would be acceptable to a developer.</a:t>
            </a:r>
            <a:r>
              <a:rPr i="1"/>
              <a:t> Refactoring can also create new smells: 865 appeared after rewriting, most often Long Parameter List, because Extract Method passes every input as a parameter.</a:t>
            </a:r>
            <a:r>
              <a:rPr i="1"/>
              <a:t> In that review, Guard Clauses were always acceptable, and Introduce Parameter Object never, because it only moves the long list into a new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i="0"/>
              <a:t>Here is one real example from Apache Geode.</a:t>
            </a:r>
            <a:r>
              <a:rPr i="0"/>
              <a:t> Before, the whole method is wrapped in one if statement, so everything is nested deeply.</a:t>
            </a:r>
            <a:r>
              <a:rPr i="0"/>
              <a:t> After the rewrite, the condition becomes a guard clause with an early return, and the rest of the method moves one level up.</a:t>
            </a:r>
            <a:r>
              <a:rPr i="1"/>
              <a:t> The engine accepts only exactly this shape: a void method whose whole body is one if statement, without else.</a:t>
            </a:r>
            <a:r>
              <a:rPr i="1"/>
              <a:t> It also wraps the condition in a not, instead of inverting it by hand, so it stays correct for every condition.</a:t>
            </a:r>
            <a:r>
              <a:rPr i="0"/>
              <a:t> The rewrite passed the compiler check, and in my review it was acceptable as it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i="0"/>
              <a:t>To be honest about the limits: compiling is not the same as behaving the same.</a:t>
            </a:r>
            <a:r>
              <a:rPr i="0"/>
              <a:t> We did not run the projects' test suites, so behavior preservation is future work.</a:t>
            </a:r>
            <a:r>
              <a:rPr i="0"/>
              <a:t> We also used one dataset, four smells, and only Java.</a:t>
            </a:r>
            <a:r>
              <a:rPr i="1"/>
              <a:t> And the best model was chosen on the same predictions it is scored on, so its numbers are slightly optimistic.</a:t>
            </a:r>
            <a:r>
              <a:rPr i="1"/>
              <a:t> As next steps, I would add a small symbol resolver to support more refactorings, and ask independent reviewers to judge the rewrites.</a:t>
            </a:r>
            <a:r>
              <a:rPr i="0"/>
              <a:t> To summarize: learned boundaries beat fixed thresholds.</a:t>
            </a:r>
            <a:r>
              <a:rPr i="0"/>
              <a:t> Safe automatic refactoring is possible, but narrow, and it should be reviewed by a developer.</a:t>
            </a:r>
            <a:r>
              <a:rPr i="0"/>
              <a:t> The tool is open source, and every number in this talk can be regenerated with a script.</a:t>
            </a:r>
            <a:r>
              <a:rPr i="0"/>
              <a:t> Thank you.</a:t>
            </a:r>
            <a:r>
              <a:rPr i="0"/>
              <a:t> I am happy to take your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when asked for precision or recall per smell.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Above zero means the model's advantage is not explained by which projects happen to be in the sample.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 whether choosing the best model inflates the result: yes, slightly. Even the weakest learning algorithm beats the rules on three of four smells.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PMD is never ahead once the confidence interval is considered. PMD has no Feature Envy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Isolated files often cannot compile because their neighbours are missing; inside the project many more compile 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extracted method is named 'extracted'; choosing a meaningful name is left to the developer.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They used random 5-fold cross-validation and tuned hyperparameters; we grouped by repository and did not tune. Our results are in the same range.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7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A9B8C9"/>
                </a:solidFill>
                <a:latin typeface="Segoe UI"/>
              </a:rPr>
              <a:t>15th UBT Annual International Conference on Computer Science and Engineering  · 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0584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>
                <a:solidFill>
                  <a:srgbClr val="F4F6F9"/>
                </a:solidFill>
                <a:latin typeface="Segoe UI Semibold"/>
              </a:rPr>
              <a:t>Automated Code Smell Detection and Refactoring Recommendations Using Software Metrics and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06908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F4F6F9"/>
                </a:solidFill>
                <a:latin typeface="Segoe UI"/>
              </a:rPr>
              <a:t>Florent Latifi  ·  Altina Salihu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600">
                <a:solidFill>
                  <a:srgbClr val="A9B8C9"/>
                </a:solidFill>
                <a:latin typeface="Segoe UI"/>
              </a:rPr>
              <a:t>UBT – Higher Education Institution, Kosovo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94360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A9B8C9"/>
                </a:solidFill>
                <a:latin typeface="Segoe UI"/>
              </a:rPr>
              <a:t>Session 1  ·  Software Engineering  ·  24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81226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>
                <a:solidFill>
                  <a:srgbClr val="1A1D21"/>
                </a:solidFill>
                <a:latin typeface="Segoe UI Semibold"/>
              </a:rPr>
              <a:t>Code smells make every change expensive, and today's tools only point at them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Code smells are design problems, not bugs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1063721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Bef>
                <a:spcPts val="0"/>
              </a:spcBef>
              <a:spcAft>
                <a:spcPts val="800"/>
              </a:spcAft>
              <a:buClr>
                <a:srgbClr val="1F4E79"/>
              </a:buClr>
              <a:buFont typeface="Arial"/>
              <a:buChar char="•"/>
            </a:pPr>
            <a:r>
              <a:rPr sz="2000">
                <a:solidFill>
                  <a:srgbClr val="1A1D21"/>
                </a:solidFill>
                <a:latin typeface="Segoe UI"/>
              </a:rPr>
              <a:t>The program works, but every change costs more than it should.</a:t>
            </a:r>
          </a:p>
          <a:p>
            <a:pPr algn="l" marL="274320" indent="-274320">
              <a:spcBef>
                <a:spcPts val="0"/>
              </a:spcBef>
              <a:spcAft>
                <a:spcPts val="800"/>
              </a:spcAft>
              <a:buClr>
                <a:srgbClr val="1F4E79"/>
              </a:buClr>
              <a:buFont typeface="Arial"/>
              <a:buChar char="•"/>
            </a:pPr>
            <a:r>
              <a:rPr sz="2000">
                <a:solidFill>
                  <a:srgbClr val="1A1D21"/>
                </a:solidFill>
                <a:latin typeface="Segoe UI"/>
              </a:rPr>
              <a:t>Existing tools use fixed thresholds, calibrated on other code.</a:t>
            </a:r>
          </a:p>
          <a:p>
            <a:pPr algn="l" marL="274320" indent="-274320">
              <a:spcBef>
                <a:spcPts val="0"/>
              </a:spcBef>
              <a:spcAft>
                <a:spcPts val="800"/>
              </a:spcAft>
              <a:buClr>
                <a:srgbClr val="1F4E79"/>
              </a:buClr>
              <a:buFont typeface="Arial"/>
              <a:buChar char="•"/>
            </a:pPr>
            <a:r>
              <a:rPr sz="2000">
                <a:solidFill>
                  <a:srgbClr val="1A1D21"/>
                </a:solidFill>
                <a:latin typeface="Segoe UI"/>
              </a:rPr>
              <a:t>They point at the problem, but rarely fix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3520440"/>
            <a:ext cx="3362858" cy="2377440"/>
          </a:xfrm>
          <a:prstGeom prst="roundRect">
            <a:avLst>
              <a:gd name="adj" fmla="val 3076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3749040"/>
            <a:ext cx="290565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F4E79"/>
                </a:solidFill>
                <a:latin typeface="Segoe UI Semibold"/>
              </a:rPr>
              <a:t>Q1  ·  Question 1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2000">
                <a:solidFill>
                  <a:srgbClr val="1A1D21"/>
                </a:solidFill>
                <a:latin typeface="Segoe UI Semibold"/>
              </a:rPr>
              <a:t>How accurate are published detection rules?</a:t>
            </a:r>
          </a:p>
        </p:txBody>
      </p:sp>
      <p:sp>
        <p:nvSpPr>
          <p:cNvPr id="6" name="Oval 5"/>
          <p:cNvSpPr/>
          <p:nvPr/>
        </p:nvSpPr>
        <p:spPr>
          <a:xfrm>
            <a:off x="1005840" y="5349240"/>
            <a:ext cx="329184" cy="329184"/>
          </a:xfrm>
          <a:prstGeom prst="ellipse">
            <a:avLst/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608" y="5349240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Rules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4418" y="3520440"/>
            <a:ext cx="3362858" cy="2377440"/>
          </a:xfrm>
          <a:prstGeom prst="roundRect">
            <a:avLst>
              <a:gd name="adj" fmla="val 3076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3018" y="3749040"/>
            <a:ext cx="290565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F4E79"/>
                </a:solidFill>
                <a:latin typeface="Segoe UI Semibold"/>
              </a:rPr>
              <a:t>Q2  ·  Question 2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2000">
                <a:solidFill>
                  <a:srgbClr val="1A1D21"/>
                </a:solidFill>
                <a:latin typeface="Segoe UI Semibold"/>
              </a:rPr>
              <a:t>Does machine learning on the same metrics do better?</a:t>
            </a:r>
          </a:p>
        </p:txBody>
      </p:sp>
      <p:sp>
        <p:nvSpPr>
          <p:cNvPr id="10" name="Oval 9"/>
          <p:cNvSpPr/>
          <p:nvPr/>
        </p:nvSpPr>
        <p:spPr>
          <a:xfrm>
            <a:off x="4643018" y="5349240"/>
            <a:ext cx="329184" cy="32918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2786" y="5349240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Machine learning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1596" y="3520440"/>
            <a:ext cx="3362858" cy="2377440"/>
          </a:xfrm>
          <a:prstGeom prst="roundRect">
            <a:avLst>
              <a:gd name="adj" fmla="val 3076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0196" y="3749040"/>
            <a:ext cx="290565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F4E79"/>
                </a:solidFill>
                <a:latin typeface="Segoe UI Semibold"/>
              </a:rPr>
              <a:t>Q3  ·  Question 3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2000">
                <a:solidFill>
                  <a:srgbClr val="1A1D21"/>
                </a:solidFill>
                <a:latin typeface="Segoe UI Semibold"/>
              </a:rPr>
              <a:t>Can fixes be applied automatically without breaking compilation?</a:t>
            </a:r>
          </a:p>
        </p:txBody>
      </p:sp>
      <p:sp>
        <p:nvSpPr>
          <p:cNvPr id="14" name="Oval 13"/>
          <p:cNvSpPr/>
          <p:nvPr/>
        </p:nvSpPr>
        <p:spPr>
          <a:xfrm>
            <a:off x="8280196" y="5349240"/>
            <a:ext cx="329184" cy="32918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09964" y="5349240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Refactoring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Florent Latifi  ·  UBT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81226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>
                <a:solidFill>
                  <a:srgbClr val="1A1D21"/>
                </a:solidFill>
                <a:latin typeface="Segoe UI Semibold"/>
              </a:rPr>
              <a:t>Four code smells, each a different design problem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All four are labeled by professional developers in the MLCQ dataset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828800"/>
            <a:ext cx="2453563" cy="3520440"/>
          </a:xfrm>
          <a:prstGeom prst="roundRect">
            <a:avLst>
              <a:gd name="adj" fmla="val 2981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" y="2103120"/>
            <a:ext cx="1280160" cy="18288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9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0432" y="2286000"/>
            <a:ext cx="950976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0432" y="2450592"/>
            <a:ext cx="950976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432" y="2615184"/>
            <a:ext cx="950976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70432" y="2779776"/>
            <a:ext cx="950976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0432" y="2944368"/>
            <a:ext cx="950976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70432" y="3108960"/>
            <a:ext cx="950976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0432" y="3273552"/>
            <a:ext cx="950976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70432" y="3438144"/>
            <a:ext cx="950976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0432" y="3602736"/>
            <a:ext cx="950976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560320" y="2377440"/>
            <a:ext cx="384048" cy="384048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9525">
            <a:solidFill>
              <a:srgbClr val="C9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2286000" y="2569464"/>
            <a:ext cx="274320" cy="0"/>
          </a:xfrm>
          <a:prstGeom prst="line">
            <a:avLst/>
          </a:prstGeom>
          <a:ln w="19050">
            <a:solidFill>
              <a:srgbClr val="C9D0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560320" y="3337560"/>
            <a:ext cx="384048" cy="384048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9525">
            <a:solidFill>
              <a:srgbClr val="C9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2286000" y="3529584"/>
            <a:ext cx="274320" cy="0"/>
          </a:xfrm>
          <a:prstGeom prst="line">
            <a:avLst/>
          </a:prstGeom>
          <a:ln w="19050">
            <a:solidFill>
              <a:srgbClr val="C9D0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05840" y="4251960"/>
            <a:ext cx="1996363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1A1D21"/>
                </a:solidFill>
                <a:latin typeface="Segoe UI Semibold"/>
              </a:rPr>
              <a:t>Blob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600">
                <a:solidFill>
                  <a:srgbClr val="1A1D21"/>
                </a:solidFill>
                <a:latin typeface="Segoe UI"/>
              </a:rPr>
              <a:t>A class that does too much.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05123" y="1828800"/>
            <a:ext cx="2453563" cy="3520440"/>
          </a:xfrm>
          <a:prstGeom prst="roundRect">
            <a:avLst>
              <a:gd name="adj" fmla="val 2981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733723" y="2194560"/>
            <a:ext cx="1188720" cy="137160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9525">
            <a:solidFill>
              <a:srgbClr val="C9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98315" y="2404872"/>
            <a:ext cx="118872" cy="118872"/>
          </a:xfrm>
          <a:prstGeom prst="ellipse">
            <a:avLst/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81195" y="2423160"/>
            <a:ext cx="685800" cy="82296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898315" y="2633472"/>
            <a:ext cx="118872" cy="118872"/>
          </a:xfrm>
          <a:prstGeom prst="ellipse">
            <a:avLst/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81195" y="2651760"/>
            <a:ext cx="685800" cy="82296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898315" y="2862072"/>
            <a:ext cx="118872" cy="118872"/>
          </a:xfrm>
          <a:prstGeom prst="ellipse">
            <a:avLst/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81195" y="2880360"/>
            <a:ext cx="685800" cy="82296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98315" y="3090672"/>
            <a:ext cx="118872" cy="118872"/>
          </a:xfrm>
          <a:prstGeom prst="ellipse">
            <a:avLst/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081195" y="3108960"/>
            <a:ext cx="685800" cy="82296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898315" y="3319272"/>
            <a:ext cx="118872" cy="118872"/>
          </a:xfrm>
          <a:prstGeom prst="ellipse">
            <a:avLst/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081195" y="3337560"/>
            <a:ext cx="685800" cy="82296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151043" y="3200400"/>
            <a:ext cx="548640" cy="7315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C9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42483" y="3520440"/>
            <a:ext cx="365760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 flipH="1" flipV="1">
            <a:off x="4922443" y="2926080"/>
            <a:ext cx="320040" cy="630936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733723" y="4251960"/>
            <a:ext cx="1996363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1A1D21"/>
                </a:solidFill>
                <a:latin typeface="Segoe UI Semibold"/>
              </a:rPr>
              <a:t>Data Class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600">
                <a:solidFill>
                  <a:srgbClr val="1A1D21"/>
                </a:solidFill>
                <a:latin typeface="Segoe UI"/>
              </a:rPr>
              <a:t>Only holds data; almost no behavior.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33006" y="1828800"/>
            <a:ext cx="2453563" cy="3520440"/>
          </a:xfrm>
          <a:prstGeom prst="roundRect">
            <a:avLst>
              <a:gd name="adj" fmla="val 2981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781646" y="2103120"/>
            <a:ext cx="1325880" cy="192024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C9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918806" y="2240280"/>
            <a:ext cx="822960" cy="45720"/>
          </a:xfrm>
          <a:prstGeom prst="rect">
            <a:avLst/>
          </a:prstGeom>
          <a:solidFill>
            <a:srgbClr val="5E6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028534" y="2350008"/>
            <a:ext cx="640080" cy="45720"/>
          </a:xfrm>
          <a:prstGeom prst="rect">
            <a:avLst/>
          </a:prstGeom>
          <a:solidFill>
            <a:srgbClr val="5E6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028534" y="2459736"/>
            <a:ext cx="914400" cy="45720"/>
          </a:xfrm>
          <a:prstGeom prst="rect">
            <a:avLst/>
          </a:prstGeom>
          <a:solidFill>
            <a:srgbClr val="5E6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028534" y="2569464"/>
            <a:ext cx="502920" cy="45720"/>
          </a:xfrm>
          <a:prstGeom prst="rect">
            <a:avLst/>
          </a:prstGeom>
          <a:solidFill>
            <a:srgbClr val="5E6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918806" y="2679192"/>
            <a:ext cx="777240" cy="45720"/>
          </a:xfrm>
          <a:prstGeom prst="rect">
            <a:avLst/>
          </a:prstGeom>
          <a:solidFill>
            <a:srgbClr val="5E6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028534" y="2788920"/>
            <a:ext cx="868680" cy="45720"/>
          </a:xfrm>
          <a:prstGeom prst="rect">
            <a:avLst/>
          </a:prstGeom>
          <a:solidFill>
            <a:srgbClr val="5E6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028534" y="2898648"/>
            <a:ext cx="548640" cy="45720"/>
          </a:xfrm>
          <a:prstGeom prst="rect">
            <a:avLst/>
          </a:prstGeom>
          <a:solidFill>
            <a:srgbClr val="5E6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028534" y="3008376"/>
            <a:ext cx="914400" cy="45720"/>
          </a:xfrm>
          <a:prstGeom prst="rect">
            <a:avLst/>
          </a:prstGeom>
          <a:solidFill>
            <a:srgbClr val="5E6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918806" y="3118104"/>
            <a:ext cx="685800" cy="45720"/>
          </a:xfrm>
          <a:prstGeom prst="rect">
            <a:avLst/>
          </a:prstGeom>
          <a:solidFill>
            <a:srgbClr val="5E6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028534" y="3227832"/>
            <a:ext cx="457200" cy="45720"/>
          </a:xfrm>
          <a:prstGeom prst="rect">
            <a:avLst/>
          </a:prstGeom>
          <a:solidFill>
            <a:srgbClr val="5E6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028534" y="3337560"/>
            <a:ext cx="822960" cy="45720"/>
          </a:xfrm>
          <a:prstGeom prst="rect">
            <a:avLst/>
          </a:prstGeom>
          <a:solidFill>
            <a:srgbClr val="5E6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028534" y="3447288"/>
            <a:ext cx="731520" cy="45720"/>
          </a:xfrm>
          <a:prstGeom prst="rect">
            <a:avLst/>
          </a:prstGeom>
          <a:solidFill>
            <a:srgbClr val="5E6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918806" y="3557016"/>
            <a:ext cx="594360" cy="45720"/>
          </a:xfrm>
          <a:prstGeom prst="rect">
            <a:avLst/>
          </a:prstGeom>
          <a:solidFill>
            <a:srgbClr val="5E6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028534" y="3666744"/>
            <a:ext cx="868680" cy="45720"/>
          </a:xfrm>
          <a:prstGeom prst="rect">
            <a:avLst/>
          </a:prstGeom>
          <a:solidFill>
            <a:srgbClr val="5E6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028534" y="3776472"/>
            <a:ext cx="640080" cy="45720"/>
          </a:xfrm>
          <a:prstGeom prst="rect">
            <a:avLst/>
          </a:prstGeom>
          <a:solidFill>
            <a:srgbClr val="5E6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61606" y="4251960"/>
            <a:ext cx="1996363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1A1D21"/>
                </a:solidFill>
                <a:latin typeface="Segoe UI Semibold"/>
              </a:rPr>
              <a:t>Long Method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600">
                <a:solidFill>
                  <a:srgbClr val="1A1D21"/>
                </a:solidFill>
                <a:latin typeface="Segoe UI"/>
              </a:rPr>
              <a:t>A method that has grown too long.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960889" y="1828800"/>
            <a:ext cx="2453563" cy="3520440"/>
          </a:xfrm>
          <a:prstGeom prst="roundRect">
            <a:avLst>
              <a:gd name="adj" fmla="val 2981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06609" y="2103120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C5560"/>
                </a:solidFill>
                <a:latin typeface="Segoe UI"/>
              </a:rPr>
              <a:t>own class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95329" y="2103120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C5560"/>
                </a:solidFill>
                <a:latin typeface="Segoe UI"/>
              </a:rPr>
              <a:t>other class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189489" y="2468880"/>
            <a:ext cx="777240" cy="1280160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 w="9525">
            <a:solidFill>
              <a:srgbClr val="C9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10378209" y="2468880"/>
            <a:ext cx="777240" cy="1280160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 w="9525">
            <a:solidFill>
              <a:srgbClr val="C9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299217" y="3063240"/>
            <a:ext cx="548640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487937" y="2724912"/>
            <a:ext cx="118872" cy="118872"/>
          </a:xfrm>
          <a:prstGeom prst="ellipse">
            <a:avLst/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670817" y="2743200"/>
            <a:ext cx="365760" cy="82296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 flipV="1">
            <a:off x="9847857" y="2784348"/>
            <a:ext cx="640080" cy="320040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10487937" y="3072384"/>
            <a:ext cx="118872" cy="118872"/>
          </a:xfrm>
          <a:prstGeom prst="ellipse">
            <a:avLst/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670817" y="3090672"/>
            <a:ext cx="365760" cy="82296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9847857" y="3104388"/>
            <a:ext cx="640080" cy="27432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10487937" y="3419856"/>
            <a:ext cx="118872" cy="118872"/>
          </a:xfrm>
          <a:prstGeom prst="ellipse">
            <a:avLst/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670817" y="3438144"/>
            <a:ext cx="365760" cy="82296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9847857" y="3104388"/>
            <a:ext cx="640080" cy="374904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9189489" y="4251960"/>
            <a:ext cx="1996363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1A1D21"/>
                </a:solidFill>
                <a:latin typeface="Segoe UI Semibold"/>
              </a:rPr>
              <a:t>Feature Envy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600">
                <a:solidFill>
                  <a:srgbClr val="1A1D21"/>
                </a:solidFill>
                <a:latin typeface="Segoe UI"/>
              </a:rPr>
              <a:t>A method that uses another class more than its own.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7240" y="553212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>
                <a:solidFill>
                  <a:srgbClr val="1F4E79"/>
                </a:solidFill>
                <a:latin typeface="Segoe UI Semibold"/>
              </a:rPr>
              <a:t>Blue line</a:t>
            </a:r>
            <a:r>
              <a:rPr sz="1400">
                <a:solidFill>
                  <a:srgbClr val="4C5560"/>
                </a:solidFill>
                <a:latin typeface="Segoe UI"/>
              </a:rPr>
              <a:t> = method   ·   </a:t>
            </a:r>
            <a:r>
              <a:rPr sz="1400">
                <a:solidFill>
                  <a:srgbClr val="5E6874"/>
                </a:solidFill>
                <a:latin typeface="Segoe UI Semibold"/>
              </a:rPr>
              <a:t>gray dot</a:t>
            </a:r>
            <a:r>
              <a:rPr sz="1400">
                <a:solidFill>
                  <a:srgbClr val="4C5560"/>
                </a:solidFill>
                <a:latin typeface="Segoe UI"/>
              </a:rPr>
              <a:t> = field (a piece of data)   ·   box = class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724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Florent Latifi  ·  UBT 2026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81226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>
                <a:solidFill>
                  <a:srgbClr val="1A1D21"/>
                </a:solidFill>
                <a:latin typeface="Segoe UI Semibold"/>
              </a:rPr>
              <a:t>JavaSmell measures 26 metrics once and answers with three approaches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One analyzer: A rules · B machine learning · C refactoring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828800"/>
            <a:ext cx="5669280" cy="475488"/>
          </a:xfrm>
          <a:prstGeom prst="roundRect">
            <a:avLst>
              <a:gd name="adj" fmla="val 15384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3544" y="1828800"/>
            <a:ext cx="53949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A1D21"/>
                </a:solidFill>
                <a:latin typeface="Segoe UI"/>
              </a:rPr>
              <a:t>Java source code</a:t>
            </a:r>
          </a:p>
        </p:txBody>
      </p:sp>
      <p:sp>
        <p:nvSpPr>
          <p:cNvPr id="5" name="Down Arrow 4"/>
          <p:cNvSpPr/>
          <p:nvPr/>
        </p:nvSpPr>
        <p:spPr>
          <a:xfrm>
            <a:off x="3520440" y="2331720"/>
            <a:ext cx="182880" cy="128016"/>
          </a:xfrm>
          <a:prstGeom prst="downArrow">
            <a:avLst/>
          </a:prstGeom>
          <a:solidFill>
            <a:srgbClr val="C9D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487168"/>
            <a:ext cx="5669280" cy="475488"/>
          </a:xfrm>
          <a:prstGeom prst="roundRect">
            <a:avLst>
              <a:gd name="adj" fmla="val 15384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487168"/>
            <a:ext cx="53949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A1D21"/>
                </a:solidFill>
                <a:latin typeface="Segoe UI"/>
              </a:rPr>
              <a:t>26 metrics: lines, complexity, coupling, …</a:t>
            </a:r>
          </a:p>
        </p:txBody>
      </p:sp>
      <p:sp>
        <p:nvSpPr>
          <p:cNvPr id="8" name="Down Arrow 7"/>
          <p:cNvSpPr/>
          <p:nvPr/>
        </p:nvSpPr>
        <p:spPr>
          <a:xfrm>
            <a:off x="2057400" y="2990088"/>
            <a:ext cx="182880" cy="128016"/>
          </a:xfrm>
          <a:prstGeom prst="downArrow">
            <a:avLst/>
          </a:prstGeom>
          <a:solidFill>
            <a:srgbClr val="C9D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wn Arrow 8"/>
          <p:cNvSpPr/>
          <p:nvPr/>
        </p:nvSpPr>
        <p:spPr>
          <a:xfrm>
            <a:off x="4983480" y="2990088"/>
            <a:ext cx="182880" cy="128016"/>
          </a:xfrm>
          <a:prstGeom prst="downArrow">
            <a:avLst/>
          </a:prstGeom>
          <a:solidFill>
            <a:srgbClr val="C9D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3145536"/>
            <a:ext cx="2743200" cy="475488"/>
          </a:xfrm>
          <a:prstGeom prst="roundRect">
            <a:avLst>
              <a:gd name="adj" fmla="val 15384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3544" y="3218688"/>
            <a:ext cx="329184" cy="329184"/>
          </a:xfrm>
          <a:prstGeom prst="ellipse">
            <a:avLst/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0744" y="3145536"/>
            <a:ext cx="20116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A1D21"/>
                </a:solidFill>
                <a:latin typeface="Segoe UI"/>
              </a:rPr>
              <a:t>8 published rules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3145536"/>
            <a:ext cx="2743200" cy="475488"/>
          </a:xfrm>
          <a:prstGeom prst="roundRect">
            <a:avLst>
              <a:gd name="adj" fmla="val 15384"/>
            </a:avLst>
          </a:prstGeom>
          <a:solidFill>
            <a:srgbClr val="E4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849624" y="3218688"/>
            <a:ext cx="329184" cy="32918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6824" y="3145536"/>
            <a:ext cx="20116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A1D21"/>
                </a:solidFill>
                <a:latin typeface="Segoe UI"/>
              </a:rPr>
              <a:t>Machine learning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2057400" y="3648456"/>
            <a:ext cx="182880" cy="128016"/>
          </a:xfrm>
          <a:prstGeom prst="downArrow">
            <a:avLst/>
          </a:prstGeom>
          <a:solidFill>
            <a:srgbClr val="C9D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wn Arrow 16"/>
          <p:cNvSpPr/>
          <p:nvPr/>
        </p:nvSpPr>
        <p:spPr>
          <a:xfrm>
            <a:off x="4983480" y="3648456"/>
            <a:ext cx="182880" cy="128016"/>
          </a:xfrm>
          <a:prstGeom prst="downArrow">
            <a:avLst/>
          </a:prstGeom>
          <a:solidFill>
            <a:srgbClr val="C9D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3803904"/>
            <a:ext cx="5669280" cy="475488"/>
          </a:xfrm>
          <a:prstGeom prst="roundRect">
            <a:avLst>
              <a:gd name="adj" fmla="val 15384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" y="3803904"/>
            <a:ext cx="53949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A1D21"/>
                </a:solidFill>
                <a:latin typeface="Segoe UI"/>
              </a:rPr>
              <a:t>Smells, each with the conditions that fired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3520440" y="4306824"/>
            <a:ext cx="182880" cy="128016"/>
          </a:xfrm>
          <a:prstGeom prst="downArrow">
            <a:avLst/>
          </a:prstGeom>
          <a:solidFill>
            <a:srgbClr val="C9D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" y="4462272"/>
            <a:ext cx="5669280" cy="475488"/>
          </a:xfrm>
          <a:prstGeom prst="roundRect">
            <a:avLst>
              <a:gd name="adj" fmla="val 15384"/>
            </a:avLst>
          </a:prstGeom>
          <a:solidFill>
            <a:srgbClr val="E4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3544" y="4535424"/>
            <a:ext cx="329184" cy="32918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0744" y="4462272"/>
            <a:ext cx="49377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A1D21"/>
                </a:solidFill>
                <a:latin typeface="Segoe UI"/>
              </a:rPr>
              <a:t>Refactoring engine: rewrites only what it can prove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3520440" y="4965192"/>
            <a:ext cx="182880" cy="128016"/>
          </a:xfrm>
          <a:prstGeom prst="downArrow">
            <a:avLst/>
          </a:prstGeom>
          <a:solidFill>
            <a:srgbClr val="C9D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7240" y="5120640"/>
            <a:ext cx="5669280" cy="475488"/>
          </a:xfrm>
          <a:prstGeom prst="roundRect">
            <a:avLst>
              <a:gd name="adj" fmla="val 15384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" y="5120640"/>
            <a:ext cx="53949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A1D21"/>
                </a:solidFill>
                <a:latin typeface="Segoe UI"/>
              </a:rPr>
              <a:t>javac check, then a patch — never written in place</a:t>
            </a:r>
          </a:p>
        </p:txBody>
      </p:sp>
      <p:pic>
        <p:nvPicPr>
          <p:cNvPr id="27" name="Picture 26" descr="nderfaqja_paneli.png"/>
          <p:cNvPicPr>
            <a:picLocks noChangeAspect="1"/>
          </p:cNvPicPr>
          <p:nvPr/>
        </p:nvPicPr>
        <p:blipFill>
          <a:blip r:embed="rId3"/>
          <a:srcRect l="6771" r="54861" t="60556" b="8889"/>
          <a:stretch>
            <a:fillRect/>
          </a:stretch>
        </p:blipFill>
        <p:spPr>
          <a:xfrm>
            <a:off x="6858000" y="2240280"/>
            <a:ext cx="4556455" cy="2267918"/>
          </a:xfrm>
          <a:prstGeom prst="rect">
            <a:avLst/>
          </a:prstGeom>
          <a:ln w="9525">
            <a:solidFill>
              <a:srgbClr val="C9D0D8"/>
            </a:solidFill>
          </a:ln>
        </p:spPr>
      </p:pic>
      <p:sp>
        <p:nvSpPr>
          <p:cNvPr id="28" name="TextBox 27"/>
          <p:cNvSpPr txBox="1"/>
          <p:nvPr/>
        </p:nvSpPr>
        <p:spPr>
          <a:xfrm>
            <a:off x="6858000" y="4645358"/>
            <a:ext cx="45564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Web interface in plain language (Albanian): every finding shows the conditions that fired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Florent Latifi  ·  UBT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81226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>
                <a:solidFill>
                  <a:srgbClr val="1A1D21"/>
                </a:solidFill>
                <a:latin typeface="Segoe UI Semibold"/>
              </a:rPr>
              <a:t>Professional developers label the code; no model is tested on a project it saw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MLCQ (Madeyski &amp; Lewowski, 2020): reviewed by 26 professional developers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091879" y="457200"/>
            <a:ext cx="713232" cy="329184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Segoe UI Semibold"/>
              </a:rPr>
              <a:t>Q1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96551" y="457200"/>
            <a:ext cx="713232" cy="329184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Segoe UI Semibold"/>
              </a:rPr>
              <a:t>Q2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01223" y="457200"/>
            <a:ext cx="713232" cy="329184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C5560"/>
                </a:solidFill>
                <a:latin typeface="Segoe UI Semibold"/>
              </a:rPr>
              <a:t>Q3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1879" y="859536"/>
            <a:ext cx="2322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F4E79"/>
                </a:solidFill>
                <a:latin typeface="Segoe UI Semibold"/>
              </a:rPr>
              <a:t>testing Q1 · Q2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0">
                <a:solidFill>
                  <a:srgbClr val="1F4E79"/>
                </a:solidFill>
                <a:latin typeface="Segoe UI Semibold"/>
              </a:rPr>
              <a:t>9,046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pieces of code (classes or methods) judged by professional developers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938528"/>
            <a:ext cx="45720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>
                <a:solidFill>
                  <a:srgbClr val="1F4E79"/>
                </a:solidFill>
                <a:latin typeface="Segoe UI Semibold"/>
              </a:rPr>
              <a:t>512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open-source projects they come from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611880"/>
            <a:ext cx="1115568" cy="1463040"/>
          </a:xfrm>
          <a:prstGeom prst="roundRect">
            <a:avLst>
              <a:gd name="adj" fmla="val 6557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3794760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25296" y="3794760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536192" y="3794760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4105656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225296" y="4105656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536192" y="4105656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4416552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225296" y="4416552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536192" y="4416552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672584"/>
            <a:ext cx="11155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learn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48256" y="3611880"/>
            <a:ext cx="1115568" cy="1463040"/>
          </a:xfrm>
          <a:prstGeom prst="roundRect">
            <a:avLst>
              <a:gd name="adj" fmla="val 6557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185416" y="3794760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496312" y="3794760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807208" y="3794760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185416" y="4105656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496312" y="4105656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807208" y="4105656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185416" y="4416552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496312" y="4416552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807208" y="4416552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48256" y="4672584"/>
            <a:ext cx="11155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learn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19272" y="3611880"/>
            <a:ext cx="1115568" cy="1463040"/>
          </a:xfrm>
          <a:prstGeom prst="roundRect">
            <a:avLst>
              <a:gd name="adj" fmla="val 6557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456432" y="3794760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767328" y="3794760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078224" y="3794760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456432" y="4105656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767328" y="4105656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078224" y="4105656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456432" y="4416552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767328" y="4416552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078224" y="4416552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19272" y="4672584"/>
            <a:ext cx="11155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learn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90288" y="3611880"/>
            <a:ext cx="1115568" cy="1463040"/>
          </a:xfrm>
          <a:prstGeom prst="roundRect">
            <a:avLst>
              <a:gd name="adj" fmla="val 6557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727448" y="3794760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038344" y="3794760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349240" y="3794760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727448" y="4105656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038344" y="4105656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349240" y="4105656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727448" y="4416552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038344" y="4416552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349240" y="4416552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90288" y="4672584"/>
            <a:ext cx="11155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learn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861304" y="3611880"/>
            <a:ext cx="1115568" cy="1463040"/>
          </a:xfrm>
          <a:prstGeom prst="roundRect">
            <a:avLst>
              <a:gd name="adj" fmla="val 6557"/>
            </a:avLst>
          </a:prstGeom>
          <a:solidFill>
            <a:srgbClr val="E4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5998464" y="3794760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309360" y="3794760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620256" y="3794760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5998464" y="4105656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309360" y="4105656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620256" y="4105656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5998464" y="4416552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309360" y="4416552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620256" y="4416552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861304" y="4672584"/>
            <a:ext cx="11155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F4E79"/>
                </a:solidFill>
                <a:latin typeface="Segoe UI Semibold"/>
              </a:rPr>
              <a:t>test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7240" y="5212080"/>
            <a:ext cx="619963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Projects split into 5 groups: learn from four, test on the fifth, which the model has never seen. Five times.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388352" y="3611880"/>
            <a:ext cx="4026103" cy="2240280"/>
          </a:xfrm>
          <a:prstGeom prst="roundRect">
            <a:avLst>
              <a:gd name="adj" fmla="val 3265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616952" y="3794760"/>
            <a:ext cx="3568903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A1D21"/>
                </a:solidFill>
                <a:latin typeface="Segoe UI Semibold"/>
              </a:rPr>
              <a:t>Why the score is MCC, not accuracy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4000">
                <a:solidFill>
                  <a:srgbClr val="8C2F22"/>
                </a:solidFill>
                <a:latin typeface="Segoe UI Semibold"/>
              </a:rPr>
              <a:t>92.8%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600">
                <a:solidFill>
                  <a:srgbClr val="1A1D21"/>
                </a:solidFill>
                <a:latin typeface="Segoe UI"/>
              </a:rPr>
              <a:t>accuracy of a detector that always says “clean” on Feature Envy. Its MCC is 0, the same as guessing.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724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Florent Latifi  ·  UBT 2026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81226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>
                <a:solidFill>
                  <a:srgbClr val="1A1D21"/>
                </a:solidFill>
                <a:latin typeface="Segoe UI Semibold"/>
              </a:rPr>
              <a:t>Learned models beat the rules on all four smells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Same 9,046 samples, same scoring · higher is better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091879" y="457200"/>
            <a:ext cx="713232" cy="329184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Segoe UI Semibold"/>
              </a:rPr>
              <a:t>Q1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96551" y="457200"/>
            <a:ext cx="713232" cy="329184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Segoe UI Semibold"/>
              </a:rPr>
              <a:t>Q2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01223" y="457200"/>
            <a:ext cx="713232" cy="329184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C5560"/>
                </a:solidFill>
                <a:latin typeface="Segoe UI Semibold"/>
              </a:rPr>
              <a:t>Q3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1879" y="859536"/>
            <a:ext cx="2322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F4E79"/>
                </a:solidFill>
                <a:latin typeface="Segoe UI Semibold"/>
              </a:rPr>
              <a:t>answers Q1 · Q2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828800"/>
          <a:ext cx="7498079" cy="4297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41080" y="1783080"/>
            <a:ext cx="27733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A1D21"/>
                </a:solidFill>
                <a:latin typeface="Segoe UI Semibold"/>
              </a:rPr>
              <a:t>How to read MCC</a:t>
            </a:r>
          </a:p>
        </p:txBody>
      </p:sp>
      <p:sp>
        <p:nvSpPr>
          <p:cNvPr id="9" name="Rectangle 8"/>
          <p:cNvSpPr/>
          <p:nvPr/>
        </p:nvSpPr>
        <p:spPr>
          <a:xfrm>
            <a:off x="8641080" y="2176272"/>
            <a:ext cx="2773375" cy="36576"/>
          </a:xfrm>
          <a:prstGeom prst="rect">
            <a:avLst/>
          </a:prstGeom>
          <a:solidFill>
            <a:srgbClr val="C9D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41080" y="2103120"/>
            <a:ext cx="36576" cy="182880"/>
          </a:xfrm>
          <a:prstGeom prst="rect">
            <a:avLst/>
          </a:prstGeom>
          <a:solidFill>
            <a:srgbClr val="4C5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41080" y="2340864"/>
            <a:ext cx="1386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C5560"/>
                </a:solidFill>
                <a:latin typeface="Segoe UI Semibold"/>
              </a:rPr>
              <a:t>0 = guessing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77879" y="2103120"/>
            <a:ext cx="36576" cy="182880"/>
          </a:xfrm>
          <a:prstGeom prst="rect">
            <a:avLst/>
          </a:prstGeom>
          <a:solidFill>
            <a:srgbClr val="4C5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27768" y="2340864"/>
            <a:ext cx="1386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C5560"/>
                </a:solidFill>
                <a:latin typeface="Segoe UI Semibold"/>
              </a:rPr>
              <a:t>1 = perfect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2926080"/>
            <a:ext cx="27733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A1D21"/>
                </a:solidFill>
                <a:latin typeface="Segoe UI Semibold"/>
              </a:rPr>
              <a:t>Out of 100 real smells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3246120"/>
            <a:ext cx="277337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>
                <a:solidFill>
                  <a:srgbClr val="5E6874"/>
                </a:solidFill>
                <a:latin typeface="Segoe UI Semibold"/>
              </a:rPr>
              <a:t>17–47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found by the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4297680"/>
            <a:ext cx="277337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>
                <a:solidFill>
                  <a:srgbClr val="1F4E79"/>
                </a:solidFill>
                <a:latin typeface="Segoe UI Semibold"/>
              </a:rPr>
              <a:t>30–83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found by the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5349240"/>
            <a:ext cx="27733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The price: usually more false alarms.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Florent Latifi  ·  UBT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81226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>
                <a:solidFill>
                  <a:srgbClr val="1A1D21"/>
                </a:solidFill>
                <a:latin typeface="Segoe UI Semibold"/>
              </a:rPr>
              <a:t>For Feature Envy, even two experts agree no better than chance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Two reviewers judged the same code: how often did they agree?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091879" y="457200"/>
            <a:ext cx="713232" cy="329184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C5560"/>
                </a:solidFill>
                <a:latin typeface="Segoe UI Semibold"/>
              </a:rPr>
              <a:t>Q1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96551" y="457200"/>
            <a:ext cx="713232" cy="329184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Segoe UI Semibold"/>
              </a:rPr>
              <a:t>Q2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01223" y="457200"/>
            <a:ext cx="713232" cy="329184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C5560"/>
                </a:solidFill>
                <a:latin typeface="Segoe UI Semibold"/>
              </a:rPr>
              <a:t>Q3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1879" y="859536"/>
            <a:ext cx="2322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F4E79"/>
                </a:solidFill>
                <a:latin typeface="Segoe UI Semibold"/>
              </a:rPr>
              <a:t>explains Q2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828800"/>
          <a:ext cx="7498079" cy="4297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41080" y="1783080"/>
            <a:ext cx="27733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A1D21"/>
                </a:solidFill>
                <a:latin typeface="Segoe UI Semibold"/>
              </a:rPr>
              <a:t>How to read MCC</a:t>
            </a:r>
          </a:p>
        </p:txBody>
      </p:sp>
      <p:sp>
        <p:nvSpPr>
          <p:cNvPr id="9" name="Rectangle 8"/>
          <p:cNvSpPr/>
          <p:nvPr/>
        </p:nvSpPr>
        <p:spPr>
          <a:xfrm>
            <a:off x="8641080" y="2176272"/>
            <a:ext cx="2773375" cy="36576"/>
          </a:xfrm>
          <a:prstGeom prst="rect">
            <a:avLst/>
          </a:prstGeom>
          <a:solidFill>
            <a:srgbClr val="C9D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41080" y="2103120"/>
            <a:ext cx="36576" cy="182880"/>
          </a:xfrm>
          <a:prstGeom prst="rect">
            <a:avLst/>
          </a:prstGeom>
          <a:solidFill>
            <a:srgbClr val="4C5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41080" y="2340864"/>
            <a:ext cx="1386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C5560"/>
                </a:solidFill>
                <a:latin typeface="Segoe UI Semibold"/>
              </a:rPr>
              <a:t>0 = guessing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77879" y="2103120"/>
            <a:ext cx="36576" cy="182880"/>
          </a:xfrm>
          <a:prstGeom prst="rect">
            <a:avLst/>
          </a:prstGeom>
          <a:solidFill>
            <a:srgbClr val="4C5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27768" y="2340864"/>
            <a:ext cx="1386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C5560"/>
                </a:solidFill>
                <a:latin typeface="Segoe UI Semibold"/>
              </a:rPr>
              <a:t>1 = perfect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2926080"/>
            <a:ext cx="277337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0">
                <a:solidFill>
                  <a:srgbClr val="8C2F22"/>
                </a:solidFill>
                <a:latin typeface="Segoe UI Semibold"/>
              </a:rPr>
              <a:t>−0.07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Feature Envy: agreement of a coin flip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4526280"/>
            <a:ext cx="277337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1A1D21"/>
                </a:solidFill>
                <a:latin typeface="Segoe UI Semibold"/>
              </a:rPr>
              <a:t>If experts do not agree on what a smell is, no detector can learn it well.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Florent Latifi  ·  UBT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81226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>
                <a:solidFill>
                  <a:srgbClr val="1A1D21"/>
                </a:solidFill>
                <a:latin typeface="Segoe UI Semibold"/>
              </a:rPr>
              <a:t>The engine rewrites only what it can prove, and refuses the rest with a reason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Three transformations: Extract Method · Guard Clauses · Introduce Parameter Object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091879" y="457200"/>
            <a:ext cx="713232" cy="329184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C5560"/>
                </a:solidFill>
                <a:latin typeface="Segoe UI Semibold"/>
              </a:rPr>
              <a:t>Q1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96551" y="457200"/>
            <a:ext cx="713232" cy="329184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C5560"/>
                </a:solidFill>
                <a:latin typeface="Segoe UI Semibold"/>
              </a:rPr>
              <a:t>Q2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01223" y="457200"/>
            <a:ext cx="713232" cy="329184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Segoe UI Semibold"/>
              </a:rPr>
              <a:t>Q3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1879" y="859536"/>
            <a:ext cx="2322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F4E79"/>
                </a:solidFill>
                <a:latin typeface="Segoe UI Semibold"/>
              </a:rPr>
              <a:t>answers Q3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4000">
                <a:solidFill>
                  <a:srgbClr val="1A1D21"/>
                </a:solidFill>
                <a:latin typeface="Segoe UI Semibold"/>
              </a:rPr>
              <a:t>15,800</a:t>
            </a:r>
            <a:r>
              <a:rPr sz="1600">
                <a:solidFill>
                  <a:srgbClr val="4C5560"/>
                </a:solidFill>
                <a:latin typeface="Segoe UI"/>
              </a:rPr>
              <a:t>   places in the code where a fix could apply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06040"/>
            <a:ext cx="2377888" cy="73152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FFFFFF"/>
                </a:solidFill>
                <a:latin typeface="Segoe UI Semibold"/>
              </a:rPr>
              <a:t>3,532 rewritten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FFFFFF"/>
                </a:solidFill>
                <a:latin typeface="Segoe UI"/>
              </a:rPr>
              <a:t>22.4%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848" y="2606040"/>
            <a:ext cx="8202834" cy="731520"/>
          </a:xfrm>
          <a:prstGeom prst="roundRect">
            <a:avLst>
              <a:gd name="adj" fmla="val 10000"/>
            </a:avLst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A1D21"/>
                </a:solidFill>
                <a:latin typeface="Segoe UI Semibold"/>
              </a:rPr>
              <a:t>12,252 refused: not provably safe, each with a reason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A1D21"/>
                </a:solidFill>
                <a:latin typeface="Segoe UI"/>
              </a:rPr>
              <a:t>77.5%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118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 Semibold"/>
              </a:rPr>
              <a:t>What happened to the 3,532 rewrites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23360"/>
            <a:ext cx="3362858" cy="1645920"/>
          </a:xfrm>
          <a:prstGeom prst="roundRect">
            <a:avLst>
              <a:gd name="adj" fmla="val 4444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06240"/>
            <a:ext cx="2905658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>
                <a:solidFill>
                  <a:srgbClr val="1F4E79"/>
                </a:solidFill>
                <a:latin typeface="Segoe UI Semibold"/>
              </a:rPr>
              <a:t>64.8%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600">
                <a:solidFill>
                  <a:srgbClr val="1A1D21"/>
                </a:solidFill>
                <a:latin typeface="Segoe UI"/>
              </a:rPr>
              <a:t>removed the smell they were made for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4418" y="4023360"/>
            <a:ext cx="3362858" cy="1645920"/>
          </a:xfrm>
          <a:prstGeom prst="roundRect">
            <a:avLst>
              <a:gd name="adj" fmla="val 4444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3018" y="4206240"/>
            <a:ext cx="2905658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>
                <a:solidFill>
                  <a:srgbClr val="1F4E79"/>
                </a:solidFill>
                <a:latin typeface="Segoe UI Semibold"/>
              </a:rPr>
              <a:t>1.6%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600">
                <a:solidFill>
                  <a:srgbClr val="1A1D21"/>
                </a:solidFill>
                <a:latin typeface="Segoe UI"/>
              </a:rPr>
              <a:t>added a new kind of compile error, so they are never written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1596" y="4023360"/>
            <a:ext cx="3362858" cy="1645920"/>
          </a:xfrm>
          <a:prstGeom prst="roundRect">
            <a:avLst>
              <a:gd name="adj" fmla="val 4444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0196" y="4206240"/>
            <a:ext cx="2905658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>
                <a:solidFill>
                  <a:srgbClr val="1F4E79"/>
                </a:solidFill>
                <a:latin typeface="Segoe UI Semibold"/>
              </a:rPr>
              <a:t>62.9%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600">
                <a:solidFill>
                  <a:srgbClr val="1A1D21"/>
                </a:solidFill>
                <a:latin typeface="Segoe UI"/>
              </a:rPr>
              <a:t>acceptable to a developer, in a manual review of 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Florent Latifi  ·  UBT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81226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>
                <a:solidFill>
                  <a:srgbClr val="1A1D21"/>
                </a:solidFill>
                <a:latin typeface="Segoe UI Semibold"/>
              </a:rPr>
              <a:t>Real code: the outer if becomes an early return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Apache Geode · DistributedRegion.checkForLimitedOrNoAccess · Guard Clauses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091879" y="457200"/>
            <a:ext cx="713232" cy="329184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C5560"/>
                </a:solidFill>
                <a:latin typeface="Segoe UI Semibold"/>
              </a:rPr>
              <a:t>Q1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96551" y="457200"/>
            <a:ext cx="713232" cy="329184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C5560"/>
                </a:solidFill>
                <a:latin typeface="Segoe UI Semibold"/>
              </a:rPr>
              <a:t>Q2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01223" y="457200"/>
            <a:ext cx="713232" cy="329184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Segoe UI Semibold"/>
              </a:rPr>
              <a:t>Q3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1879" y="859536"/>
            <a:ext cx="2322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F4E79"/>
                </a:solidFill>
                <a:latin typeface="Segoe UI Semibold"/>
              </a:rPr>
              <a:t>example for Q3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7589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C5560"/>
                </a:solidFill>
                <a:latin typeface="Segoe UI Semibold"/>
              </a:rPr>
              <a:t>Before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73936"/>
            <a:ext cx="7589520" cy="1885950"/>
          </a:xfrm>
          <a:prstGeom prst="roundRect">
            <a:avLst>
              <a:gd name="adj" fmla="val 3878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43836"/>
            <a:ext cx="7589520" cy="189230"/>
          </a:xfrm>
          <a:prstGeom prst="rect">
            <a:avLst/>
          </a:prstGeom>
          <a:solidFill>
            <a:srgbClr val="F7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3379216"/>
            <a:ext cx="7589520" cy="189230"/>
          </a:xfrm>
          <a:prstGeom prst="rect">
            <a:avLst/>
          </a:prstGeom>
          <a:solidFill>
            <a:srgbClr val="F7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1865376"/>
            <a:ext cx="7296912" cy="17030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D21"/>
                </a:solidFill>
                <a:latin typeface="Consolas"/>
              </a:rPr>
              <a:t>@Override</a:t>
            </a:r>
          </a:p>
          <a:p>
            <a:pPr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D21"/>
                </a:solidFill>
                <a:latin typeface="Consolas"/>
              </a:rPr>
              <a:t>public void checkForLimitedOrNoAccess() {</a:t>
            </a:r>
          </a:p>
          <a:p>
            <a:pPr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C2F22"/>
                </a:solidFill>
                <a:latin typeface="Consolas"/>
              </a:rPr>
              <a:t>  if (this.requiresReliabilityCheck &amp;&amp; this.isMissingRequiredRoles) {</a:t>
            </a:r>
          </a:p>
          <a:p>
            <a:pPr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D21"/>
                </a:solidFill>
                <a:latin typeface="Consolas"/>
              </a:rPr>
              <a:t>    if (getMembershipAttributes().getLossAction().isNoAccess()</a:t>
            </a:r>
          </a:p>
          <a:p>
            <a:pPr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D21"/>
                </a:solidFill>
                <a:latin typeface="Consolas"/>
              </a:rPr>
              <a:t>        || getMembershipAttributes().getLossAction().isLimitedAccess()) {</a:t>
            </a:r>
          </a:p>
          <a:p>
            <a:pPr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D21"/>
                </a:solidFill>
                <a:latin typeface="Consolas"/>
              </a:rPr>
              <a:t>      synchronized (this.missingRequiredRoles) { /* … 9 unchanged lines */ }</a:t>
            </a:r>
          </a:p>
          <a:p>
            <a:pPr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D21"/>
                </a:solidFill>
                <a:latin typeface="Consolas"/>
              </a:rPr>
              <a:t>    }</a:t>
            </a:r>
          </a:p>
          <a:p>
            <a:pPr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D21"/>
                </a:solidFill>
                <a:latin typeface="Consolas"/>
              </a:rPr>
              <a:t>  }</a:t>
            </a:r>
          </a:p>
          <a:p>
            <a:pPr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C2F22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51326"/>
            <a:ext cx="7589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C5560"/>
                </a:solidFill>
                <a:latin typeface="Segoe UI Semibold"/>
              </a:rPr>
              <a:t>After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062222"/>
            <a:ext cx="7589520" cy="2075180"/>
          </a:xfrm>
          <a:prstGeom prst="roundRect">
            <a:avLst>
              <a:gd name="adj" fmla="val 3525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4532122"/>
            <a:ext cx="7589520" cy="189230"/>
          </a:xfrm>
          <a:prstGeom prst="rect">
            <a:avLst/>
          </a:prstGeom>
          <a:solidFill>
            <a:srgbClr val="DF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4721352"/>
            <a:ext cx="7589520" cy="189230"/>
          </a:xfrm>
          <a:prstGeom prst="rect">
            <a:avLst/>
          </a:prstGeom>
          <a:solidFill>
            <a:srgbClr val="DF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910582"/>
            <a:ext cx="7589520" cy="189230"/>
          </a:xfrm>
          <a:prstGeom prst="rect">
            <a:avLst/>
          </a:prstGeom>
          <a:solidFill>
            <a:srgbClr val="DF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" y="4153662"/>
            <a:ext cx="7296912" cy="1892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D21"/>
                </a:solidFill>
                <a:latin typeface="Consolas"/>
              </a:rPr>
              <a:t>@Override</a:t>
            </a:r>
          </a:p>
          <a:p>
            <a:pPr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D21"/>
                </a:solidFill>
                <a:latin typeface="Consolas"/>
              </a:rPr>
              <a:t>public void checkForLimitedOrNoAccess() {</a:t>
            </a:r>
          </a:p>
          <a:p>
            <a:pPr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F6F45"/>
                </a:solidFill>
                <a:latin typeface="Consolas"/>
              </a:rPr>
              <a:t>  if (!(this.requiresReliabilityCheck &amp;&amp; this.isMissingRequiredRoles)) {</a:t>
            </a:r>
          </a:p>
          <a:p>
            <a:pPr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F6F45"/>
                </a:solidFill>
                <a:latin typeface="Consolas"/>
              </a:rPr>
              <a:t>    return;</a:t>
            </a:r>
          </a:p>
          <a:p>
            <a:pPr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F6F45"/>
                </a:solidFill>
                <a:latin typeface="Consolas"/>
              </a:rPr>
              <a:t>  }</a:t>
            </a:r>
          </a:p>
          <a:p>
            <a:pPr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D21"/>
                </a:solidFill>
                <a:latin typeface="Consolas"/>
              </a:rPr>
              <a:t>  if (getMembershipAttributes().getLossAction().isNoAccess()</a:t>
            </a:r>
          </a:p>
          <a:p>
            <a:pPr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D21"/>
                </a:solidFill>
                <a:latin typeface="Consolas"/>
              </a:rPr>
              <a:t>      || getMembershipAttributes().getLossAction().isLimitedAccess()) {</a:t>
            </a:r>
          </a:p>
          <a:p>
            <a:pPr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D21"/>
                </a:solidFill>
                <a:latin typeface="Consolas"/>
              </a:rPr>
              <a:t>    synchronized (this.missingRequiredRoles) { /* … 9 unchanged lines */ }</a:t>
            </a:r>
          </a:p>
          <a:p>
            <a:pPr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D21"/>
                </a:solidFill>
                <a:latin typeface="Consolas"/>
              </a:rPr>
              <a:t>  }</a:t>
            </a:r>
          </a:p>
          <a:p>
            <a:pPr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D21"/>
                </a:solidFill>
                <a:latin typeface="Consolas"/>
              </a:rPr>
              <a:t>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1600200"/>
            <a:ext cx="268193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>
                <a:solidFill>
                  <a:srgbClr val="2F6F45"/>
                </a:solidFill>
                <a:latin typeface="Segoe UI Semibold"/>
              </a:rPr>
              <a:t>−1 level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600">
                <a:solidFill>
                  <a:srgbClr val="1A1D21"/>
                </a:solidFill>
                <a:latin typeface="Segoe UI"/>
              </a:rPr>
              <a:t>of nesting: everything after the guard moves up</a:t>
            </a:r>
          </a:p>
        </p:txBody>
      </p:sp>
      <p:sp>
        <p:nvSpPr>
          <p:cNvPr id="19" name="Oval 18"/>
          <p:cNvSpPr/>
          <p:nvPr/>
        </p:nvSpPr>
        <p:spPr>
          <a:xfrm>
            <a:off x="8732520" y="3246120"/>
            <a:ext cx="329184" cy="329184"/>
          </a:xfrm>
          <a:prstGeom prst="ellipse">
            <a:avLst/>
          </a:prstGeom>
          <a:solidFill>
            <a:srgbClr val="2F6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3246120"/>
            <a:ext cx="222473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A1D21"/>
                </a:solidFill>
                <a:latin typeface="Segoe UI"/>
              </a:rPr>
              <a:t>The outer condition becomes an early return.</a:t>
            </a:r>
          </a:p>
        </p:txBody>
      </p:sp>
      <p:sp>
        <p:nvSpPr>
          <p:cNvPr id="21" name="Oval 20"/>
          <p:cNvSpPr/>
          <p:nvPr/>
        </p:nvSpPr>
        <p:spPr>
          <a:xfrm>
            <a:off x="8732520" y="4160520"/>
            <a:ext cx="329184" cy="32918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4160520"/>
            <a:ext cx="222473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A1D21"/>
                </a:solidFill>
                <a:latin typeface="Segoe UI"/>
              </a:rPr>
              <a:t>Passed the javac check.</a:t>
            </a:r>
          </a:p>
        </p:txBody>
      </p:sp>
      <p:sp>
        <p:nvSpPr>
          <p:cNvPr id="23" name="Oval 22"/>
          <p:cNvSpPr/>
          <p:nvPr/>
        </p:nvSpPr>
        <p:spPr>
          <a:xfrm>
            <a:off x="8732520" y="5074920"/>
            <a:ext cx="329184" cy="32918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5074920"/>
            <a:ext cx="222473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A1D21"/>
                </a:solidFill>
                <a:latin typeface="Segoe UI"/>
              </a:rPr>
              <a:t>Judged acceptable as-is in the manual review.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Florent Latifi  ·  UBT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7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81226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>
                <a:solidFill>
                  <a:srgbClr val="F4F6F9"/>
                </a:solidFill>
                <a:latin typeface="Segoe UI Semibold"/>
              </a:rPr>
              <a:t>Three answers, and their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F08A7E"/>
                </a:solidFill>
                <a:latin typeface="Segoe UI Semibold"/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4206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Bef>
                <a:spcPts val="0"/>
              </a:spcBef>
              <a:spcAft>
                <a:spcPts val="1200"/>
              </a:spcAft>
              <a:buClr>
                <a:srgbClr val="F08A7E"/>
              </a:buClr>
              <a:buFont typeface="Arial"/>
              <a:buChar char="•"/>
            </a:pPr>
            <a:r>
              <a:rPr sz="1600">
                <a:solidFill>
                  <a:srgbClr val="F4F6F9"/>
                </a:solidFill>
                <a:latin typeface="Segoe UI"/>
              </a:rPr>
              <a:t>Compiles ≠ behaves the same: project tests were not run.</a:t>
            </a:r>
          </a:p>
          <a:p>
            <a:pPr algn="l" marL="274320" indent="-274320">
              <a:spcBef>
                <a:spcPts val="0"/>
              </a:spcBef>
              <a:spcAft>
                <a:spcPts val="1200"/>
              </a:spcAft>
              <a:buClr>
                <a:srgbClr val="F08A7E"/>
              </a:buClr>
              <a:buFont typeface="Arial"/>
              <a:buChar char="•"/>
            </a:pPr>
            <a:r>
              <a:rPr sz="1600">
                <a:solidFill>
                  <a:srgbClr val="F4F6F9"/>
                </a:solidFill>
                <a:latin typeface="Segoe UI"/>
              </a:rPr>
              <a:t>One dataset, four smells, Java only.</a:t>
            </a:r>
          </a:p>
          <a:p>
            <a:pPr algn="l" marL="274320" indent="-274320">
              <a:spcBef>
                <a:spcPts val="0"/>
              </a:spcBef>
              <a:spcAft>
                <a:spcPts val="1200"/>
              </a:spcAft>
              <a:buClr>
                <a:srgbClr val="F08A7E"/>
              </a:buClr>
              <a:buFont typeface="Arial"/>
              <a:buChar char="•"/>
            </a:pPr>
            <a:r>
              <a:rPr sz="1600">
                <a:solidFill>
                  <a:srgbClr val="F4F6F9"/>
                </a:solidFill>
                <a:latin typeface="Segoe UI"/>
              </a:rPr>
              <a:t>Best model chosen on the same predictions: slightly optimistic.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32120" y="1417320"/>
            <a:ext cx="58823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8DBBE6"/>
                </a:solidFill>
                <a:latin typeface="Segoe UI Semibold"/>
              </a:rPr>
              <a:t>Answers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32120" y="1965960"/>
            <a:ext cx="566928" cy="329184"/>
          </a:xfrm>
          <a:prstGeom prst="roundRect">
            <a:avLst>
              <a:gd name="adj" fmla="val 50000"/>
            </a:avLst>
          </a:prstGeom>
          <a:solidFill>
            <a:srgbClr val="8DB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E2740"/>
                </a:solidFill>
                <a:latin typeface="Segoe UI Semibold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1928" y="1947672"/>
            <a:ext cx="513252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F4F6F9"/>
                </a:solidFill>
                <a:latin typeface="Segoe UI"/>
              </a:rPr>
              <a:t>Rules are precise, but find only 17–47 of every 100 smells.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2120" y="2834640"/>
            <a:ext cx="566928" cy="329184"/>
          </a:xfrm>
          <a:prstGeom prst="roundRect">
            <a:avLst>
              <a:gd name="adj" fmla="val 50000"/>
            </a:avLst>
          </a:prstGeom>
          <a:solidFill>
            <a:srgbClr val="8DB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E2740"/>
                </a:solidFill>
                <a:latin typeface="Segoe UI Semibold"/>
              </a:rPr>
              <a:t>Q2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1928" y="2816352"/>
            <a:ext cx="513252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F4F6F9"/>
                </a:solidFill>
                <a:latin typeface="Segoe UI"/>
              </a:rPr>
              <a:t>Learned models do better on all four, clearly on three.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32120" y="3703320"/>
            <a:ext cx="566928" cy="329184"/>
          </a:xfrm>
          <a:prstGeom prst="roundRect">
            <a:avLst>
              <a:gd name="adj" fmla="val 50000"/>
            </a:avLst>
          </a:prstGeom>
          <a:solidFill>
            <a:srgbClr val="8DB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E2740"/>
                </a:solidFill>
                <a:latin typeface="Segoe UI Semibold"/>
              </a:rPr>
              <a:t>Q3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1928" y="3685032"/>
            <a:ext cx="513252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F4F6F9"/>
                </a:solidFill>
                <a:latin typeface="Segoe UI"/>
              </a:rPr>
              <a:t>Yes, for 22% of places, and nothing that breaks compiling is written.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983480"/>
            <a:ext cx="106372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>
                <a:solidFill>
                  <a:srgbClr val="F4F6F9"/>
                </a:solidFill>
                <a:latin typeface="Segoe UI Semibold"/>
              </a:rPr>
              <a:t>Thank you  ·  Questions?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600">
                <a:solidFill>
                  <a:srgbClr val="A9B8C9"/>
                </a:solidFill>
                <a:latin typeface="Segoe UI"/>
              </a:rPr>
              <a:t>github.com/FlorentLatifi/Code-Smell-Detection-and-Refactoring-Recommendations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A9B8C9"/>
                </a:solidFill>
                <a:latin typeface="Segoe UI"/>
              </a:rPr>
              <a:t>Florent Latifi  ·  UBT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A9B8C9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81226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>
                <a:solidFill>
                  <a:srgbClr val="4C5560"/>
                </a:solidFill>
                <a:latin typeface="Segoe UI Semibold"/>
              </a:rPr>
              <a:t>Backup · </a:t>
            </a:r>
            <a:r>
              <a:rPr sz="2800">
                <a:solidFill>
                  <a:srgbClr val="1A1D21"/>
                </a:solidFill>
                <a:latin typeface="Segoe UI Semibold"/>
              </a:rPr>
              <a:t>Full detection results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Precision, recall and MCC for both approaches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Florent Latifi  ·  UBT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828800"/>
          <a:ext cx="1063721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7747"/>
                <a:gridCol w="967019"/>
                <a:gridCol w="967019"/>
                <a:gridCol w="1243310"/>
                <a:gridCol w="2624767"/>
                <a:gridCol w="967019"/>
                <a:gridCol w="967019"/>
                <a:gridCol w="1243310"/>
              </a:tblGrid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Smell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Rules P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Rules R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Rules MCC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Model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Model P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Model R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Model MCC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 Semibold"/>
                        </a:rPr>
                        <a:t>Blob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0.816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0.174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0.336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Logistic regression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0.510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0.770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0.539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 Semibold"/>
                        </a:rPr>
                        <a:t>Data Class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0.765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0.230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0.367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Gradient boosting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0.546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0.590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0.473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 Semibold"/>
                        </a:rPr>
                        <a:t>Feature Envy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0.413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0.188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0.243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Gradient boosting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0.438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0.297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0.321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 Semibold"/>
                        </a:rPr>
                        <a:t>Long Method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0.888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0.470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0.617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Random forest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0.690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0.833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0.723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81226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>
                <a:solidFill>
                  <a:srgbClr val="4C5560"/>
                </a:solidFill>
                <a:latin typeface="Segoe UI Semibold"/>
              </a:rPr>
              <a:t>Backup · </a:t>
            </a:r>
            <a:r>
              <a:rPr sz="2800">
                <a:solidFill>
                  <a:srgbClr val="1A1D21"/>
                </a:solidFill>
                <a:latin typeface="Segoe UI Semibold"/>
              </a:rPr>
              <a:t>Confidence intervals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95% bootstrap intervals, resampling whole repositories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Florent Latifi  ·  UBT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828800"/>
          <a:ext cx="1063721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3793"/>
                <a:gridCol w="2291092"/>
                <a:gridCol w="2291092"/>
                <a:gridCol w="2454741"/>
                <a:gridCol w="1636494"/>
              </a:tblGrid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Smell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Rules (A)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Model (B)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B − A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Above zero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 Semibold"/>
                        </a:rPr>
                        <a:t>Blob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[0.274, 0.393]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[0.494, 0.581]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[0.138, 0.271]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 Semibold"/>
                        </a:rPr>
                        <a:t>Data Class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[0.313, 0.423]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[0.419, 0.530]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[0.050, 0.163]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 Semibold"/>
                        </a:rPr>
                        <a:t>Feature Envy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[0.158, 0.330]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[0.246, 0.398]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[-0.012, 0.166]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 Semibold"/>
                        </a:rPr>
                        <a:t>Long Method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[0.559, 0.667]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[0.681, 0.768]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[0.050, 0.165]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81226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>
                <a:solidFill>
                  <a:srgbClr val="4C5560"/>
                </a:solidFill>
                <a:latin typeface="Segoe UI Semibold"/>
              </a:rPr>
              <a:t>Backup · </a:t>
            </a:r>
            <a:r>
              <a:rPr sz="2800">
                <a:solidFill>
                  <a:srgbClr val="1A1D21"/>
                </a:solidFill>
                <a:latin typeface="Segoe UI Semibold"/>
              </a:rPr>
              <a:t>Every algorithm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MCC of each classifier, same folds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Florent Latifi  ·  UBT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13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828800"/>
          <a:ext cx="1063721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3522"/>
                <a:gridCol w="2887244"/>
                <a:gridCol w="1975482"/>
                <a:gridCol w="2583323"/>
                <a:gridCol w="1367641"/>
              </a:tblGrid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Smell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Logistic regression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Random forest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Gradient boosting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Rules (A)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 Semibold"/>
                        </a:rPr>
                        <a:t>Blob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0.539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0.510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0.505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0.336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 Semibold"/>
                        </a:rPr>
                        <a:t>Data Class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0.426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0.471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0.473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0.367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 Semibold"/>
                        </a:rPr>
                        <a:t>Feature Envy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0.241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0.296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0.321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0.243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 Semibold"/>
                        </a:rPr>
                        <a:t>Long Method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0.707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0.723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0.700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0.617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81226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>
                <a:solidFill>
                  <a:srgbClr val="4C5560"/>
                </a:solidFill>
                <a:latin typeface="Segoe UI Semibold"/>
              </a:rPr>
              <a:t>Backup · </a:t>
            </a:r>
            <a:r>
              <a:rPr sz="2800">
                <a:solidFill>
                  <a:srgbClr val="1A1D21"/>
                </a:solidFill>
                <a:latin typeface="Segoe UI Semibold"/>
              </a:rPr>
              <a:t>Comparison with PMD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PMD 7.27.0 with its default thresholds, same samples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Florent Latifi  ·  UBT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828800"/>
          <a:ext cx="10637214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7878"/>
                <a:gridCol w="1262042"/>
                <a:gridCol w="1262042"/>
                <a:gridCol w="3245252"/>
              </a:tblGrid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Smell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PMD MCC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Our MCC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Difference, 95% CI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 Semibold"/>
                        </a:rPr>
                        <a:t>Blob (strategy)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0.382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0.342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-0.088 to +0.008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 Semibold"/>
                        </a:rPr>
                        <a:t>Blob (with size)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0.382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0.487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+0.054 to +0.158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 Semibold"/>
                        </a:rPr>
                        <a:t>Data Class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0.319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0.365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-0.012 to +0.101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 Semibold"/>
                        </a:rPr>
                        <a:t>Feature Envy (LawOfDemeter)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0.056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 Semibold"/>
                        </a:rPr>
                        <a:t>Long Method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0.221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0.615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+0.316 to +0.475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81226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>
                <a:solidFill>
                  <a:srgbClr val="4C5560"/>
                </a:solidFill>
                <a:latin typeface="Segoe UI Semibold"/>
              </a:rPr>
              <a:t>Backup · </a:t>
            </a:r>
            <a:r>
              <a:rPr sz="2800">
                <a:solidFill>
                  <a:srgbClr val="1A1D21"/>
                </a:solidFill>
                <a:latin typeface="Segoe UI Semibold"/>
              </a:rPr>
              <a:t>Verification in detail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Why sites were refused, and what compiling inside the project shows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Florent Latifi  ·  UBT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Bef>
                <a:spcPts val="0"/>
              </a:spcBef>
              <a:spcAft>
                <a:spcPts val="1200"/>
              </a:spcAft>
              <a:buClr>
                <a:srgbClr val="1F4E79"/>
              </a:buClr>
              <a:buFont typeface="Arial"/>
              <a:buChar char="•"/>
            </a:pPr>
            <a:r>
              <a:rPr sz="2000">
                <a:solidFill>
                  <a:srgbClr val="1A1D21"/>
                </a:solidFill>
                <a:latin typeface="Segoe UI"/>
              </a:rPr>
              <a:t>Code shape does not match the transformation: 7,154 sites (45.3%)</a:t>
            </a:r>
          </a:p>
          <a:p>
            <a:pPr algn="l" marL="274320" indent="-274320">
              <a:spcBef>
                <a:spcPts val="0"/>
              </a:spcBef>
              <a:spcAft>
                <a:spcPts val="1200"/>
              </a:spcAft>
              <a:buClr>
                <a:srgbClr val="1F4E79"/>
              </a:buClr>
              <a:buFont typeface="Arial"/>
              <a:buChar char="•"/>
            </a:pPr>
            <a:r>
              <a:rPr sz="2000">
                <a:solidFill>
                  <a:srgbClr val="1A1D21"/>
                </a:solidFill>
                <a:latin typeface="Segoe UI"/>
              </a:rPr>
              <a:t>A return, break or continue leaves the block: 4,050 sites (25.6%)</a:t>
            </a:r>
          </a:p>
          <a:p>
            <a:pPr algn="l" marL="274320" indent="-274320">
              <a:spcBef>
                <a:spcPts val="0"/>
              </a:spcBef>
              <a:spcAft>
                <a:spcPts val="1200"/>
              </a:spcAft>
              <a:buClr>
                <a:srgbClr val="1F4E79"/>
              </a:buClr>
              <a:buFont typeface="Arial"/>
              <a:buChar char="•"/>
            </a:pPr>
            <a:r>
              <a:rPr sz="2000">
                <a:solidFill>
                  <a:srgbClr val="1A1D21"/>
                </a:solidFill>
                <a:latin typeface="Segoe UI"/>
              </a:rPr>
              <a:t>An input value is not definitely assigned: 621 sites (3.9%)</a:t>
            </a:r>
          </a:p>
          <a:p>
            <a:pPr algn="l" marL="274320" indent="-274320">
              <a:spcBef>
                <a:spcPts val="0"/>
              </a:spcBef>
              <a:spcAft>
                <a:spcPts val="1200"/>
              </a:spcAft>
              <a:buClr>
                <a:srgbClr val="1F4E79"/>
              </a:buClr>
              <a:buFont typeface="Arial"/>
              <a:buChar char="•"/>
            </a:pPr>
            <a:r>
              <a:rPr sz="2000">
                <a:solidFill>
                  <a:srgbClr val="1A1D21"/>
                </a:solidFill>
                <a:latin typeface="Segoe UI"/>
              </a:rPr>
              <a:t>Same 201 rewrites compiled inside their project: 4 → 66 compile fully, 2 add a new error.</a:t>
            </a:r>
          </a:p>
          <a:p>
            <a:pPr algn="l" marL="274320" indent="-274320">
              <a:spcBef>
                <a:spcPts val="0"/>
              </a:spcBef>
              <a:spcAft>
                <a:spcPts val="1200"/>
              </a:spcAft>
              <a:buClr>
                <a:srgbClr val="1F4E79"/>
              </a:buClr>
              <a:buFont typeface="Arial"/>
              <a:buChar char="•"/>
            </a:pPr>
            <a:r>
              <a:rPr sz="2000">
                <a:solidFill>
                  <a:srgbClr val="1A1D21"/>
                </a:solidFill>
                <a:latin typeface="Segoe UI"/>
              </a:rPr>
              <a:t>After rewriting, 865 new smells appeared, mostly Long Parameter List from Extract Method.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81226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>
                <a:solidFill>
                  <a:srgbClr val="4C5560"/>
                </a:solidFill>
                <a:latin typeface="Segoe UI Semibold"/>
              </a:rPr>
              <a:t>Backup · </a:t>
            </a:r>
            <a:r>
              <a:rPr sz="2800">
                <a:solidFill>
                  <a:srgbClr val="1A1D21"/>
                </a:solidFill>
                <a:latin typeface="Segoe UI Semibold"/>
              </a:rPr>
              <a:t>Extract Method in the interface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jsoup · NodeTraversor.traverse, preview before any file is touched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Florent Latifi  ·  UBT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16</a:t>
            </a:r>
          </a:p>
        </p:txBody>
      </p:sp>
      <p:pic>
        <p:nvPicPr>
          <p:cNvPr id="5" name="Picture 4" descr="nderfaqja_rishkrim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28800"/>
            <a:ext cx="10637215" cy="3462487"/>
          </a:xfrm>
          <a:prstGeom prst="rect">
            <a:avLst/>
          </a:prstGeom>
          <a:ln w="9525">
            <a:solidFill>
              <a:srgbClr val="C9D0D8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81226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>
                <a:solidFill>
                  <a:srgbClr val="4C5560"/>
                </a:solidFill>
                <a:latin typeface="Segoe UI Semibold"/>
              </a:rPr>
              <a:t>Backup · </a:t>
            </a:r>
            <a:r>
              <a:rPr sz="2800">
                <a:solidFill>
                  <a:srgbClr val="1A1D21"/>
                </a:solidFill>
                <a:latin typeface="Segoe UI Semibold"/>
              </a:rPr>
              <a:t>Comparison with the literature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Madeyski &amp; Lewowski (2023), same MLCQ dataset, DS1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Florent Latifi  ·  UBT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17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828800"/>
          <a:ext cx="10637214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3825"/>
                <a:gridCol w="1772869"/>
                <a:gridCol w="1772869"/>
                <a:gridCol w="4727651"/>
              </a:tblGrid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Smell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Rules (A)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Model (B)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Madeyski &amp; Lewowski 2023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 Semibold"/>
                        </a:rPr>
                        <a:t>Blob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0.336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0.539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0.51 (RF)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 Semibold"/>
                        </a:rPr>
                        <a:t>Data Class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0.367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0.473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0.57 (RF)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 Semibold"/>
                        </a:rPr>
                        <a:t>Feature Envy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0.243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0.321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0.31 (FDA)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 Semibold"/>
                        </a:rPr>
                        <a:t>Long Method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0.617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0.723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&gt; 0.75 (RF)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