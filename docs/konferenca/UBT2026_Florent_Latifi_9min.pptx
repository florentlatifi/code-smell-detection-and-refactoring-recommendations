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 rules (A)</c:v>
                </c:pt>
              </c:strCache>
            </c:strRef>
          </c:tx>
          <c:spPr>
            <a:solidFill>
              <a:srgbClr val="87919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0.3357</c:v>
                </c:pt>
                <c:pt idx="1">
                  <c:v>0.3668</c:v>
                </c:pt>
                <c:pt idx="2">
                  <c:v>0.2429</c:v>
                </c:pt>
                <c:pt idx="3">
                  <c:v>0.6166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ML model (B)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0.5387125336366718</c:v>
                </c:pt>
                <c:pt idx="1">
                  <c:v>0.4734406599321139</c:v>
                </c:pt>
                <c:pt idx="2">
                  <c:v>0.3205120550113616</c:v>
                </c:pt>
                <c:pt idx="3">
                  <c:v>0.7232588772153082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Two reviewers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Pt>
            <c:idx val="2"/>
            <c:invertIfNegative val="0"/>
            <c:spPr>
              <a:solidFill>
                <a:srgbClr val="8C2F22"/>
              </a:solidFill>
            </c:spPr>
          </c:dPt>
          <c:cat>
            <c:strRef>
              <c:f>Sheet1!$A$2:$A$5</c:f>
              <c:strCache>
                <c:ptCount val="4"/>
                <c:pt idx="0">
                  <c:v>Blob</c:v>
                </c:pt>
                <c:pt idx="1">
                  <c:v>Data Class</c:v>
                </c:pt>
                <c:pt idx="2">
                  <c:v>Feature Envy</c:v>
                </c:pt>
                <c:pt idx="3">
                  <c:v>Long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0.3122139059809652</c:v>
                </c:pt>
                <c:pt idx="1">
                  <c:v>0.3963586974485641</c:v>
                </c:pt>
                <c:pt idx="2">
                  <c:v>-0.07063755144675195</c:v>
                </c:pt>
                <c:pt idx="3">
                  <c:v>0.5671074064341379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-0.2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Good morning, everyone.</a:t>
            </a:r>
            <a:r>
              <a:rPr i="0"/>
              <a:t> My name is Florent Latifi, and this work comes from my bachelor thesis at UBT, supervised by Altina Salihu.</a:t>
            </a:r>
            <a:r>
              <a:rPr i="0"/>
              <a:t> In the next ten minutes I will show how we can detect code smells in Java automatically, how accurate that detection really is, and how far we can go in fixing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Every developer knows the class that nobody wants to touch.</a:t>
            </a:r>
            <a:r>
              <a:rPr i="0"/>
              <a:t> The program works, but every change takes longer than it should.</a:t>
            </a:r>
            <a:r>
              <a:rPr i="0"/>
              <a:t> These design problems are called code smells.</a:t>
            </a:r>
            <a:r>
              <a:rPr i="0"/>
              <a:t> They are not bugs, but they make maintenance expensive.</a:t>
            </a:r>
            <a:r>
              <a:rPr i="0"/>
              <a:t> Most tools find them with fixed thresholds.</a:t>
            </a:r>
            <a:r>
              <a:rPr i="0"/>
              <a:t> For example, if a method is longer than a certain number of lines, it is a Long Method.</a:t>
            </a:r>
            <a:r>
              <a:rPr i="0"/>
              <a:t> But these numbers were calibrated on other code, and most tools only point at the problem.</a:t>
            </a:r>
            <a:r>
              <a:rPr i="0"/>
              <a:t> They do not fix it.</a:t>
            </a:r>
            <a:r>
              <a:rPr i="0"/>
              <a:t> So we asked three questions.</a:t>
            </a:r>
            <a:r>
              <a:rPr i="0"/>
              <a:t> First, how accurate are the published detection rules?</a:t>
            </a:r>
            <a:r>
              <a:rPr i="0"/>
              <a:t> Second, can machine learning do better with the same metrics?</a:t>
            </a:r>
            <a:r>
              <a:rPr i="0"/>
              <a:t> And third, can we fix smells automatically without breaking the code?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answer them, I built a tool called JavaSmell.</a:t>
            </a:r>
            <a:r>
              <a:rPr i="0"/>
              <a:t> It reads Java code and measures 26 metrics for every class and method.</a:t>
            </a:r>
            <a:r>
              <a:rPr i="0"/>
              <a:t> On top of these metrics there are three approaches.</a:t>
            </a:r>
            <a:r>
              <a:rPr i="0"/>
              <a:t> A uses 8 detection strategies from the literature, such as Lanza and Marinescu and Fowler.</a:t>
            </a:r>
            <a:r>
              <a:rPr i="0"/>
              <a:t> B trains machine learning classifiers on the same metrics.</a:t>
            </a:r>
            <a:r>
              <a:rPr i="0"/>
              <a:t> And C is a refactoring engine.</a:t>
            </a:r>
            <a:r>
              <a:rPr i="0"/>
              <a:t> It rewrites code only when it can prove its preconditions from the syntax tree, and then it checks the result with the Java compiler.</a:t>
            </a:r>
            <a:r>
              <a:rPr i="1"/>
              <a:t> Every detection also shows the conditions it checked, so a developer can see why a class was flagged, not only that it was.</a:t>
            </a:r>
            <a:r>
              <a:rPr i="0"/>
              <a:t> On the right you can see the web interface.</a:t>
            </a:r>
            <a:r>
              <a:rPr i="0"/>
              <a:t> It also has a plain-language mode for people without a technical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For a fair test, we need labels from people.</a:t>
            </a:r>
            <a:r>
              <a:rPr i="0"/>
              <a:t> We used MLCQ, a public dataset where professional developers reviewed real open-source Java code.</a:t>
            </a:r>
            <a:r>
              <a:rPr i="0"/>
              <a:t> After matching the samples to our tool, we have 9,046 labeled samples from 512 repositories, for four smells.</a:t>
            </a:r>
            <a:r>
              <a:rPr i="1"/>
              <a:t> Blob is a class that does too much.</a:t>
            </a:r>
            <a:r>
              <a:rPr i="1"/>
              <a:t> Data Class only holds data and has almost no behavior.</a:t>
            </a:r>
            <a:r>
              <a:rPr i="1"/>
              <a:t> Long Method is a method that has grown too long, and Feature Envy is a method that uses another class more than its own.</a:t>
            </a:r>
            <a:r>
              <a:rPr i="0"/>
              <a:t> One important detail is how we split the data.</a:t>
            </a:r>
            <a:r>
              <a:rPr i="0"/>
              <a:t> Code from the same project looks very similar, so we grouped the data by repository: a model is never tested on a project it learned from.</a:t>
            </a:r>
            <a:r>
              <a:rPr i="0"/>
              <a:t> And we report the Matthews correlation coefficient, MCC.</a:t>
            </a:r>
            <a:r>
              <a:rPr i="0"/>
              <a:t> Most samples are clean, so simple accuracy would look very good even for a detector that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are the main results.</a:t>
            </a:r>
            <a:r>
              <a:rPr i="0"/>
              <a:t> The gray bars are the published rules, and the blue bars are the best machine learning model for each smell.</a:t>
            </a:r>
            <a:r>
              <a:rPr i="0"/>
              <a:t> The rules are often correct when they fire, but they catch only 17 to 47 percent of the smells that developers marked.</a:t>
            </a:r>
            <a:r>
              <a:rPr i="0"/>
              <a:t> The models are better on all four smells, with MCC from 0.32 to 0.72.</a:t>
            </a:r>
            <a:r>
              <a:rPr i="0"/>
              <a:t> We also computed 95 percent confidence intervals by resampling repositories.</a:t>
            </a:r>
            <a:r>
              <a:rPr i="0"/>
              <a:t> The improvement is clearly above zero for Blob, Data Class and Long Method.</a:t>
            </a:r>
            <a:r>
              <a:rPr i="0"/>
              <a:t> For Feature Envy, the difference could be chance.</a:t>
            </a:r>
            <a:r>
              <a:rPr i="1"/>
              <a:t> We also compared with PMD, a popular open-source analyzer, on the same samples.</a:t>
            </a:r>
            <a:r>
              <a:rPr i="1"/>
              <a:t> Once the confidence interval is considered, PMD is never ahead, and for Long Method our rules are clearly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Why is Feature Envy so hard?</a:t>
            </a:r>
            <a:r>
              <a:rPr i="0"/>
              <a:t> We measured how much the human reviewers agree with each other.</a:t>
            </a:r>
            <a:r>
              <a:rPr i="0"/>
              <a:t> For Blob, Data Class and Long Method, two reviewers agree only moderately.</a:t>
            </a:r>
            <a:r>
              <a:rPr i="0"/>
              <a:t> For Feature Envy, they agree no better than chance.</a:t>
            </a:r>
            <a:r>
              <a:rPr i="1"/>
              <a:t> For Feature Envy, their MCC is -0.07, practically zero.</a:t>
            </a:r>
            <a:r>
              <a:rPr i="1"/>
              <a:t> This matches the previous slide: Feature Envy is where the model could not clearly beat the rules.</a:t>
            </a:r>
            <a:r>
              <a:rPr i="0"/>
              <a:t> So the problem is not only the algorithm.</a:t>
            </a:r>
            <a:r>
              <a:rPr i="0"/>
              <a:t> It is the definition of the smell itself.</a:t>
            </a:r>
            <a:r>
              <a:rPr i="0"/>
              <a:t> If experts do not agree on what a smell is, no detector can learn it well.</a:t>
            </a:r>
            <a:r>
              <a:rPr i="0"/>
              <a:t> For me, this is the main lesson of the detection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Now the refactoring engine.</a:t>
            </a:r>
            <a:r>
              <a:rPr i="0"/>
              <a:t> It supports three transformations: Extract Method, Replace Nested Conditional with Guard Clauses, and Introduce Parameter Object.</a:t>
            </a:r>
            <a:r>
              <a:rPr i="0"/>
              <a:t> On the whole corpus it found 15,800 sites and rewrote 3,532 of them, which is 22 percent.</a:t>
            </a:r>
            <a:r>
              <a:rPr i="0"/>
              <a:t> The rest were refused, each with a reason.</a:t>
            </a:r>
            <a:r>
              <a:rPr i="1"/>
              <a:t> In 45 percent of the sites, the reason is simply that the code does not have the shape the transformation needs.</a:t>
            </a:r>
            <a:r>
              <a:rPr i="0"/>
              <a:t> For us, refusing is a correct result, not a failure.</a:t>
            </a:r>
            <a:r>
              <a:rPr i="0"/>
              <a:t> After rewriting, the smell disappeared in 65 percent of the cases.</a:t>
            </a:r>
            <a:r>
              <a:rPr i="0"/>
              <a:t> Only 1.6 percent of the rewrites introduced a new type of compilation error, and those never reach the code, because the tool only writes verified rewrites.</a:t>
            </a:r>
            <a:r>
              <a:rPr i="0"/>
              <a:t> I also read 60 rewrites by hand: after reweighting, about 63 percent would be acceptable to a developer.</a:t>
            </a:r>
            <a:r>
              <a:rPr i="1"/>
              <a:t> Refactoring can also create new smells: 865 appeared after rewriting, most often Long Parameter List, because Extract Method passes every input as a parameter.</a:t>
            </a:r>
            <a:r>
              <a:rPr i="1"/>
              <a:t> In that review, Guard Clauses were always acceptable, and Introduce Parameter Object never, because it only moves the long list into a new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is one real example from Apache Geode.</a:t>
            </a:r>
            <a:r>
              <a:rPr i="0"/>
              <a:t> Before, the whole method is wrapped in one if statement, so everything is nested deeply.</a:t>
            </a:r>
            <a:r>
              <a:rPr i="0"/>
              <a:t> After the rewrite, the condition becomes a guard clause with an early return, and the rest of the method moves one level up.</a:t>
            </a:r>
            <a:r>
              <a:rPr i="1"/>
              <a:t> The engine accepts only exactly this shape: a void method whose whole body is one if statement, without else.</a:t>
            </a:r>
            <a:r>
              <a:rPr i="1"/>
              <a:t> It also wraps the condition in a not, instead of inverting it by hand, so it stays correct for every condition.</a:t>
            </a:r>
            <a:r>
              <a:rPr i="0"/>
              <a:t> The rewrite passed the compiler check, and in my review it was acceptable as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be honest about the limits: compiling is not the same as behaving the same.</a:t>
            </a:r>
            <a:r>
              <a:rPr i="0"/>
              <a:t> We did not run the projects' test suites, so behavior preservation is future work.</a:t>
            </a:r>
            <a:r>
              <a:rPr i="0"/>
              <a:t> We also used one dataset, four smells, and only Java.</a:t>
            </a:r>
            <a:r>
              <a:rPr i="1"/>
              <a:t> And the best model was chosen on the same predictions it is scored on, so its numbers are slightly optimistic.</a:t>
            </a:r>
            <a:r>
              <a:rPr i="1"/>
              <a:t> As next steps, I would add a small symbol resolver to support more refactorings, and ask independent reviewers to judge the rewrites.</a:t>
            </a:r>
            <a:r>
              <a:rPr i="0"/>
              <a:t> To summarize: learned boundaries beat fixed thresholds.</a:t>
            </a:r>
            <a:r>
              <a:rPr i="0"/>
              <a:t> Safe automatic refactoring is possible, but narrow, and it should be reviewed by a developer.</a:t>
            </a:r>
            <a:r>
              <a:rPr i="0"/>
              <a:t> The tool is open source, and every number in this talk can be regenerated with a script.</a:t>
            </a:r>
            <a:r>
              <a:rPr i="0"/>
              <a:t> Thank you.</a:t>
            </a:r>
            <a:r>
              <a:rPr i="0"/>
              <a:t> I am happy to take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when asked for precision or recall per smell.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Above zero means the model's advantage is not explained by which projects happen to be in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whether choosing the best model inflates the result: yes, slightly. Even the weakest learning algorithm beats the rules on three of four smells.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PMD is never ahead once the confidence interval is considered. PMD has no Feature Envy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files often cannot compile because their neighbours are missing; inside the project many more compile 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method is named 'extracted'; choosing a meaningful name is left to the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used random 5-fold cross-validation and tuned hyperparameters; we grouped by repository and did not tune. Our results are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9B8C9"/>
                </a:solidFill>
                <a:latin typeface="Segoe UI"/>
              </a:rPr>
              <a:t>15th UBT Annual International Conference on Computer Science and Engineering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Automated Code Smell Detection and Refactoring Recommendations Using Software Metrics and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Florent Latifi  ·  Altina Salihu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UBT – Higher Education Institution, Kosovo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9B8C9"/>
                </a:solidFill>
                <a:latin typeface="Segoe UI"/>
              </a:rPr>
              <a:t>Session 1  ·  Software Engineering  ·  24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Code smells make every change expensive, and today's tools only point at them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 are design problems, not bugs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 program works, but every change costs more than it should.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Existing tools use fixed thresholds, calibrated on other code.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They point at the problem, but rarely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RQ1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How accurate are published detection rules?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5349240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RQ2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Does machine learning on the same metrics do better?</a:t>
            </a:r>
          </a:p>
        </p:txBody>
      </p:sp>
      <p:sp>
        <p:nvSpPr>
          <p:cNvPr id="10" name="Oval 9"/>
          <p:cNvSpPr/>
          <p:nvPr/>
        </p:nvSpPr>
        <p:spPr>
          <a:xfrm>
            <a:off x="4643018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786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RQ3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Can fixes be applied automatically without breaking compilation?</a:t>
            </a:r>
          </a:p>
        </p:txBody>
      </p:sp>
      <p:sp>
        <p:nvSpPr>
          <p:cNvPr id="14" name="Oval 13"/>
          <p:cNvSpPr/>
          <p:nvPr/>
        </p:nvSpPr>
        <p:spPr>
          <a:xfrm>
            <a:off x="8280196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964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Refactoring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JavaSmell measures 26 metrics once and answers with three approaches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One analyzer: A rules · B machine learning · C refactoring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182880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 source code</a:t>
            </a:r>
          </a:p>
        </p:txBody>
      </p:sp>
      <p:sp>
        <p:nvSpPr>
          <p:cNvPr id="5" name="Down Arrow 4"/>
          <p:cNvSpPr/>
          <p:nvPr/>
        </p:nvSpPr>
        <p:spPr>
          <a:xfrm>
            <a:off x="3520440" y="2331720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87168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8716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26 metrics for every class and method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0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98348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3544" y="3218688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8 published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32186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Machine learning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498348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803904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803904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Smells, each with the conditions that fired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306824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62272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" y="4535424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46227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Refactoring engine: rewrites only what it can prove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520440" y="4965192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12064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12064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javac check, then a patch — never written in place</a:t>
            </a:r>
          </a:p>
        </p:txBody>
      </p:sp>
      <p:pic>
        <p:nvPicPr>
          <p:cNvPr id="27" name="Picture 26" descr="nderfaqja_paneli.png"/>
          <p:cNvPicPr>
            <a:picLocks noChangeAspect="1"/>
          </p:cNvPicPr>
          <p:nvPr/>
        </p:nvPicPr>
        <p:blipFill>
          <a:blip r:embed="rId3"/>
          <a:srcRect l="6771" r="54861" t="60556" b="8889"/>
          <a:stretch>
            <a:fillRect/>
          </a:stretch>
        </p:blipFill>
        <p:spPr>
          <a:xfrm>
            <a:off x="6858000" y="2331720"/>
            <a:ext cx="4556455" cy="2267918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858000" y="4736798"/>
            <a:ext cx="4556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Web interface, plain-language mode (Albanian): every finding shows the conditions that fired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Professional developers label the code; no model is tested on a project it saw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MLCQ (Madeyski &amp; Lewowski, 2020): reviewed by 26 professional developers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3628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9,046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labeled samples: a class or a method judged by a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14418" y="1828800"/>
            <a:ext cx="33628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512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repositories, each one an open-source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1596" y="1828800"/>
            <a:ext cx="33628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4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smells: Blob, Data Class, Feature Envy, Long Method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25296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6192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25296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36192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36192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train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85416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2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85416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96312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07208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8256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67328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78224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56432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767328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78224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6432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767328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78224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9272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train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0288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27448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8344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727448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38344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49240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27448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38344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349240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0288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train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1304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98464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20256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998464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9360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20256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98464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09360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0256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61304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257800"/>
            <a:ext cx="6199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5 folds grouped by repository: each project sits in exactly one. Train on four, test on the fifth, five times.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88352" y="3657600"/>
            <a:ext cx="4026103" cy="2103120"/>
          </a:xfrm>
          <a:prstGeom prst="roundRect">
            <a:avLst>
              <a:gd name="adj" fmla="val 34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16952" y="3840480"/>
            <a:ext cx="35689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Why MCC, not accuracy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4000">
                <a:solidFill>
                  <a:srgbClr val="8C2F22"/>
                </a:solidFill>
                <a:latin typeface="Segoe UI Semibold"/>
              </a:rPr>
              <a:t>92.8%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accuracy of a detector that always says “clean” on Feature Envy. Its MCC is 0.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Learned models beat the rules on all four smells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on the same samples, same scoring code · 95% bootstrap interval by repository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41080" y="210312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5E6874"/>
                </a:solidFill>
                <a:latin typeface="Segoe UI Semibold"/>
              </a:rPr>
              <a:t>17–47%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of the smells developers marked, caught by the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393192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0.32–0.72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the best model, per smell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For Feature Envy, even two experts agree no better than chance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Agreement between two human reviewers of the same code, as MCC · 0 = chance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41080" y="210312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8C2F22"/>
                </a:solidFill>
                <a:latin typeface="Segoe UI Semibold"/>
              </a:rPr>
              <a:t>−0.07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Feature Envy: two reviewers agree at chance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4114800"/>
            <a:ext cx="277337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If experts do not agree on what a smell is, no detector can learn it well.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The engine rewrites only what it can prove, and refuses the rest with a reason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transformations: Extract Method · Guard Clauses · Introduce Parameter Object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>
                <a:solidFill>
                  <a:srgbClr val="1A1D21"/>
                </a:solidFill>
                <a:latin typeface="Segoe UI Semibold"/>
              </a:rPr>
              <a:t>15,800</a:t>
            </a:r>
            <a:r>
              <a:rPr sz="1600">
                <a:solidFill>
                  <a:srgbClr val="4C5560"/>
                </a:solidFill>
                <a:latin typeface="Segoe UI"/>
              </a:rPr>
              <a:t>   sites where a transformation could apply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2377888" cy="685800"/>
          </a:xfrm>
          <a:prstGeom prst="roundRect">
            <a:avLst>
              <a:gd name="adj" fmla="val 10666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 Semibold"/>
              </a:rPr>
              <a:t>3,532 rewritten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"/>
              </a:rPr>
              <a:t>22.4%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848" y="2606040"/>
            <a:ext cx="8202834" cy="685800"/>
          </a:xfrm>
          <a:prstGeom prst="roundRect">
            <a:avLst>
              <a:gd name="adj" fmla="val 10666"/>
            </a:avLst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12,252 refused, each with a reason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77.5%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Of the 3,532 rewrites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977639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64.8%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removed the smell they were made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4418" y="3977639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3018" y="416052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1.6%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added a new kind of compile error, and are never written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1596" y="3977639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0196" y="416052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62.9%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acceptable to a developer in a manual review of 60 (reweighted)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Real code: the outer if becomes an early return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Apache Geode · DistributedRegion.checkForLimitedOrNoAccess · Guard Clauses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9656"/>
            <a:ext cx="7589520" cy="1885950"/>
          </a:xfrm>
          <a:prstGeom prst="roundRect">
            <a:avLst>
              <a:gd name="adj" fmla="val 38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8955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42493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911096"/>
            <a:ext cx="7296912" cy="1703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  if (this.requiresReliabilityCheck &amp;&amp; this.isMissingRequiredRoles)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5334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26230"/>
            <a:ext cx="7589520" cy="2075180"/>
          </a:xfrm>
          <a:prstGeom prst="roundRect">
            <a:avLst>
              <a:gd name="adj" fmla="val 352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596130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785360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974590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4217670"/>
            <a:ext cx="7296912" cy="189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if (!(this.requiresReliabilityCheck &amp;&amp; this.isMissingRequiredRoles))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  return;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}</a:t>
            </a:r>
          </a:p>
        </p:txBody>
      </p:sp>
      <p:sp>
        <p:nvSpPr>
          <p:cNvPr id="17" name="Oval 16"/>
          <p:cNvSpPr/>
          <p:nvPr/>
        </p:nvSpPr>
        <p:spPr>
          <a:xfrm>
            <a:off x="8732520" y="1874519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874519"/>
            <a:ext cx="22247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outer condition becomes a guard clause with an early return.</a:t>
            </a:r>
          </a:p>
        </p:txBody>
      </p:sp>
      <p:sp>
        <p:nvSpPr>
          <p:cNvPr id="19" name="Oval 18"/>
          <p:cNvSpPr/>
          <p:nvPr/>
        </p:nvSpPr>
        <p:spPr>
          <a:xfrm>
            <a:off x="8732520" y="3108959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108959"/>
            <a:ext cx="22247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rest of the method moves one level up.</a:t>
            </a:r>
          </a:p>
        </p:txBody>
      </p:sp>
      <p:sp>
        <p:nvSpPr>
          <p:cNvPr id="21" name="Oval 20"/>
          <p:cNvSpPr/>
          <p:nvPr/>
        </p:nvSpPr>
        <p:spPr>
          <a:xfrm>
            <a:off x="8732520" y="4343399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343399"/>
            <a:ext cx="22247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Passed the javac check; judged acceptable as-is in the review.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F4F6F9"/>
                </a:solidFill>
                <a:latin typeface="Segoe UI Semibold"/>
              </a:rPr>
              <a:t>Limitations and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50442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08A7E"/>
                </a:solidFill>
                <a:latin typeface="Segoe UI Semibold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504428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Compiles ≠ behaves the same: project tests were not run.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One dataset, four smells, Java only.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Best model chosen on the same predictions: slightly optimistic.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463040"/>
            <a:ext cx="50442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011680"/>
            <a:ext cx="504428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8DBBE6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Learned boundaries beat fixed thresholds.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8DBBE6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Safe automation is narrow, but measurable.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8DBBE6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Open source and reproducible: every number comes from a script.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Thank you  ·  Questions?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github.com/FlorentLatifi/Code-Smell-Detection-and-Refactoring-Recommendations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Full detection results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Precision, recall and MCC for both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47"/>
                <a:gridCol w="967019"/>
                <a:gridCol w="967019"/>
                <a:gridCol w="1243310"/>
                <a:gridCol w="2624767"/>
                <a:gridCol w="967019"/>
                <a:gridCol w="967019"/>
                <a:gridCol w="124331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0.174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0.770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0.230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0.546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0.413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0.438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Confidence intervals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95% bootstrap intervals, resampling whole repositories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793"/>
                <a:gridCol w="2291092"/>
                <a:gridCol w="2291092"/>
                <a:gridCol w="2454741"/>
                <a:gridCol w="163649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B − A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Above zero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[0.274, 0.393]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[0.494, 0.581]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[0.138, 0.271]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[0.313, 0.423]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[0.419, 0.530]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[0.158, 0.330]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[0.246, 0.398]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[-0.012, 0.166]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[0.559, 0.667]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[0.681, 0.768]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0.165]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Every algorithm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each classifier, same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522"/>
                <a:gridCol w="2887244"/>
                <a:gridCol w="1975482"/>
                <a:gridCol w="2583323"/>
                <a:gridCol w="136764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0.426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0.471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PMD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PMD 7.27.0 with its default thresholds, same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7878"/>
                <a:gridCol w="1262042"/>
                <a:gridCol w="1262042"/>
                <a:gridCol w="3245252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PMD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Our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Difference, 95% CI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(strategy)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0.342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-0.088 to +0.008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(with size)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0.487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+0.054 to +0.158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-0.012 to +0.101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 (LawOfDemeter)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0.056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+0.316 to +0.475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Verification in detail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Why sites were refused, and what compiling inside the project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37215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Code shape does not match the transformation: 7,154 sites (45.3%)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 return, break or continue leaves the block: 4,050 sites (25.6%)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An input value is not definitely assigned: 621 sites (3.9%)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Same 201 rewrites compiled inside their project: 4 → 66 compile fully, 2 add a new error.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After rewriting, 865 new smells appeared, mostly Long Parameter List from Extract Method.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Extract Method in the interface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jsoup · NodeTraversor.traverse, preview before any file is touched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15</a:t>
            </a:r>
          </a:p>
        </p:txBody>
      </p:sp>
      <p:pic>
        <p:nvPicPr>
          <p:cNvPr id="5" name="Picture 4" descr="nderfaqja_rishkr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10637215" cy="3462487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the literature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Madeyski &amp; Lewowski (2023), same MLCQ dataset, DS1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825"/>
                <a:gridCol w="1772869"/>
                <a:gridCol w="1772869"/>
                <a:gridCol w="472765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Madeyski &amp; Lewowski 2023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 (RF)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0.57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 (FDA)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&gt; 0.75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