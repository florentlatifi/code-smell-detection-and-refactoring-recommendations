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Latifi. This is my bachelor thesis at UBT, with my supervisor Altina Salihu.</a:t>
            </a:r>
            <a:r>
              <a:rPr i="0"/>
              <a:t> In the next minutes I will show three things: how a tool can find design problems in Java code, how accurate it is, and whether it can also fix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small change takes too long.</a:t>
            </a:r>
            <a:r>
              <a:rPr i="0"/>
              <a:t> We call these design problems code smells.</a:t>
            </a:r>
            <a:r>
              <a:rPr i="0"/>
              <a:t> They are not bugs. They make the code expensive to change.</a:t>
            </a:r>
            <a:r>
              <a:rPr i="0"/>
              <a:t> Most tools use fixed numbers: if a method has more than 30 lines, it is a Long Method.</a:t>
            </a:r>
            <a:r>
              <a:rPr i="0"/>
              <a:t> But these numbers come from other projects, and the tools do not fix anything.</a:t>
            </a:r>
            <a:r>
              <a:rPr i="0"/>
              <a:t> So I asked three questions.</a:t>
            </a:r>
            <a:r>
              <a:rPr i="0"/>
              <a:t> One: how accurate are the published rules?</a:t>
            </a:r>
            <a:r>
              <a:rPr i="0"/>
              <a:t> Two: can machine learning do better?</a:t>
            </a:r>
            <a:r>
              <a:rPr i="0"/>
              <a:t> Three: can a tool fix these smells automatically,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What is new, compared with earlier studies? Three things.</a:t>
            </a:r>
            <a:r>
              <a:rPr i="0"/>
              <a:t> First, I measure the published rules against professional developers, instead of taking them as correct.</a:t>
            </a:r>
            <a:r>
              <a:rPr i="0"/>
              <a:t> Second, rules and machine learning are compared on the same samples, with the same score and a split by project.</a:t>
            </a:r>
            <a:r>
              <a:rPr i="0"/>
              <a:t> Third, one tool finds a smell, fixes it, checks it with the compiler, and measures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In this study I look at four smells.</a:t>
            </a:r>
            <a:r>
              <a:rPr i="0"/>
              <a:t> A Blob is a class that does too much.</a:t>
            </a:r>
            <a:r>
              <a:rPr i="0"/>
              <a:t> A Data Class only holds data and does almost nothing with it.</a:t>
            </a:r>
            <a:r>
              <a:rPr i="0"/>
              <a:t> A Long Method is a method that has grown too long.</a:t>
            </a:r>
            <a:r>
              <a:rPr i="0"/>
              <a:t> And Feature Envy is a method that works more with another class than with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 three questions, I built a tool called JavaSmell.</a:t>
            </a:r>
            <a:r>
              <a:rPr i="0"/>
              <a:t> It reads Java code and measures 26 numbers for every class and method, like the number of lines or how complex the code is.</a:t>
            </a:r>
            <a:r>
              <a:rPr i="0"/>
              <a:t> Part A uses 8 rules from well-known books and papers.</a:t>
            </a:r>
            <a:r>
              <a:rPr i="0"/>
              <a:t> Part B uses machine learning on the same numbers.</a:t>
            </a:r>
            <a:r>
              <a:rPr i="0"/>
              <a:t> Part C fixes the code, but only when it can prove that the change is safe.</a:t>
            </a:r>
            <a:r>
              <a:rPr i="1"/>
              <a:t> Every finding also says why, for example: this method has 53 lines, and the limit is 30.</a:t>
            </a:r>
            <a:r>
              <a:rPr i="0"/>
              <a:t> On the right you see the web interface, in plain Albanian, for people who are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test the tool fairly, I need answers from real people.</a:t>
            </a:r>
            <a:r>
              <a:rPr i="0"/>
              <a:t> I used MLCQ, a public dataset where professional developers judged real Java code.</a:t>
            </a:r>
            <a:r>
              <a:rPr i="0"/>
              <a:t> In total I have 9,046 pieces of code from 512 open-source projects.</a:t>
            </a:r>
            <a:r>
              <a:rPr i="0"/>
              <a:t> A model is never tested on a project it has already seen: it learns from four groups of projects and is tested on the fifth.</a:t>
            </a:r>
            <a:r>
              <a:rPr i="1"/>
              <a:t> Code from the same project looks very similar, so testing on a project it has seen would be like an exam where you already know the answers.</a:t>
            </a:r>
            <a:r>
              <a:rPr i="0"/>
              <a:t> To score the results I use MCC, not simple accuracy.</a:t>
            </a:r>
            <a:r>
              <a:rPr i="0"/>
              <a:t> On Feature Envy, a detector that always says “clean” is 93 percent accurate, but it is useless. Its MCC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Gray is the published rules, blue is machine learning.</a:t>
            </a:r>
            <a:r>
              <a:rPr i="0"/>
              <a:t> Higher is better: zero means guessing, one means perfect.</a:t>
            </a:r>
            <a:r>
              <a:rPr i="0"/>
              <a:t> The rules are usually right when they raise an alarm, but out of every 100 real smells, they find only 17 to 47.</a:t>
            </a:r>
            <a:r>
              <a:rPr i="0"/>
              <a:t> Machine learning is better on all four smells. It finds 30 to 83 out of 100, but usually with more false alarms.</a:t>
            </a:r>
            <a:r>
              <a:rPr i="0"/>
              <a:t> For Blob, Data Class and Long Method, the improvement is real, not luck.</a:t>
            </a:r>
            <a:r>
              <a:rPr i="0"/>
              <a:t> For Feature Envy, it could be luck.</a:t>
            </a:r>
            <a:r>
              <a:rPr i="1"/>
              <a:t> I checked this by repeating the calculation 2,000 times on random samples of the projects.</a:t>
            </a:r>
            <a:r>
              <a:rPr i="1"/>
              <a:t> I also compared with PMD, a popular free tool: it was never better than my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I looked at code that two developers judged, and checked how often they agree.</a:t>
            </a:r>
            <a:r>
              <a:rPr i="0"/>
              <a:t> For Blob, Data Class and Long Method, they agree only partly.</a:t>
            </a:r>
            <a:r>
              <a:rPr i="0"/>
              <a:t> For Feature Envy, they agree no more than a coin flip.</a:t>
            </a:r>
            <a:r>
              <a:rPr i="1"/>
              <a:t> Their score is -0.07, practically zero.</a:t>
            </a:r>
            <a:r>
              <a:rPr i="0"/>
              <a:t> So the problem is not only the algorithm.</a:t>
            </a:r>
            <a:r>
              <a:rPr i="0"/>
              <a:t> If experts do not agree on what a smell is, no tool can learn it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third question: can we fix smells automatically?</a:t>
            </a:r>
            <a:r>
              <a:rPr i="0"/>
              <a:t> The tool knows three fixes: split a long method, turn a big if into an early exit, and group many parameters into one object.</a:t>
            </a:r>
            <a:r>
              <a:rPr i="0"/>
              <a:t> In all the projects, it found 15,800 places where a fix could apply.</a:t>
            </a:r>
            <a:r>
              <a:rPr i="0"/>
              <a:t> It changed 3,532 of them, about 22 percent.</a:t>
            </a:r>
            <a:r>
              <a:rPr i="0"/>
              <a:t> It refused 12,252, because it could not prove the change was safe, and it always says why.</a:t>
            </a:r>
            <a:r>
              <a:rPr i="0"/>
              <a:t> The other 16 could not be found again in the file.</a:t>
            </a:r>
            <a:r>
              <a:rPr i="0"/>
              <a:t> For me, a refusal is a good result, not a failure.</a:t>
            </a:r>
            <a:r>
              <a:rPr i="1"/>
              <a:t> In 45 percent of the places, the code simply does not have the right shape for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How do I know a rewrite is correct? I check it in steps.</a:t>
            </a:r>
            <a:r>
              <a:rPr i="0"/>
              <a:t> Before the change, the tool must prove its conditions on the syntax tree, or it refuses.</a:t>
            </a:r>
            <a:r>
              <a:rPr i="0"/>
              <a:t> After the change, the compiler checks the file: 98 percent pass, and the 58 that fail are never written.</a:t>
            </a:r>
            <a:r>
              <a:rPr i="0"/>
              <a:t> Then the smell is measured again: it is gone after 65 percent of the rewrites.</a:t>
            </a:r>
            <a:r>
              <a:rPr i="1"/>
              <a:t> On a sample of 201 rewrites, I also compiled the whole project: 66 compiled fully, and 2 had an error that the single file had hidden.</a:t>
            </a:r>
            <a:r>
              <a:rPr i="0"/>
              <a:t> Finally, I read 60 rewrites by hand: about 63 percent were acceptable, and one changed the behavior.</a:t>
            </a:r>
            <a:r>
              <a:rPr i="0"/>
              <a:t> So, to be clear: compiling does not guarantee the same behavior, because I could not run the projects' own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example, from the Apache Geode project.</a:t>
            </a:r>
            <a:r>
              <a:rPr i="0"/>
              <a:t> Before: the whole method is inside one big if, so all the code is pushed to the right.</a:t>
            </a:r>
            <a:r>
              <a:rPr i="0"/>
              <a:t> After: the condition becomes an early return, and the rest of the code moves one level up.</a:t>
            </a:r>
            <a:r>
              <a:rPr i="1"/>
              <a:t> The tool only does this when the method returns nothing and its whole body is one if, without else.</a:t>
            </a:r>
            <a:r>
              <a:rPr i="0"/>
              <a:t> The result compiles, and in my review it was acceptable without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So, the three answers.</a:t>
            </a:r>
            <a:r>
              <a:rPr i="0"/>
              <a:t> One: the published rules are precise, but they miss most smells.</a:t>
            </a:r>
            <a:r>
              <a:rPr i="0"/>
              <a:t> Two: machine learning on the same numbers does better.</a:t>
            </a:r>
            <a:r>
              <a:rPr i="0"/>
              <a:t> Three: about one place in four can be fixed automatically. The compiler checks every change, but the behavior is not yet proven.</a:t>
            </a:r>
            <a:r>
              <a:rPr i="0"/>
              <a:t> In practice, published thresholds are a starting point, not a final answer, and an automatic fix is a proposal that a developer reviews.</a:t>
            </a:r>
            <a:r>
              <a:rPr i="0"/>
              <a:t> Next, I want to run the projects' own tests, support more fixes, and ask other developers to judge the changes.</a:t>
            </a:r>
            <a:r>
              <a:rPr i="1"/>
              <a:t> The limits: one dataset, four smells, and only Java. And I picked the best model using the same results I report, so its numbers are a little optimistic.</a:t>
            </a:r>
            <a:r>
              <a:rPr i="0"/>
              <a:t> Everything is open source, every number can be recreated with a script, and the references are on the next slide.</a:t>
            </a:r>
            <a:r>
              <a:rPr i="0"/>
              <a:t> Thank you. I am happy to answer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fully, and 2 show an error the file alone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 [1]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 [2].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What this work adds to earlier studies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gaps in earlier studies, and how this work addresses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Earlier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83080"/>
            <a:ext cx="5562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This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Published rules are taken as correct, with thresholds set on other systems [2].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214884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The rules are measured against 26 professional developers in MLCQ [3].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14884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Rules and machine learning are rarely compared on the same data, and scores depend on how the data are built [4], [5].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4612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Same 9,046 samples, same score (MCC), split by project, with 95% intervals.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24612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4340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5E6874"/>
                </a:solidFill>
                <a:latin typeface="Segoe UI"/>
              </a:rPr>
              <a:t>Finding and fixing are studied apart: a fix is proposed, and the decision is left to the developer [6].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4343400"/>
            <a:ext cx="5562295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9144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One chain: find → rewrite → compile → measure again, with the preconditions proven first [7].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4343400"/>
            <a:ext cx="5029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F4E79"/>
                </a:solidFill>
                <a:latin typeface="Segoe UI Semibold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486400"/>
            <a:ext cx="5562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And an open tool: a plain-language interface in Albanian, and every number regenerated by one script.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Definitions after Fowler [1]; all four are labeled by professional developers in MLCQ 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 [2], [8]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[3]: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MCC, not accuracy [9]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4C5560"/>
                </a:solidFill>
                <a:latin typeface="Segoe UI"/>
              </a:rPr>
              <a:t>+ 16 (0.1%) could not be found again in the file, so no fix was tried</a:t>
            </a:r>
            <a:r>
              <a:rPr sz="1400">
                <a:solidFill>
                  <a:srgbClr val="1A1D21"/>
                </a:solidFill>
                <a:latin typeface="Segoe UI Semibold"/>
              </a:rPr>
              <a:t>      3,532 + 12,252 + 16 = 15,800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The 3,532 rewrites, by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Extract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7127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3,298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608576"/>
            <a:ext cx="47100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Introduce Parameter 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7127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155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992624"/>
            <a:ext cx="22136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Guard Clauses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7127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376672"/>
            <a:ext cx="11282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3931920"/>
            <a:ext cx="5044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Why the 12,252 were refused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343400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Code shape does not match the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4" y="4343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7,154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0167" y="4608576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0167" y="4608576"/>
            <a:ext cx="294538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4727448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 return, break or continue leaves the block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4" y="47274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4,050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0167" y="4992624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0167" y="4992624"/>
            <a:ext cx="166743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5111496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An input value is not definitely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4" y="51114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621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0167" y="5376672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0167" y="5376672"/>
            <a:ext cx="255672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7" y="5495544"/>
            <a:ext cx="412988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Three other reasons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00054" y="54955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427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70167" y="5760720"/>
            <a:ext cx="5044287" cy="731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0167" y="5760720"/>
            <a:ext cx="175800" cy="73152"/>
          </a:xfrm>
          <a:prstGeom prst="rect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Each rewrite is checked before and after, but compiling ≠ the same behavior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How the rewrites were validated, from the syntax tree to a manual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validates Q3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8424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78308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Before: prove the preconditions [7]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on the syntax tree, or refuse with a reason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7830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3,532 rewritten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12,252 refused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0604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0720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260604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After: compile with javac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the rewritten file may add no new kind of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60604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3,471 pass (98.3%)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58 fail, never written · 3 no verdict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42900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63016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342900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Measure the smell again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does the detector still fire on the new code?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342900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2,287 removed (64.8%)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793 remain · 452 not identifiable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25196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445312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25196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Sample: compile inside 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201 rewrites in 60 files, with their neighbours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42519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66 compile fully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2 new errors · 19 no verdict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074920"/>
            <a:ext cx="73152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52760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507492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Read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60 rewrites: behavior, benefit, acceptance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50749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62.9% acceptable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8C2F22"/>
                </a:solidFill>
                <a:latin typeface="Segoe UI"/>
              </a:rPr>
              <a:t>1 changed the behavior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1783080"/>
            <a:ext cx="3001975" cy="4023360"/>
          </a:xfrm>
          <a:prstGeom prst="roundRect">
            <a:avLst>
              <a:gd name="adj" fmla="val 2436"/>
            </a:avLst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1965960"/>
            <a:ext cx="254477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C2F22"/>
                </a:solidFill>
                <a:latin typeface="Segoe UI Semibold"/>
              </a:rPr>
              <a:t>Not verified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Compiling ≠ the same behavior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No step runs the program. The projects' own tests were not run: the data keeps only .java files, without build files or libraries.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So the claim is: the rewrite compiles, or adds no new kind of error.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Key 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Key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176479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63347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3502152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F4F6F9"/>
                </a:solidFill>
                <a:latin typeface="Segoe UI"/>
              </a:rPr>
              <a:t>Yes, for 22% of places; 98% compile or add no new error, but behavior is not yet proven.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F08A7E"/>
                </a:solidFill>
                <a:latin typeface="Segoe UI Semibold"/>
              </a:rPr>
              <a:t>Limits: </a:t>
            </a:r>
            <a:r>
              <a:rPr sz="1400">
                <a:solidFill>
                  <a:srgbClr val="A9B8C9"/>
                </a:solidFill>
                <a:latin typeface="Segoe UI"/>
              </a:rPr>
              <a:t>one dataset, four smells, Java only; the best model was chosen on the same predictions, so it is slightly optimistic.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Published thresholds are a starting point: calibrate or learn them for your own code.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An automatic fix is a compiler-checked proposal that a developer reviews and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50136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Future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20440"/>
            <a:ext cx="5013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Run the projects' own tests, to go from “compiles” to “behaves the same”.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Resolve names inside a project, to add Move Method and Encapsulate Field.</a:t>
            </a:r>
          </a:p>
          <a:p>
            <a:pPr algn="l" marL="274320" indent="-274320">
              <a:spcBef>
                <a:spcPts val="0"/>
              </a:spcBef>
              <a:spcAft>
                <a:spcPts val="600"/>
              </a:spcAft>
              <a:buClr>
                <a:srgbClr val="8DBBE6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More smells beyond MLCQ, and reviewers other than the author.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References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Cited on these slides, in IEEE style; the thesis lists all 45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Fowler, </a:t>
            </a:r>
            <a:r>
              <a:rPr sz="1200" i="1">
                <a:solidFill>
                  <a:srgbClr val="1A1D21"/>
                </a:solidFill>
                <a:latin typeface="Segoe UI"/>
              </a:rPr>
              <a:t>Refactoring: Improving the Design of Existing Code</a:t>
            </a:r>
            <a:r>
              <a:rPr sz="1200" i="0">
                <a:solidFill>
                  <a:srgbClr val="1A1D21"/>
                </a:solidFill>
                <a:latin typeface="Segoe UI"/>
              </a:rPr>
              <a:t>, 2nd ed. Boston, MA, USA: Addison-Wesley, 2018.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[2]  </a:t>
            </a:r>
            <a:r>
              <a:rPr sz="1200" i="0">
                <a:solidFill>
                  <a:srgbClr val="1A1D21"/>
                </a:solidFill>
                <a:latin typeface="Segoe UI"/>
              </a:rPr>
              <a:t>M. Lanza and R. Marinescu, </a:t>
            </a:r>
            <a:r>
              <a:rPr sz="1200" i="1">
                <a:solidFill>
                  <a:srgbClr val="1A1D21"/>
                </a:solidFill>
                <a:latin typeface="Segoe UI"/>
              </a:rPr>
              <a:t>Object-Oriented Metrics in Practice: Using Software Metrics to Characterize, Evaluate, and Improve the Design of Object-Oriented Systems</a:t>
            </a:r>
            <a:r>
              <a:rPr sz="1200" i="0">
                <a:solidFill>
                  <a:srgbClr val="1A1D21"/>
                </a:solidFill>
                <a:latin typeface="Segoe UI"/>
              </a:rPr>
              <a:t>. Berlin, Germany: Springer, 2006, doi: 10.1007/3-540-39538-5.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[3]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“MLCQ: Industry-relevant code smell data set,”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24th International Conference on Evaluation and Assessment in Software Engineering (EASE ’20)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2020, pp. 342–347, doi: 10.1145/3383219.3383264.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[4]  </a:t>
            </a:r>
            <a:r>
              <a:rPr sz="1200" i="0">
                <a:solidFill>
                  <a:srgbClr val="1A1D21"/>
                </a:solidFill>
                <a:latin typeface="Segoe UI"/>
              </a:rPr>
              <a:t>F. Arcelli Fontana, M. V. Mäntylä, M. Zanoni, and A. Marino, “Comparing and experimenting machine learning techniques for code smell detection,”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Empirical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3, pp. 1143–1191, 2016, doi: 10.1007/s10664-015-9378-4.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[5]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Di Nucci, F. Palomba, D. A. Tamburri, A. Serebrenik, and A. De Lucia, “Detecting code smells using machine learning techniques: Are we there yet?” in </a:t>
            </a:r>
            <a:r>
              <a:rPr sz="1200" i="1">
                <a:solidFill>
                  <a:srgbClr val="1A1D21"/>
                </a:solidFill>
                <a:latin typeface="Segoe UI"/>
              </a:rPr>
              <a:t>Proceedings of the 25th IEEE International Conference on Software Analysis, Evolution and Reengineering (SANER ’18)</a:t>
            </a:r>
            <a:r>
              <a:rPr sz="1200" i="0">
                <a:solidFill>
                  <a:srgbClr val="1A1D21"/>
                </a:solidFill>
                <a:latin typeface="Segoe UI"/>
              </a:rPr>
              <a:t>, 2018, pp. 612–621, doi: 10.1109/SANER.2018.8330266.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[6]  </a:t>
            </a:r>
            <a:r>
              <a:rPr sz="1200" i="0">
                <a:solidFill>
                  <a:srgbClr val="1A1D21"/>
                </a:solidFill>
                <a:latin typeface="Segoe UI"/>
              </a:rPr>
              <a:t>N. Tsantalis and A. Chatzigeorgiou, “Identification of Move Method refactoring opportunities,”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35, no. 3, pp. 347–367, 2009, doi: 10.1109/TSE.2009.1.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24447" y="1600200"/>
            <a:ext cx="5090007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[7]  </a:t>
            </a:r>
            <a:r>
              <a:rPr sz="1200" i="0">
                <a:solidFill>
                  <a:srgbClr val="1A1D21"/>
                </a:solidFill>
                <a:latin typeface="Segoe UI"/>
              </a:rPr>
              <a:t>W. F. Opdyke, “Refactoring object-oriented frameworks,” Ph.D. dissertation, University of Illinois at Urbana-Champaign, Urbana, IL, USA, 1992.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[8]  </a:t>
            </a:r>
            <a:r>
              <a:rPr sz="1200" i="0">
                <a:solidFill>
                  <a:srgbClr val="1A1D21"/>
                </a:solidFill>
                <a:latin typeface="Segoe UI"/>
              </a:rPr>
              <a:t>S. R. Chidamber and C. F. Kemerer, “A metrics suite for object oriented design,”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IEEE Transactions on Software Engineering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20, no. 6, pp. 476–493, 1994, doi: 10.1109/32.295895.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[9]  </a:t>
            </a:r>
            <a:r>
              <a:rPr sz="1200" i="0">
                <a:solidFill>
                  <a:srgbClr val="1A1D21"/>
                </a:solidFill>
                <a:latin typeface="Segoe UI"/>
              </a:rPr>
              <a:t>D. Chicco and G. Jurman, “The advantages of the Matthews correlation coefficient (MCC) over F1 score and accuracy in binary classification evaluation,”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BMC Genomics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21, no. 1, Art. no. 6, 2020, doi: 10.1186/s12864-019-6413-7.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[10]  </a:t>
            </a:r>
            <a:r>
              <a:rPr sz="1200" i="0">
                <a:solidFill>
                  <a:srgbClr val="1A1D21"/>
                </a:solidFill>
                <a:latin typeface="Segoe UI"/>
              </a:rPr>
              <a:t>PMD Team, </a:t>
            </a:r>
            <a:r>
              <a:rPr sz="1200" i="1">
                <a:solidFill>
                  <a:srgbClr val="1A1D21"/>
                </a:solidFill>
                <a:latin typeface="Segoe UI"/>
              </a:rPr>
              <a:t>PMD: An Extensible Cross-Language Static Code Analyzer</a:t>
            </a:r>
            <a:r>
              <a:rPr sz="1200" i="0">
                <a:solidFill>
                  <a:srgbClr val="1A1D21"/>
                </a:solidFill>
                <a:latin typeface="Segoe UI"/>
              </a:rPr>
              <a:t>, version 7.27.0. (2026). [Online]. Available: https://pmd.github.io/</a:t>
            </a:r>
          </a:p>
          <a:p>
            <a:pPr marL="384048" indent="-384048">
              <a:spcAft>
                <a:spcPts val="600"/>
              </a:spcAft>
            </a:pPr>
            <a:r>
              <a:rPr sz="1200">
                <a:solidFill>
                  <a:srgbClr val="1F4E79"/>
                </a:solidFill>
                <a:latin typeface="Segoe UI Semibold"/>
              </a:rPr>
              <a:t>[11]  </a:t>
            </a:r>
            <a:r>
              <a:rPr sz="1200" i="0">
                <a:solidFill>
                  <a:srgbClr val="1A1D21"/>
                </a:solidFill>
                <a:latin typeface="Segoe UI"/>
              </a:rPr>
              <a:t>L. Madeyski and T. Lewowski, “Detecting code smells using industry-relevant data,” </a:t>
            </a:r>
            <a:r>
              <a:rPr sz="1200" i="1">
                <a:solidFill>
                  <a:srgbClr val="1A1D21"/>
                </a:solidFill>
                <a:latin typeface="Segoe UI"/>
              </a:rPr>
              <a:t>Information and Software Technology</a:t>
            </a:r>
            <a:r>
              <a:rPr sz="1200" i="0">
                <a:solidFill>
                  <a:srgbClr val="1A1D21"/>
                </a:solidFill>
                <a:latin typeface="Segoe UI"/>
              </a:rPr>
              <a:t>, vol. 155, Art. no. 107112, 2023, doi: 10.1016/j.infsof.2022.107112.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[10]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Which rewrites succeeded and which had problems, per fix and per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All 15,800 places, by fix: “pass” = compiles, or adds no new kind of error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372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3736"/>
                <a:gridCol w="750862"/>
                <a:gridCol w="1126293"/>
                <a:gridCol w="1376580"/>
                <a:gridCol w="1126293"/>
                <a:gridCol w="1626868"/>
                <a:gridCol w="137658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Places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Rewritten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Pass javac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 removed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Acceptable*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Extract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10,115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3,298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3,239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2,087 (63%)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65%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Introduce Parameter Object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1,842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153 (99%)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155 (100%)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0%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Guard Clauses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3,827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79 (100%)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45 (57%)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Not located again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All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15,800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3,532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3,471 (98%)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2,287 (65%)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62.9%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60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The same 201 rewrites (60 files), compiled two ways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462272"/>
          <a:ext cx="106372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283"/>
                <a:gridCol w="1975482"/>
                <a:gridCol w="3039204"/>
                <a:gridCol w="1367641"/>
                <a:gridCol w="1519602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Compiled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Compile fully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new kind of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New error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No verdict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The file alone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 Semibold"/>
                        </a:rPr>
                        <a:t>Inside its project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1A1D21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* Manual review of 20 rewrites per fix; “All” is reweighted by how often each fix occurs. 3 rewrites got no javac verdict. After rewriting, 865 new smells appeared, most often Long Parameter List (367).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19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[11],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