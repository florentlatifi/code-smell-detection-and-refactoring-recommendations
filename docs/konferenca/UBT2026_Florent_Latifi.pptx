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 rules (A)</c:v>
                </c:pt>
              </c:strCache>
            </c:strRef>
          </c:tx>
          <c:spPr>
            <a:solidFill>
              <a:srgbClr val="87919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0.3357</c:v>
                </c:pt>
                <c:pt idx="1">
                  <c:v>0.3668</c:v>
                </c:pt>
                <c:pt idx="2">
                  <c:v>0.2429</c:v>
                </c:pt>
                <c:pt idx="3">
                  <c:v>0.6166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ML model (B)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0.5387125336366718</c:v>
                </c:pt>
                <c:pt idx="1">
                  <c:v>0.4734406599321139</c:v>
                </c:pt>
                <c:pt idx="2">
                  <c:v>0.3205120550113616</c:v>
                </c:pt>
                <c:pt idx="3">
                  <c:v>0.7232588772153082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Two reviewers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dPt>
            <c:idx val="2"/>
            <c:invertIfNegative val="0"/>
            <c:spPr>
              <a:solidFill>
                <a:srgbClr val="8C2F22"/>
              </a:solidFill>
            </c:spPr>
          </c:dPt>
          <c:cat>
            <c:strRef>
              <c:f>Sheet1!$A$2:$A$5</c:f>
              <c:strCache>
                <c:ptCount val="4"/>
                <c:pt idx="0">
                  <c:v>Blob</c:v>
                </c:pt>
                <c:pt idx="1">
                  <c:v>Data Class</c:v>
                </c:pt>
                <c:pt idx="2">
                  <c:v>Feature Envy</c:v>
                </c:pt>
                <c:pt idx="3">
                  <c:v>Long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0.3122139059809652</c:v>
                </c:pt>
                <c:pt idx="1">
                  <c:v>0.3963586974485641</c:v>
                </c:pt>
                <c:pt idx="2">
                  <c:v>-0.07063755144675195</c:v>
                </c:pt>
                <c:pt idx="3">
                  <c:v>0.5671074064341379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-0.2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Good morning, everyone.</a:t>
            </a:r>
            <a:r>
              <a:rPr i="0"/>
              <a:t> My name is Florent Latifi. This is my bachelor thesis at UBT, with my supervisor Altina Salihu.</a:t>
            </a:r>
            <a:r>
              <a:rPr i="0"/>
              <a:t> Today I want to show you three things: how a tool can find design problems in Java code, how accurate it is, and whether it can also fix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Let me start with a problem that every developer knows.</a:t>
            </a:r>
            <a:r>
              <a:rPr i="0"/>
              <a:t> There is always one class that nobody wants to touch.</a:t>
            </a:r>
            <a:r>
              <a:rPr i="0"/>
              <a:t> The program works, but every small change takes too long.</a:t>
            </a:r>
            <a:r>
              <a:rPr i="0"/>
              <a:t> We call these design problems code smells.</a:t>
            </a:r>
            <a:r>
              <a:rPr i="0"/>
              <a:t> They are not bugs. They just make the code expensive to change.</a:t>
            </a:r>
            <a:r>
              <a:rPr i="0"/>
              <a:t> Most tools find them with fixed numbers. For example: if a method has more than 30 lines, it is a Long Method.</a:t>
            </a:r>
            <a:r>
              <a:rPr i="0"/>
              <a:t> But these numbers come from other projects, and the tools only point at the problem. They do not fix it.</a:t>
            </a:r>
            <a:r>
              <a:rPr i="0"/>
              <a:t> So I asked three questions.</a:t>
            </a:r>
            <a:r>
              <a:rPr i="0"/>
              <a:t> One: how accurate are the published rules?</a:t>
            </a:r>
            <a:r>
              <a:rPr i="0"/>
              <a:t> Two: can machine learning do better?</a:t>
            </a:r>
            <a:r>
              <a:rPr i="0"/>
              <a:t> Three: can a tool fix these smells automatically, without breaking the code?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Other researchers have worked on these questions before. So what is new in my work? Three things.</a:t>
            </a:r>
            <a:r>
              <a:rPr i="0"/>
              <a:t> First, earlier studies take the published rules as correct. I measure them against professional developers.</a:t>
            </a:r>
            <a:r>
              <a:rPr i="0"/>
              <a:t> Second, I compare rules and machine learning in a fair way: on the same samples, with the same score, and with a split by project.</a:t>
            </a:r>
            <a:r>
              <a:rPr i="0"/>
              <a:t> Third, earlier tools only suggest a fix. Mine finds a smell, fixes it, checks it with the compiler, and measures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Before the results, let me show you the four smells I studied.</a:t>
            </a:r>
            <a:r>
              <a:rPr i="0"/>
              <a:t> A Blob is a class that does too much.</a:t>
            </a:r>
            <a:r>
              <a:rPr i="0"/>
              <a:t> A Data Class only holds data, and does almost nothing with it.</a:t>
            </a:r>
            <a:r>
              <a:rPr i="0"/>
              <a:t> A Long Method is a method that has grown too long.</a:t>
            </a:r>
            <a:r>
              <a:rPr i="0"/>
              <a:t> And Feature Envy is a method that works more with another class than with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find these smells, and to fix them, I built a tool called JavaSmell.</a:t>
            </a:r>
            <a:r>
              <a:rPr i="0"/>
              <a:t> First, it reads the Java code and measures 26 numbers for every class and method, like the number of lines, or how complex the code is.</a:t>
            </a:r>
            <a:r>
              <a:rPr i="0"/>
              <a:t> Then it uses these numbers in three ways.</a:t>
            </a:r>
            <a:r>
              <a:rPr i="0"/>
              <a:t> Part A uses 8 rules from well-known books and papers.</a:t>
            </a:r>
            <a:r>
              <a:rPr i="0"/>
              <a:t> Part B uses machine learning on the same numbers.</a:t>
            </a:r>
            <a:r>
              <a:rPr i="0"/>
              <a:t> And Part C fixes the code, but only when it can prove that the change is safe.</a:t>
            </a:r>
            <a:r>
              <a:rPr i="0"/>
              <a:t> On the right you see the web interface. It explains everything in plain Albanian, so you do not need to be an expert.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But a tool is only useful if its answers are right. To check that, I need answers from real people.</a:t>
            </a:r>
            <a:r>
              <a:rPr i="0"/>
              <a:t> So I used MLCQ, a public dataset where professional developers judged real Java code.</a:t>
            </a:r>
            <a:r>
              <a:rPr i="0"/>
              <a:t> In total, I have 9,046 pieces of code from 512 open-source projects.</a:t>
            </a:r>
            <a:r>
              <a:rPr i="0"/>
              <a:t> And the test is fair: a model is never tested on a project it has already seen. It learns from four groups of projects, and it is tested on the fifth.</a:t>
            </a:r>
            <a:r>
              <a:rPr i="0"/>
              <a:t> To score the results, I use MCC, not simple accuracy. Here is why.</a:t>
            </a:r>
            <a:r>
              <a:rPr i="0"/>
              <a:t> On Feature Envy, a detector that always says “clean” is 93 percent accurate, but it is useless. Its MCC is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So, how good are the rules, and can machine learning do better? Here are the main results.</a:t>
            </a:r>
            <a:r>
              <a:rPr i="0"/>
              <a:t> Gray is the published rules, blue is machine learning.</a:t>
            </a:r>
            <a:r>
              <a:rPr i="0"/>
              <a:t> Higher is better: zero means guessing, and one means perfect.</a:t>
            </a:r>
            <a:r>
              <a:rPr i="0"/>
              <a:t> The rules are usually right when they raise an alarm. But out of every 100 real smells, they find only 17 to 47.</a:t>
            </a:r>
            <a:r>
              <a:rPr i="0"/>
              <a:t> Machine learning is better on all four smells. It finds 30 to 83 out of 100, but usually with more false alarms.</a:t>
            </a:r>
            <a:r>
              <a:rPr i="0"/>
              <a:t> For Blob, Data Class and Long Method, the improvement is real, not luck.</a:t>
            </a:r>
            <a:r>
              <a:rPr i="0"/>
              <a:t> For Feature Envy, it could be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You may ask: why is Feature Envy so hard, even for machine learning?</a:t>
            </a:r>
            <a:r>
              <a:rPr i="0"/>
              <a:t> To find out, I looked at code that two developers judged, and checked how often they agree.</a:t>
            </a:r>
            <a:r>
              <a:rPr i="0"/>
              <a:t> For Blob, Data Class and Long Method, they agree only partly.</a:t>
            </a:r>
            <a:r>
              <a:rPr i="0"/>
              <a:t> For Feature Envy, they agree no more than a coin flip.</a:t>
            </a:r>
            <a:r>
              <a:rPr i="0"/>
              <a:t> So the problem is not only the algorithm.</a:t>
            </a:r>
            <a:r>
              <a:rPr i="0"/>
              <a:t> If experts do not agree on what a smell is, no tool can learn it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So much for finding smells. Now the third question: once we find a smell, can the tool fix it?</a:t>
            </a:r>
            <a:r>
              <a:rPr i="0"/>
              <a:t> The tool knows three fixes: it can split a long method, turn a big if into an early exit, or group many parameters into one object.</a:t>
            </a:r>
            <a:r>
              <a:rPr i="0"/>
              <a:t> In all the projects, it found 15,800 places where a fix could apply.</a:t>
            </a:r>
            <a:r>
              <a:rPr i="0"/>
              <a:t> It changed 3,532 of them, about 22 percent.</a:t>
            </a:r>
            <a:r>
              <a:rPr i="0"/>
              <a:t> It refused 12,252, because it could not prove that the change was safe. And it always says why.</a:t>
            </a:r>
            <a:r>
              <a:rPr i="0"/>
              <a:t> The last 16 could not be found again in the file. Together, that makes 15,800.</a:t>
            </a:r>
            <a:r>
              <a:rPr i="0"/>
              <a:t> For me, a refusal is a good result, not a failure. It is better to refuse than to break someone's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But a rewrite is only useful if it is correct. So how do I check that? Step by step.</a:t>
            </a:r>
            <a:r>
              <a:rPr i="0"/>
              <a:t> First, before the change, the tool must prove its conditions on the syntax tree. If it cannot, it refuses.</a:t>
            </a:r>
            <a:r>
              <a:rPr i="0"/>
              <a:t> Second, after the change, the compiler checks the file. 98 percent pass, and the 58 that fail are never written.</a:t>
            </a:r>
            <a:r>
              <a:rPr i="0"/>
              <a:t> Third, the smell is measured again. It is gone after 65 percent of the rewrites.</a:t>
            </a:r>
            <a:r>
              <a:rPr i="0"/>
              <a:t> Finally, I read 60 rewrites by hand. About 63 percent were acceptable, and one changed the behavior.</a:t>
            </a:r>
            <a:r>
              <a:rPr i="0"/>
              <a:t> So, to be clear: compiling does not guarantee the same behavior, because I could not run the projects' own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Let me show you what one of these rewrites looks like. This is real code, from the Apache Geode project.</a:t>
            </a:r>
            <a:r>
              <a:rPr i="0"/>
              <a:t> Before: the whole method is inside one big if, so all the code is pushed to the right.</a:t>
            </a:r>
            <a:r>
              <a:rPr i="0"/>
              <a:t> After: the condition becomes an early return, and the rest of the code moves one level up.</a:t>
            </a:r>
            <a:r>
              <a:rPr i="0"/>
              <a:t> The result compiles, and in my review it was acceptable without any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Let me bring it all together. My three questions have three answers.</a:t>
            </a:r>
            <a:r>
              <a:rPr i="0"/>
              <a:t> One: the published rules are precise, but they miss most smells.</a:t>
            </a:r>
            <a:r>
              <a:rPr i="0"/>
              <a:t> Two: machine learning on the same numbers does better.</a:t>
            </a:r>
            <a:r>
              <a:rPr i="0"/>
              <a:t> Three: about one place in four can be fixed automatically. The compiler checks every change, but the behavior is not yet proven.</a:t>
            </a:r>
            <a:r>
              <a:rPr i="0"/>
              <a:t> Why does this matter in practice? Published thresholds are a starting point, not a final answer. And an automatic fix is a proposal that a developer still reviews.</a:t>
            </a:r>
            <a:r>
              <a:rPr i="0"/>
              <a:t> And what comes next? I want to run the projects' own tests, support more fixes, and ask other developers to judge the changes.</a:t>
            </a:r>
            <a:r>
              <a:rPr i="0"/>
              <a:t> Everything is open source, every number can be recreated with a script, and the references are on the next slide.</a:t>
            </a:r>
            <a:r>
              <a:rPr i="0"/>
              <a:t> Thank you. I am happy to answer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when asked for precision or recall per smell.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Above zero means the model's advantage is not explained by which projects happen to be in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whether choosing the best model inflates the result: yes, slightly. Even the weakest learning algorithm beats the rules on three of four smells.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PMD is never ahead once the confidence interval is considered. PMD has no Feature Envy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Isolated files often cannot compile because their neighbours are missing; inside the project many more compile fully, and 2 show an error the file alone hid.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extracted method is named 'extracted'; choosing a meaningful name is left to the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used random 5-fold cross-validation and tuned hyperparameters; we grouped by repository and did not tune. Our results are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15th UBT Annual International Conference on Computer Science and Engineering  ·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Automated Code Smell Detection and Refactoring Recommendations Using Software Metrics and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690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Florent Latifi  ·  Altina Salihu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UBT – Higher Education Institution, Kosovo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Session 1  ·  Software Engineering  ·  24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Code smells make every change expensive, and today's tools only point at them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 are design problems, not bugs [1]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 program works, but every change costs more than it should.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Existing tools use fixed thresholds, calibrated on other code [2].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They point at the problem, but rarely fix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Q1  ·  Question 1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How accurate are published detection rules?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5349240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Q2  ·  Question 2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Does machine learning on the same metrics do better?</a:t>
            </a:r>
          </a:p>
        </p:txBody>
      </p:sp>
      <p:sp>
        <p:nvSpPr>
          <p:cNvPr id="10" name="Oval 9"/>
          <p:cNvSpPr/>
          <p:nvPr/>
        </p:nvSpPr>
        <p:spPr>
          <a:xfrm>
            <a:off x="4643018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786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Machine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Q3  ·  Question 3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Can fixes be applied automatically without breaking compilation?</a:t>
            </a:r>
          </a:p>
        </p:txBody>
      </p:sp>
      <p:sp>
        <p:nvSpPr>
          <p:cNvPr id="14" name="Oval 13"/>
          <p:cNvSpPr/>
          <p:nvPr/>
        </p:nvSpPr>
        <p:spPr>
          <a:xfrm>
            <a:off x="8280196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964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Refactoring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What this work adds to earlier studies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gaps in earlier studies, and how this work addresses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Earlier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83080"/>
            <a:ext cx="5562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This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5E6874"/>
                </a:solidFill>
                <a:latin typeface="Segoe UI"/>
              </a:rPr>
              <a:t>Published rules are taken as correct, with thresholds set on other systems [2].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2148840"/>
            <a:ext cx="5562295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The rules are measured against 26 professional developers in MLCQ [3].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2148840"/>
            <a:ext cx="5029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F4E79"/>
                </a:solidFill>
                <a:latin typeface="Segoe UI Semibold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5E6874"/>
                </a:solidFill>
                <a:latin typeface="Segoe UI"/>
              </a:rPr>
              <a:t>Rules and machine learning are rarely compared on the same data, and scores depend on how the data are built [4], [5].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46120"/>
            <a:ext cx="5562295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Same 9,046 samples, same score (MCC), split by project, with 95% intervals.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3246120"/>
            <a:ext cx="5029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F4E79"/>
                </a:solidFill>
                <a:latin typeface="Segoe UI Semibol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4340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5E6874"/>
                </a:solidFill>
                <a:latin typeface="Segoe UI"/>
              </a:rPr>
              <a:t>Finding and fixing are studied apart: a fix is proposed, and the decision is left to the developer [6].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4343400"/>
            <a:ext cx="5562295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One chain: find → rewrite → compile → measure again, with the preconditions proven first [7].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4343400"/>
            <a:ext cx="5029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F4E79"/>
                </a:solidFill>
                <a:latin typeface="Segoe UI Semibold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5486400"/>
            <a:ext cx="5562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And an open tool: a plain-language interface in Albanian, and every number regenerated by one script.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Four code smells, each a different design problem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Definitions after Fowler [1]; all four are labeled by professional developers in MLCQ [3]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2103120"/>
            <a:ext cx="1280160" cy="1828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" y="228600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0432" y="245059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261518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0432" y="277977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432" y="2944368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0432" y="310896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0432" y="327355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70432" y="343814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0432" y="360273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60320" y="237744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286000" y="256946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60320" y="333756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286000" y="352958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Blob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class that does too much.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5123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33723" y="2194560"/>
            <a:ext cx="1188720" cy="137160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98315" y="24048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81195" y="24231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98315" y="26334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81195" y="26517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98315" y="28620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195" y="28803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98315" y="30906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81195" y="31089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98315" y="33192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81195" y="33375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51043" y="3200400"/>
            <a:ext cx="548640" cy="7315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2483" y="3520440"/>
            <a:ext cx="3657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4922443" y="2926080"/>
            <a:ext cx="320040" cy="630936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733723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Data Class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Only holds data; almost no behavior.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6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81646" y="210312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18806" y="224028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28534" y="2350008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28534" y="245973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28534" y="2569464"/>
            <a:ext cx="5029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18806" y="2679192"/>
            <a:ext cx="7772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28534" y="2788920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28534" y="2898648"/>
            <a:ext cx="5486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28534" y="300837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18806" y="3118104"/>
            <a:ext cx="6858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28534" y="3227832"/>
            <a:ext cx="4572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28534" y="333756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28534" y="3447288"/>
            <a:ext cx="7315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18806" y="3557016"/>
            <a:ext cx="5943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4" y="3666744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28534" y="3776472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1606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Long Method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has grown too long.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0889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60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own class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9532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other class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8948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37820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99217" y="3063240"/>
            <a:ext cx="54864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487937" y="272491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70817" y="2743200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9847857" y="2784348"/>
            <a:ext cx="640080" cy="320040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487937" y="3072384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70817" y="3090672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847857" y="3104388"/>
            <a:ext cx="640080" cy="27432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0487937" y="3419856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670817" y="3438144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9847857" y="3104388"/>
            <a:ext cx="640080" cy="374904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89489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Feature Envy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uses another class more than its own.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7240" y="55321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1F4E79"/>
                </a:solidFill>
                <a:latin typeface="Segoe UI Semibold"/>
              </a:rPr>
              <a:t>Blue line</a:t>
            </a:r>
            <a:r>
              <a:rPr sz="1400">
                <a:solidFill>
                  <a:srgbClr val="4C5560"/>
                </a:solidFill>
                <a:latin typeface="Segoe UI"/>
              </a:rPr>
              <a:t> = method   ·   </a:t>
            </a:r>
            <a:r>
              <a:rPr sz="1400">
                <a:solidFill>
                  <a:srgbClr val="5E6874"/>
                </a:solidFill>
                <a:latin typeface="Segoe UI Semibold"/>
              </a:rPr>
              <a:t>gray dot</a:t>
            </a:r>
            <a:r>
              <a:rPr sz="1400">
                <a:solidFill>
                  <a:srgbClr val="4C5560"/>
                </a:solidFill>
                <a:latin typeface="Segoe UI"/>
              </a:rPr>
              <a:t> = field (a piece of data)   ·   box = class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JavaSmell measures 26 metrics once and answers with three approaches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One analyzer: A rules · B machine learning · C refactoring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182880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 source code</a:t>
            </a:r>
          </a:p>
        </p:txBody>
      </p:sp>
      <p:sp>
        <p:nvSpPr>
          <p:cNvPr id="5" name="Down Arrow 4"/>
          <p:cNvSpPr/>
          <p:nvPr/>
        </p:nvSpPr>
        <p:spPr>
          <a:xfrm>
            <a:off x="3520440" y="2331720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87168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8716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26 metrics: lines, complexity, coupling, … [2], [8]</a:t>
            </a:r>
          </a:p>
        </p:txBody>
      </p:sp>
      <p:sp>
        <p:nvSpPr>
          <p:cNvPr id="8" name="Down Arrow 7"/>
          <p:cNvSpPr/>
          <p:nvPr/>
        </p:nvSpPr>
        <p:spPr>
          <a:xfrm>
            <a:off x="205740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498348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3544" y="3218688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8 published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9624" y="32186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Machine learning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498348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803904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803904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Smells, each with the conditions that fired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520440" y="4306824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62272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" y="4535424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462272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Refactoring engine: rewrites only what it can prove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520440" y="4965192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12064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12064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javac check, then a patch — never written in place</a:t>
            </a:r>
          </a:p>
        </p:txBody>
      </p:sp>
      <p:pic>
        <p:nvPicPr>
          <p:cNvPr id="27" name="Picture 26" descr="nderfaqja_paneli.png"/>
          <p:cNvPicPr>
            <a:picLocks noChangeAspect="1"/>
          </p:cNvPicPr>
          <p:nvPr/>
        </p:nvPicPr>
        <p:blipFill>
          <a:blip r:embed="rId3"/>
          <a:srcRect l="6771" r="54861" t="60556" b="8889"/>
          <a:stretch>
            <a:fillRect/>
          </a:stretch>
        </p:blipFill>
        <p:spPr>
          <a:xfrm>
            <a:off x="6858000" y="2240280"/>
            <a:ext cx="4556455" cy="2267918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858000" y="4645358"/>
            <a:ext cx="4556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Web interface in plain language (Albanian): every finding shows the conditions that fired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Professional developers label the code; no model is tested on a project it saw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MLCQ [3]: reviewed by 26 professional developers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testing Q1 · 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9,046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pieces of code (classes or methods) judged by professional developers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93852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512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open-source projects they come from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2529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619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2529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3619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2529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3619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48256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8541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720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8541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9631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0720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8541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0720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48256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5643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6732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7822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5643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76732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7822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643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76732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7822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19272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0288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2744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834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72744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3834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4924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2744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3834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34924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90288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61304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9846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2025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99846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0936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2025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9846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0936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025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61304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test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212080"/>
            <a:ext cx="6199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Projects split into 5 groups: learn from four, test on the fifth, which the model has never seen. Five times.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88352" y="3611880"/>
            <a:ext cx="4026103" cy="2240280"/>
          </a:xfrm>
          <a:prstGeom prst="roundRect">
            <a:avLst>
              <a:gd name="adj" fmla="val 326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16952" y="3794760"/>
            <a:ext cx="3568903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Why MCC, not accuracy [9]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4000">
                <a:solidFill>
                  <a:srgbClr val="8C2F22"/>
                </a:solidFill>
                <a:latin typeface="Segoe UI Semibold"/>
              </a:rPr>
              <a:t>92.8%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accuracy of a detector that always says “clean” on Feature Envy. Its MCC is 0, the same as guessing.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Learned models beat the rules on all four smells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Same 9,046 samples, same scoring · higher is better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Q1 ·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Out of 100 real smells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24612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5E6874"/>
                </a:solidFill>
                <a:latin typeface="Segoe UI Semibold"/>
              </a:rPr>
              <a:t>17–47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29768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30–83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349240"/>
            <a:ext cx="2773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The price: usually more false alarms.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For Feature Envy, even two experts agree no better than chance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Two reviewers judged the same code: how often did they agree?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explains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8C2F22"/>
                </a:solidFill>
                <a:latin typeface="Segoe UI Semibold"/>
              </a:rPr>
              <a:t>−0.07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Feature Envy: agreement of a coin flip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45262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If experts do not agree on what a smell is, no detector can learn it well.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The engine rewrites only what it can prove, and refuses the rest with a reason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transformations: Extract Method · Guard Clauses · Introduce Parameter Object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>
                <a:solidFill>
                  <a:srgbClr val="1A1D21"/>
                </a:solidFill>
                <a:latin typeface="Segoe UI Semibold"/>
              </a:rPr>
              <a:t>15,800</a:t>
            </a:r>
            <a:r>
              <a:rPr sz="1600">
                <a:solidFill>
                  <a:srgbClr val="4C5560"/>
                </a:solidFill>
                <a:latin typeface="Segoe UI"/>
              </a:rPr>
              <a:t>   places in the code where a fix could apply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06040"/>
            <a:ext cx="2377888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 Semibold"/>
              </a:rPr>
              <a:t>3,532 rewritten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"/>
              </a:rPr>
              <a:t>22.4%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848" y="2606040"/>
            <a:ext cx="8202834" cy="731520"/>
          </a:xfrm>
          <a:prstGeom prst="roundRect">
            <a:avLst>
              <a:gd name="adj" fmla="val 10000"/>
            </a:avLst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12,252 refused: not provably safe, each with a reason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77.5%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015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4C5560"/>
                </a:solidFill>
                <a:latin typeface="Segoe UI"/>
              </a:rPr>
              <a:t>+ 16 (0.1%) could not be found again in the file, so no fix was tried</a:t>
            </a:r>
            <a:r>
              <a:rPr sz="1400">
                <a:solidFill>
                  <a:srgbClr val="1A1D21"/>
                </a:solidFill>
                <a:latin typeface="Segoe UI Semibold"/>
              </a:rPr>
              <a:t>      3,532 + 12,252 + 16 = 15,800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 Semibold"/>
              </a:rPr>
              <a:t>The 3,532 rewrites, by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Extract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07127" y="43434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3,298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608576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608576"/>
            <a:ext cx="47100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27448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Introduce Parameter Object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7127" y="47274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155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992624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992624"/>
            <a:ext cx="22136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11496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Guard Clauses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7127" y="51114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79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376672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376672"/>
            <a:ext cx="11282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3931920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 Semibold"/>
              </a:rPr>
              <a:t>Why the 12,252 were refused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343400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Code shape does not match the 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4" y="43434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7,154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0167" y="4608576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0167" y="4608576"/>
            <a:ext cx="2945382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0167" y="4727448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A return, break or continue leaves the block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4" y="47274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4,050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0167" y="4992624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70167" y="4992624"/>
            <a:ext cx="1667430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0167" y="5111496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An input value is not definitely assigned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0054" y="51114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621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0167" y="5376672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70167" y="5376672"/>
            <a:ext cx="255672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0167" y="5495544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Three other reasons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00054" y="549554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427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70167" y="5760720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0167" y="5760720"/>
            <a:ext cx="175800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Each rewrite is checked before and after, but compiling ≠ the same behavior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How the rewrites were validated, from the syntax tree to a manual review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validates Q3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8424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78308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Before: prove the preconditions [7]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on the syntax tree, or refuse with a reason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7830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3,532 rewritten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12,252 refused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0604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0720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260604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After: compile with javac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the rewritten file may add no new kind of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60604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3,471 pass (98.3%)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58 fail, never written · 3 no verdict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42900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63016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342900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Measure the smell again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does the detector still fire on the new code?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342900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2,287 removed (64.8%)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793 remain · 452 not identifiable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25196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3544" y="445312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425196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Sample: compile inside the project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201 rewrites in 60 files, with their neighbours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42519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66 compile fully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2 new errors · 19 no verdict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07492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52760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744" y="507492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Read by hand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60 rewrites: behavior, benefit, acceptance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507492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62.9% acceptable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1 changed the behavior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1783080"/>
            <a:ext cx="3001975" cy="4023360"/>
          </a:xfrm>
          <a:prstGeom prst="roundRect">
            <a:avLst>
              <a:gd name="adj" fmla="val 2436"/>
            </a:avLst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1965960"/>
            <a:ext cx="254477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8C2F22"/>
                </a:solidFill>
                <a:latin typeface="Segoe UI Semibold"/>
              </a:rPr>
              <a:t>Not verified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Compiling ≠ the same behavior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No step runs the program. The projects' own tests were not run: the data keeps only .java files, without build files or libraries.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So the claim is: the rewrite compiles, or adds no new kind of error.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Real code: the outer if becomes an early return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Apache Geode · DistributedRegion.checkForLimitedOrNoAccess · Guard Clauses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example for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Before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73936"/>
            <a:ext cx="7589520" cy="1885950"/>
          </a:xfrm>
          <a:prstGeom prst="roundRect">
            <a:avLst>
              <a:gd name="adj" fmla="val 38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383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37921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865376"/>
            <a:ext cx="7296912" cy="1703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  if (this.requiresReliabilityCheck &amp;&amp; this.isMissingRequiredRoles)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5132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062222"/>
            <a:ext cx="7589520" cy="2075180"/>
          </a:xfrm>
          <a:prstGeom prst="roundRect">
            <a:avLst>
              <a:gd name="adj" fmla="val 352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53212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2135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91058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153662"/>
            <a:ext cx="7296912" cy="189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if (!(this.requiresReliabilityCheck &amp;&amp; this.isMissingRequiredRoles))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  return;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1600200"/>
            <a:ext cx="268193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2F6F45"/>
                </a:solidFill>
                <a:latin typeface="Segoe UI Semibold"/>
              </a:rPr>
              <a:t>−1 level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of nesting: everything after the guard moves up</a:t>
            </a:r>
          </a:p>
        </p:txBody>
      </p:sp>
      <p:sp>
        <p:nvSpPr>
          <p:cNvPr id="19" name="Oval 18"/>
          <p:cNvSpPr/>
          <p:nvPr/>
        </p:nvSpPr>
        <p:spPr>
          <a:xfrm>
            <a:off x="8732520" y="3246120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2461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outer condition becomes an early return.</a:t>
            </a:r>
          </a:p>
        </p:txBody>
      </p:sp>
      <p:sp>
        <p:nvSpPr>
          <p:cNvPr id="21" name="Oval 20"/>
          <p:cNvSpPr/>
          <p:nvPr/>
        </p:nvSpPr>
        <p:spPr>
          <a:xfrm>
            <a:off x="8732520" y="41605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1605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Passed the javac check.</a:t>
            </a:r>
          </a:p>
        </p:txBody>
      </p:sp>
      <p:sp>
        <p:nvSpPr>
          <p:cNvPr id="23" name="Oval 22"/>
          <p:cNvSpPr/>
          <p:nvPr/>
        </p:nvSpPr>
        <p:spPr>
          <a:xfrm>
            <a:off x="8732520" y="50749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50749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Judged acceptable as-is in the manual review.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F4F6F9"/>
                </a:solidFill>
                <a:latin typeface="Segoe UI Semibold"/>
              </a:rPr>
              <a:t>Key findings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Key findings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1764792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F4F6F9"/>
                </a:solidFill>
                <a:latin typeface="Segoe UI"/>
              </a:rPr>
              <a:t>Rules are precise, but find only 17–47 of every 100 smells.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5176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2633472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F4F6F9"/>
                </a:solidFill>
                <a:latin typeface="Segoe UI"/>
              </a:rPr>
              <a:t>Learned models do better on all four, clearly on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2044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3502152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F4F6F9"/>
                </a:solidFill>
                <a:latin typeface="Segoe UI"/>
              </a:rPr>
              <a:t>Yes, for 22% of places; 98% compile or add no new error, but behavior is not yet proven.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F08A7E"/>
                </a:solidFill>
                <a:latin typeface="Segoe UI Semibold"/>
              </a:rPr>
              <a:t>Limits: </a:t>
            </a:r>
            <a:r>
              <a:rPr sz="1400">
                <a:solidFill>
                  <a:srgbClr val="A9B8C9"/>
                </a:solidFill>
                <a:latin typeface="Segoe UI"/>
              </a:rPr>
              <a:t>one dataset, four smells, Java only; the best model was chosen on the same predictions, so it is slightly optimistic.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136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50136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Published thresholds are a starting point: calibrate or learn them for your own code.</a:t>
            </a:r>
          </a:p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An automatic fix is a compiler-checked proposal that a developer reviews and tests.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50136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Future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20440"/>
            <a:ext cx="50136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Run the projects' own tests, to go from “compiles” to “behaves the same”.</a:t>
            </a:r>
          </a:p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Resolve names inside a project, to add Move Method and Encapsulate Field.</a:t>
            </a:r>
          </a:p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More smells beyond MLCQ, and reviewers other than the author.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>
                <a:solidFill>
                  <a:srgbClr val="F4F6F9"/>
                </a:solidFill>
                <a:latin typeface="Segoe UI Semibold"/>
              </a:rPr>
              <a:t>Thank you  ·  Questions?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github.com/FlorentLatifi/Code-Smell-Detection-and-Refactoring-Recommendations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5090007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[1]  </a:t>
            </a:r>
            <a:r>
              <a:rPr sz="1200" i="0">
                <a:solidFill>
                  <a:srgbClr val="1A1D21"/>
                </a:solidFill>
                <a:latin typeface="Segoe UI"/>
              </a:rPr>
              <a:t>M. Fowler, </a:t>
            </a:r>
            <a:r>
              <a:rPr sz="1200" i="1">
                <a:solidFill>
                  <a:srgbClr val="1A1D21"/>
                </a:solidFill>
                <a:latin typeface="Segoe UI"/>
              </a:rPr>
              <a:t>Refactoring: Improving the Design of Existing Code</a:t>
            </a:r>
            <a:r>
              <a:rPr sz="1200" i="0">
                <a:solidFill>
                  <a:srgbClr val="1A1D21"/>
                </a:solidFill>
                <a:latin typeface="Segoe UI"/>
              </a:rPr>
              <a:t>, 2nd ed. Boston, MA, USA: Addison-Wesley, 2018.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[2]  </a:t>
            </a:r>
            <a:r>
              <a:rPr sz="1200" i="0">
                <a:solidFill>
                  <a:srgbClr val="1A1D21"/>
                </a:solidFill>
                <a:latin typeface="Segoe UI"/>
              </a:rPr>
              <a:t>M. Lanza and R. Marinescu, </a:t>
            </a:r>
            <a:r>
              <a:rPr sz="1200" i="1">
                <a:solidFill>
                  <a:srgbClr val="1A1D21"/>
                </a:solidFill>
                <a:latin typeface="Segoe UI"/>
              </a:rPr>
              <a:t>Object-Oriented Metrics in Practice: Using Software Metrics to Characterize, Evaluate, and Improve the Design of Object-Oriented Systems</a:t>
            </a:r>
            <a:r>
              <a:rPr sz="1200" i="0">
                <a:solidFill>
                  <a:srgbClr val="1A1D21"/>
                </a:solidFill>
                <a:latin typeface="Segoe UI"/>
              </a:rPr>
              <a:t>. Berlin, Germany: Springer, 2006, doi: 10.1007/3-540-39538-5.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[3]  </a:t>
            </a:r>
            <a:r>
              <a:rPr sz="1200" i="0">
                <a:solidFill>
                  <a:srgbClr val="1A1D21"/>
                </a:solidFill>
                <a:latin typeface="Segoe UI"/>
              </a:rPr>
              <a:t>L. Madeyski and T. Lewowski, “MLCQ: Industry-relevant code smell data set,” in </a:t>
            </a:r>
            <a:r>
              <a:rPr sz="1200" i="1">
                <a:solidFill>
                  <a:srgbClr val="1A1D21"/>
                </a:solidFill>
                <a:latin typeface="Segoe UI"/>
              </a:rPr>
              <a:t>Proceedings of the 24th International Conference on Evaluation and Assessment in Software Engineering (EASE ’20)</a:t>
            </a:r>
            <a:r>
              <a:rPr sz="1200" i="0">
                <a:solidFill>
                  <a:srgbClr val="1A1D21"/>
                </a:solidFill>
                <a:latin typeface="Segoe UI"/>
              </a:rPr>
              <a:t>, 2020, pp. 342–347, doi: 10.1145/3383219.3383264.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[4]  </a:t>
            </a:r>
            <a:r>
              <a:rPr sz="1200" i="0">
                <a:solidFill>
                  <a:srgbClr val="1A1D21"/>
                </a:solidFill>
                <a:latin typeface="Segoe UI"/>
              </a:rPr>
              <a:t>F. Arcelli Fontana, M. V. Mäntylä, M. Zanoni, and A. Marino, “Comparing and experimenting machine learning techniques for code smell detection,”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Empirical Software Engineering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21, no. 3, pp. 1143–1191, 2016, doi: 10.1007/s10664-015-9378-4.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[5]  </a:t>
            </a:r>
            <a:r>
              <a:rPr sz="1200" i="0">
                <a:solidFill>
                  <a:srgbClr val="1A1D21"/>
                </a:solidFill>
                <a:latin typeface="Segoe UI"/>
              </a:rPr>
              <a:t>D. Di Nucci, F. Palomba, D. A. Tamburri, A. Serebrenik, and A. De Lucia, “Detecting code smells using machine learning techniques: Are we there yet?” in </a:t>
            </a:r>
            <a:r>
              <a:rPr sz="1200" i="1">
                <a:solidFill>
                  <a:srgbClr val="1A1D21"/>
                </a:solidFill>
                <a:latin typeface="Segoe UI"/>
              </a:rPr>
              <a:t>Proceedings of the 25th IEEE International Conference on Software Analysis, Evolution and Reengineering (SANER ’18)</a:t>
            </a:r>
            <a:r>
              <a:rPr sz="1200" i="0">
                <a:solidFill>
                  <a:srgbClr val="1A1D21"/>
                </a:solidFill>
                <a:latin typeface="Segoe UI"/>
              </a:rPr>
              <a:t>, 2018, pp. 612–621, doi: 10.1109/SANER.2018.8330266.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[6]  </a:t>
            </a:r>
            <a:r>
              <a:rPr sz="1200" i="0">
                <a:solidFill>
                  <a:srgbClr val="1A1D21"/>
                </a:solidFill>
                <a:latin typeface="Segoe UI"/>
              </a:rPr>
              <a:t>N. Tsantalis and A. Chatzigeorgiou, “Identification of Move Method refactoring opportunities,”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IEEE Transactions on Software Engineering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35, no. 3, pp. 347–367, 2009, doi: 10.1109/TSE.2009.1.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24447" y="1600200"/>
            <a:ext cx="5090007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[7]  </a:t>
            </a:r>
            <a:r>
              <a:rPr sz="1200" i="0">
                <a:solidFill>
                  <a:srgbClr val="1A1D21"/>
                </a:solidFill>
                <a:latin typeface="Segoe UI"/>
              </a:rPr>
              <a:t>W. F. Opdyke, “Refactoring object-oriented frameworks,” Ph.D. dissertation, University of Illinois at Urbana-Champaign, Urbana, IL, USA, 1992.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[8]  </a:t>
            </a:r>
            <a:r>
              <a:rPr sz="1200" i="0">
                <a:solidFill>
                  <a:srgbClr val="1A1D21"/>
                </a:solidFill>
                <a:latin typeface="Segoe UI"/>
              </a:rPr>
              <a:t>S. R. Chidamber and C. F. Kemerer, “A metrics suite for object oriented design,”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IEEE Transactions on Software Engineering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20, no. 6, pp. 476–493, 1994, doi: 10.1109/32.295895.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[9]  </a:t>
            </a:r>
            <a:r>
              <a:rPr sz="1200" i="0">
                <a:solidFill>
                  <a:srgbClr val="1A1D21"/>
                </a:solidFill>
                <a:latin typeface="Segoe UI"/>
              </a:rPr>
              <a:t>D. Chicco and G. Jurman, “The advantages of the Matthews correlation coefficient (MCC) over F1 score and accuracy in binary classification evaluation,”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BMC Genomics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21, no. 1, Art. no. 6, 2020, doi: 10.1186/s12864-019-6413-7.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[10]  </a:t>
            </a:r>
            <a:r>
              <a:rPr sz="1200" i="0">
                <a:solidFill>
                  <a:srgbClr val="1A1D21"/>
                </a:solidFill>
                <a:latin typeface="Segoe UI"/>
              </a:rPr>
              <a:t>PMD Team, </a:t>
            </a:r>
            <a:r>
              <a:rPr sz="1200" i="1">
                <a:solidFill>
                  <a:srgbClr val="1A1D21"/>
                </a:solidFill>
                <a:latin typeface="Segoe UI"/>
              </a:rPr>
              <a:t>PMD: An Extensible Cross-Language Static Code Analyzer</a:t>
            </a:r>
            <a:r>
              <a:rPr sz="1200" i="0">
                <a:solidFill>
                  <a:srgbClr val="1A1D21"/>
                </a:solidFill>
                <a:latin typeface="Segoe UI"/>
              </a:rPr>
              <a:t>, version 7.27.0. (2026). [Online]. Available: https://pmd.github.io/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[11]  </a:t>
            </a:r>
            <a:r>
              <a:rPr sz="1200" i="0">
                <a:solidFill>
                  <a:srgbClr val="1A1D21"/>
                </a:solidFill>
                <a:latin typeface="Segoe UI"/>
              </a:rPr>
              <a:t>L. Madeyski and T. Lewowski, “Detecting code smells using industry-relevant data,”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Information and Software Technology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155, Art. no. 107112, 2023, doi: 10.1016/j.infsof.2022.107112.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Full detection results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Precision, recall and MCC for both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47"/>
                <a:gridCol w="967019"/>
                <a:gridCol w="967019"/>
                <a:gridCol w="1243310"/>
                <a:gridCol w="2624767"/>
                <a:gridCol w="967019"/>
                <a:gridCol w="967019"/>
                <a:gridCol w="124331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0.174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0.770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0.230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0.546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0.413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0.438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0.833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Confidence intervals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95% bootstrap intervals, resampling whole repositories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793"/>
                <a:gridCol w="2291092"/>
                <a:gridCol w="2291092"/>
                <a:gridCol w="2454741"/>
                <a:gridCol w="1636494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B − A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Above zero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[0.274, 0.393]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[0.494, 0.581]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[0.138, 0.271]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[0.313, 0.423]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[0.419, 0.530]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[0.158, 0.330]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[0.246, 0.398]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[-0.012, 0.166]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[0.559, 0.667]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[0.681, 0.768]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0.165]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Every algorithm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each classifier, same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522"/>
                <a:gridCol w="2887244"/>
                <a:gridCol w="1975482"/>
                <a:gridCol w="2583323"/>
                <a:gridCol w="136764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0.505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0.426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0.471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PMD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PMD 7.27.0 [10] with its default thresholds, same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7878"/>
                <a:gridCol w="1262042"/>
                <a:gridCol w="1262042"/>
                <a:gridCol w="3245252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PMD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Our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Difference, 95% CI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(strategy)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0.342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-0.088 to +0.008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(with size)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0.487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+0.054 to +0.158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-0.012 to +0.101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 (LawOfDemeter)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0.056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+0.316 to +0.475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Verification in detail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Which rewrites succeeded and which had problems, per fix and per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All 15,800 places, by fix: “pass” = compiles, or adds no new kind of error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372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3736"/>
                <a:gridCol w="750862"/>
                <a:gridCol w="1126293"/>
                <a:gridCol w="1376580"/>
                <a:gridCol w="1126293"/>
                <a:gridCol w="1626868"/>
                <a:gridCol w="1376580"/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Fix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Places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Rewritten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Pass javac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New error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 removed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Acceptable*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Extract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10,115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3,298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3,239 (98%)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2,087 (63%)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65%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Introduce Parameter Object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1,842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153 (99%)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155 (100%)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Guard Clauses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3,827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79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79 (100%)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45 (57%)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Not located again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All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15,800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3,532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3,471 (98%)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2,287 (65%)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62.9%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1605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The same 201 rewrites (60 files), compiled two ways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4462272"/>
          <a:ext cx="1063721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5283"/>
                <a:gridCol w="1975482"/>
                <a:gridCol w="3039204"/>
                <a:gridCol w="1367641"/>
                <a:gridCol w="1519602"/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Compiled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Compile fully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No new kind of error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New error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No verdict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The file alone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Inside its project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* Manual review of 20 rewrites per fix; “All” is reweighted by how often each fix occurs. 3 rewrites got no javac verdict. After rewriting, 865 new smells appeared, most often Long Parameter List (367).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Extract Method in the interface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jsoup · NodeTraversor.traverse, preview before any file is touched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19</a:t>
            </a:r>
          </a:p>
        </p:txBody>
      </p:sp>
      <p:pic>
        <p:nvPicPr>
          <p:cNvPr id="5" name="Picture 4" descr="nderfaqja_rishkr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10637215" cy="3462487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the literature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Madeyski &amp; Lewowski [11], same MLCQ dataset, DS1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825"/>
                <a:gridCol w="1772869"/>
                <a:gridCol w="1772869"/>
                <a:gridCol w="472765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Madeyski &amp; Lewowski 2023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 (RF)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0.57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 (FDA)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&gt; 0.75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