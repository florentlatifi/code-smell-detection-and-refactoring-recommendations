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Latifi. This is my bachelor thesis at UBT, with my supervisor Altina Salihu.</a:t>
            </a:r>
            <a:r>
              <a:rPr i="0"/>
              <a:t> In the next minutes I will show three things: how a tool can find design problems in Java code, how accurate it is, and whether it can also fix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Every developer knows the class that nobody wants to touch.</a:t>
            </a:r>
            <a:r>
              <a:rPr i="0"/>
              <a:t> The program works, but every small change takes too long.</a:t>
            </a:r>
            <a:r>
              <a:rPr i="0"/>
              <a:t> We call these design problems code smells.</a:t>
            </a:r>
            <a:r>
              <a:rPr i="0"/>
              <a:t> They are not bugs. They make the code expensive to change.</a:t>
            </a:r>
            <a:r>
              <a:rPr i="0"/>
              <a:t> Most tools use fixed numbers: if a method has more than 30 lines, it is a Long Method.</a:t>
            </a:r>
            <a:r>
              <a:rPr i="0"/>
              <a:t> But these numbers come from other projects, and the tools do not fix anything.</a:t>
            </a:r>
            <a:r>
              <a:rPr i="0"/>
              <a:t> So I asked three questions.</a:t>
            </a:r>
            <a:r>
              <a:rPr i="0"/>
              <a:t> One: how accurate are the published rules?</a:t>
            </a:r>
            <a:r>
              <a:rPr i="0"/>
              <a:t> Two: can machine learning do better?</a:t>
            </a:r>
            <a:r>
              <a:rPr i="0"/>
              <a:t> Three: can a tool fix these smells automatically,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In this study I look at four smells.</a:t>
            </a:r>
            <a:r>
              <a:rPr i="0"/>
              <a:t> A Blob is a class that does too much.</a:t>
            </a:r>
            <a:r>
              <a:rPr i="0"/>
              <a:t> A Data Class only holds data and does almost nothing with it.</a:t>
            </a:r>
            <a:r>
              <a:rPr i="0"/>
              <a:t> A Long Method is a method that has grown too long.</a:t>
            </a:r>
            <a:r>
              <a:rPr i="0"/>
              <a:t> And Feature Envy is a method that works more with another class than with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answer the three questions, I built a tool called JavaSmell.</a:t>
            </a:r>
            <a:r>
              <a:rPr i="0"/>
              <a:t> It reads Java code and measures 26 numbers for every class and method, like the number of lines or how complex the code is.</a:t>
            </a:r>
            <a:r>
              <a:rPr i="0"/>
              <a:t> Part A uses 8 rules from well-known books and papers.</a:t>
            </a:r>
            <a:r>
              <a:rPr i="0"/>
              <a:t> Part B uses machine learning on the same numbers.</a:t>
            </a:r>
            <a:r>
              <a:rPr i="0"/>
              <a:t> Part C fixes the code, but only when it can prove that the change is safe.</a:t>
            </a:r>
            <a:r>
              <a:rPr i="0"/>
              <a:t> Then the Java compiler checks the result.</a:t>
            </a:r>
            <a:r>
              <a:rPr i="0"/>
              <a:t> On the right you see the web interface, in plain Albanian, for people who are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test the tool fairly, I need answers from real people.</a:t>
            </a:r>
            <a:r>
              <a:rPr i="0"/>
              <a:t> I used MLCQ, a public dataset where professional developers judged real Java code.</a:t>
            </a:r>
            <a:r>
              <a:rPr i="0"/>
              <a:t> In total I have 9,046 pieces of code from 512 open-source projects.</a:t>
            </a:r>
            <a:r>
              <a:rPr i="0"/>
              <a:t> A model is never tested on a project it has already seen: it learns from four groups of projects and is tested on the fifth.</a:t>
            </a:r>
            <a:r>
              <a:rPr i="0"/>
              <a:t> To score the results I use MCC, not simple accuracy.</a:t>
            </a:r>
            <a:r>
              <a:rPr i="0"/>
              <a:t> On Feature Envy, a detector that always says “clean” is 93 percent accurate, but it is useless. Its MCC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are the main results.</a:t>
            </a:r>
            <a:r>
              <a:rPr i="0"/>
              <a:t> Gray is the published rules, blue is machine learning.</a:t>
            </a:r>
            <a:r>
              <a:rPr i="0"/>
              <a:t> Higher is better: zero means guessing, one means perfect.</a:t>
            </a:r>
            <a:r>
              <a:rPr i="0"/>
              <a:t> The rules are usually right when they raise an alarm, but out of every 100 real smells, they find only 17 to 47.</a:t>
            </a:r>
            <a:r>
              <a:rPr i="0"/>
              <a:t> Machine learning is better on all four smells. It finds 30 to 83 out of 100, but usually with more false alarms.</a:t>
            </a:r>
            <a:r>
              <a:rPr i="0"/>
              <a:t> For Blob, Data Class and Long Method, the improvement is real, not luck.</a:t>
            </a:r>
            <a:r>
              <a:rPr i="0"/>
              <a:t> For Feature Envy, it could be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Why is Feature Envy so hard?</a:t>
            </a:r>
            <a:r>
              <a:rPr i="0"/>
              <a:t> I looked at code that two developers judged, and checked how often they agree.</a:t>
            </a:r>
            <a:r>
              <a:rPr i="0"/>
              <a:t> For Blob, Data Class and Long Method, they agree only partly.</a:t>
            </a:r>
            <a:r>
              <a:rPr i="0"/>
              <a:t> For Feature Envy, they agree no more than a coin flip.</a:t>
            </a:r>
            <a:r>
              <a:rPr i="0"/>
              <a:t> So the problem is not only the algorithm.</a:t>
            </a:r>
            <a:r>
              <a:rPr i="0"/>
              <a:t> If experts do not agree on what a smell is, no tool can learn it well.</a:t>
            </a:r>
            <a:r>
              <a:rPr i="0"/>
              <a:t> For me, this is the most important lesson of the first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Now the third question: can we fix smells automatically?</a:t>
            </a:r>
            <a:r>
              <a:rPr i="0"/>
              <a:t> The tool knows three fixes: split a long method, turn a big if into an early exit, and group many parameters into one object.</a:t>
            </a:r>
            <a:r>
              <a:rPr i="0"/>
              <a:t> In all the projects, it found 15,800 places where a fix could apply.</a:t>
            </a:r>
            <a:r>
              <a:rPr i="0"/>
              <a:t> It changed 3,532 of them, about 22 percent.</a:t>
            </a:r>
            <a:r>
              <a:rPr i="0"/>
              <a:t> It refused the rest, because it could not prove the change was safe, and it always says why.</a:t>
            </a:r>
            <a:r>
              <a:rPr i="0"/>
              <a:t> For me, a refusal is a good result, not a failure.</a:t>
            </a:r>
            <a:r>
              <a:rPr i="0"/>
              <a:t> After a change, the smell disappeared in 65 percent of the cases.</a:t>
            </a:r>
            <a:r>
              <a:rPr i="0"/>
              <a:t> Only 1.6 percent of the changes added a new compile error, and those are never written to the code.</a:t>
            </a:r>
            <a:r>
              <a:rPr i="0"/>
              <a:t> By checking 60 changes by hand, I estimate that about 63 percent would be acceptable to a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is one real example, from the Apache Geode project.</a:t>
            </a:r>
            <a:r>
              <a:rPr i="0"/>
              <a:t> Before: the whole method is inside one big if, so all the code is pushed to the right.</a:t>
            </a:r>
            <a:r>
              <a:rPr i="0"/>
              <a:t> After: the condition becomes an early return, and the rest of the code moves one level up.</a:t>
            </a:r>
            <a:r>
              <a:rPr i="0"/>
              <a:t> The result compiles, and in my review it was acceptable without any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be honest about the limits: code that compiles does not always behave the same.</a:t>
            </a:r>
            <a:r>
              <a:rPr i="0"/>
              <a:t> I could not run the projects' own tests, so checking the behavior is future work.</a:t>
            </a:r>
            <a:r>
              <a:rPr i="0"/>
              <a:t> Also: one dataset, four smells, and only Java.</a:t>
            </a:r>
            <a:r>
              <a:rPr i="0"/>
              <a:t> So, the three answers.</a:t>
            </a:r>
            <a:r>
              <a:rPr i="0"/>
              <a:t> One: the published rules are precise, but they miss most smells.</a:t>
            </a:r>
            <a:r>
              <a:rPr i="0"/>
              <a:t> Two: machine learning on the same numbers does better.</a:t>
            </a:r>
            <a:r>
              <a:rPr i="0"/>
              <a:t> Three: automatic fixing is possible and safe, but only for a small part of the code.</a:t>
            </a:r>
            <a:r>
              <a:rPr i="0"/>
              <a:t> Everything is open source, and every number here can be recreated with a script.</a:t>
            </a:r>
            <a:r>
              <a:rPr i="0"/>
              <a:t> Thank you. I am happy to answer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Q1  ·  Question 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Q2  ·  Question 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Q3  ·  Question 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Four code smells, each a different design problem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All four are labeled by professional developers in the MLCQ dataset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2103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28600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0432" y="245059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261518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277977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2" y="2944368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0432" y="310896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0432" y="327355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0432" y="343814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0432" y="360273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37744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286000" y="256946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60320" y="333756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286000" y="352958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Blob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class that does too much.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5123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33723" y="2194560"/>
            <a:ext cx="1188720" cy="137160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98315" y="24048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81195" y="24231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8315" y="26334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81195" y="26517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98315" y="28620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195" y="28803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98315" y="30906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81195" y="31089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98315" y="33192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81195" y="33375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51043" y="3200400"/>
            <a:ext cx="548640" cy="7315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483" y="3520440"/>
            <a:ext cx="3657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4922443" y="2926080"/>
            <a:ext cx="320040" cy="630936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33723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Data Class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Only holds data; almost no behavior.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6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81646" y="210312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18806" y="224028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28534" y="2350008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28534" y="245973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28534" y="2569464"/>
            <a:ext cx="5029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18806" y="2679192"/>
            <a:ext cx="7772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28534" y="2788920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28534" y="2898648"/>
            <a:ext cx="5486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28534" y="300837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18806" y="3118104"/>
            <a:ext cx="6858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28534" y="3227832"/>
            <a:ext cx="4572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28534" y="333756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28534" y="3447288"/>
            <a:ext cx="7315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8806" y="3557016"/>
            <a:ext cx="5943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4" y="3666744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28534" y="3776472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1606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Long Method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has grown too long.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0889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60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own class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32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other class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8948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37820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99217" y="3063240"/>
            <a:ext cx="54864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487937" y="272491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0817" y="2743200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9847857" y="2784348"/>
            <a:ext cx="640080" cy="32004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87937" y="3072384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70817" y="3090672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847857" y="3104388"/>
            <a:ext cx="640080" cy="27432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0487937" y="3419856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70817" y="3438144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9847857" y="3104388"/>
            <a:ext cx="640080" cy="374904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89489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Feature Envy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uses another class more than its own.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55321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F4E79"/>
                </a:solidFill>
                <a:latin typeface="Segoe UI Semibold"/>
              </a:rPr>
              <a:t>Blue line</a:t>
            </a:r>
            <a:r>
              <a:rPr sz="1400">
                <a:solidFill>
                  <a:srgbClr val="4C5560"/>
                </a:solidFill>
                <a:latin typeface="Segoe UI"/>
              </a:rPr>
              <a:t> = method   ·   </a:t>
            </a:r>
            <a:r>
              <a:rPr sz="1400">
                <a:solidFill>
                  <a:srgbClr val="5E6874"/>
                </a:solidFill>
                <a:latin typeface="Segoe UI Semibold"/>
              </a:rPr>
              <a:t>gray dot</a:t>
            </a:r>
            <a:r>
              <a:rPr sz="1400">
                <a:solidFill>
                  <a:srgbClr val="4C5560"/>
                </a:solidFill>
                <a:latin typeface="Segoe UI"/>
              </a:rPr>
              <a:t> = field (a piece of data)   ·   box = class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metrics: lines, complexity, coupling, …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24028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64535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Web interface in plain language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(Madeyski &amp; Lewowski, 2020):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testing Q1 ·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pieces of code (classes or methods) judged by professional developers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93852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open-source projects they come from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12080"/>
            <a:ext cx="6199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Projects split into 5 groups: learn from four, test on the fifth, which the model has never seen.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11880"/>
            <a:ext cx="4026103" cy="2240280"/>
          </a:xfrm>
          <a:prstGeom prst="roundRect">
            <a:avLst>
              <a:gd name="adj" fmla="val 326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794760"/>
            <a:ext cx="3568903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the score is MCC, not accuracy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0, the same as guessing.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Same 9,046 samples, same scoring · higher is better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Q1 ·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Out of 100 real smells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24612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30–83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349240"/>
            <a:ext cx="2773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The price: usually more false alarms.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Two reviewers judged the same code: how often did they agree?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explains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agreement of a coin flip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45262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places in the code where a fix could 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06040"/>
            <a:ext cx="2377888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848" y="2606040"/>
            <a:ext cx="8202834" cy="731520"/>
          </a:xfrm>
          <a:prstGeom prst="roundRect">
            <a:avLst>
              <a:gd name="adj" fmla="val 10000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refused: not provably safe,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What happened to the 3,532 rewrites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64.8%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removed the smell they were made for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4418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1.6%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added a new kind of compile error, so they are never written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196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62.9%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acceptable to a developer, in a manual review of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example for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7393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38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37921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86537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5132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062222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53212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2135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91058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153662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1600200"/>
            <a:ext cx="268193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2F6F45"/>
                </a:solidFill>
                <a:latin typeface="Segoe UI Semibold"/>
              </a:rPr>
              <a:t>−1 level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of nesting: everything after the guard moves up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246120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2461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an early return.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1605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05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check.</a:t>
            </a:r>
          </a:p>
        </p:txBody>
      </p:sp>
      <p:sp>
        <p:nvSpPr>
          <p:cNvPr id="23" name="Oval 22"/>
          <p:cNvSpPr/>
          <p:nvPr/>
        </p:nvSpPr>
        <p:spPr>
          <a:xfrm>
            <a:off x="8732520" y="50749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50749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Judged acceptable as-is in the manual 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Three answers, and their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08A7E"/>
                </a:solidFill>
                <a:latin typeface="Segoe UI Semibold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4206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Compiles ≠ behaves the same: project tests were not run.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One dataset, four smells, Java only.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Best model chosen on the same predictions: slightly optimistic.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2120" y="1417320"/>
            <a:ext cx="5882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96596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1928" y="194767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Rules are precise, but find only 17–47 of every 100 smells.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3464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281635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Learned models do better on all four, clearly on three.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370332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368503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Yes, for 22% of places, and nothing that breaks compiling is written.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Why sites were refused, and what compiling inside the project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37215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Code shape does not match the transformation: 7,154 sites (45.3%)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 return, break or continue leaves the block: 4,050 sites (25.6%)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An input value is not definitely assigned: 621 sites (3.9%)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Same 201 rewrites compiled inside their project: 4 → 66 compile fully, 2 add a new error.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After rewriting, 865 new smells appeared, mostly Long Parameter List from Extract Method.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(2023),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