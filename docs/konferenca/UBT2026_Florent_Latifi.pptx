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Published rules (A)</c:v>
                </c:pt>
              </c:strCache>
            </c:strRef>
          </c:tx>
          <c:spPr>
            <a:solidFill>
              <a:srgbClr val="87919C"/>
            </a:solidFill>
          </c:spPr>
          <c:invertIfNegative val="0"/>
          <c:cat>
            <c:strRef>
              <c:f>Sheet1!$A$2:$A$5</c:f>
              <c:strCache>
                <c:ptCount val="4"/>
                <c:pt idx="0">
                  <c:v>Blob
(significant)</c:v>
                </c:pt>
                <c:pt idx="1">
                  <c:v>Data Class
(significant)</c:v>
                </c:pt>
                <c:pt idx="2">
                  <c:v>Feature Envy
(could be chance)</c:v>
                </c:pt>
                <c:pt idx="3">
                  <c:v>Long Method
(significant)</c:v>
                </c:pt>
              </c:strCache>
            </c:strRef>
          </c:cat>
          <c:val>
            <c:numRef>
              <c:f>Sheet1!$B$2:$B$5</c:f>
              <c:numCache>
                <c:formatCode>0.00</c:formatCode>
                <c:ptCount val="4"/>
                <c:pt idx="0">
                  <c:v>0.3357</c:v>
                </c:pt>
                <c:pt idx="1">
                  <c:v>0.3668</c:v>
                </c:pt>
                <c:pt idx="2">
                  <c:v>0.2429</c:v>
                </c:pt>
                <c:pt idx="3">
                  <c:v>0.6166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Best ML model (B)</c:v>
                </c:pt>
              </c:strCache>
            </c:strRef>
          </c:tx>
          <c:spPr>
            <a:solidFill>
              <a:srgbClr val="1F4E79"/>
            </a:solidFill>
          </c:spPr>
          <c:invertIfNegative val="0"/>
          <c:cat>
            <c:strRef>
              <c:f>Sheet1!$A$2:$A$5</c:f>
              <c:strCache>
                <c:ptCount val="4"/>
                <c:pt idx="0">
                  <c:v>Blob
(significant)</c:v>
                </c:pt>
                <c:pt idx="1">
                  <c:v>Data Class
(significant)</c:v>
                </c:pt>
                <c:pt idx="2">
                  <c:v>Feature Envy
(could be chance)</c:v>
                </c:pt>
                <c:pt idx="3">
                  <c:v>Long Method
(significant)</c:v>
                </c:pt>
              </c:strCache>
            </c:strRef>
          </c:cat>
          <c:val>
            <c:numRef>
              <c:f>Sheet1!$C$2:$C$5</c:f>
              <c:numCache>
                <c:formatCode>0.00</c:formatCode>
                <c:ptCount val="4"/>
                <c:pt idx="0">
                  <c:v>0.5387125336366718</c:v>
                </c:pt>
                <c:pt idx="1">
                  <c:v>0.4734406599321139</c:v>
                </c:pt>
                <c:pt idx="2">
                  <c:v>0.3205120550113616</c:v>
                </c:pt>
                <c:pt idx="3">
                  <c:v>0.7232588772153082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600">
                  <a:latin typeface="Segoe UI Semibol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C9D0D8"/>
            </a:solidFill>
          </a:ln>
        </c:spPr>
        <c:txPr>
          <a:bodyPr/>
          <a:lstStyle/>
          <a:p>
            <a:pPr>
              <a:defRPr sz="16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9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600"/>
          </a:pPr>
        </a:p>
      </c:txPr>
    </c:legend>
    <c:dispBlanksAs val="gap"/>
  </c:chart>
  <c:txPr>
    <a:bodyPr/>
    <a:lstStyle/>
    <a:p>
      <a:pPr>
        <a:defRPr sz="1600">
          <a:solidFill>
            <a:srgbClr val="1A1D21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Two reviewers</c:v>
                </c:pt>
              </c:strCache>
            </c:strRef>
          </c:tx>
          <c:spPr>
            <a:solidFill>
              <a:srgbClr val="1F4E79"/>
            </a:solidFill>
          </c:spPr>
          <c:invertIfNegative val="0"/>
          <c:dPt>
            <c:idx val="2"/>
            <c:invertIfNegative val="0"/>
            <c:spPr>
              <a:solidFill>
                <a:srgbClr val="8C2F22"/>
              </a:solidFill>
            </c:spPr>
          </c:dPt>
          <c:cat>
            <c:strRef>
              <c:f>Sheet1!$A$2:$A$5</c:f>
              <c:strCache>
                <c:ptCount val="4"/>
                <c:pt idx="0">
                  <c:v>Blob</c:v>
                </c:pt>
                <c:pt idx="1">
                  <c:v>Data Class</c:v>
                </c:pt>
                <c:pt idx="2">
                  <c:v>Feature Envy</c:v>
                </c:pt>
                <c:pt idx="3">
                  <c:v>Long Method</c:v>
                </c:pt>
              </c:strCache>
            </c:strRef>
          </c:cat>
          <c:val>
            <c:numRef>
              <c:f>Sheet1!$B$2:$B$5</c:f>
              <c:numCache>
                <c:formatCode>0.00</c:formatCode>
                <c:ptCount val="4"/>
                <c:pt idx="0">
                  <c:v>0.3122139059809652</c:v>
                </c:pt>
                <c:pt idx="1">
                  <c:v>0.3963586974485641</c:v>
                </c:pt>
                <c:pt idx="2">
                  <c:v>-0.07063755144675195</c:v>
                </c:pt>
                <c:pt idx="3">
                  <c:v>0.5671074064341379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600">
                  <a:latin typeface="Segoe UI Semibol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C9D0D8"/>
            </a:solidFill>
          </a:ln>
        </c:spPr>
        <c:txPr>
          <a:bodyPr/>
          <a:lstStyle/>
          <a:p>
            <a:pPr>
              <a:defRPr sz="16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9"/>
          <c:min val="-0.2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600">
          <a:solidFill>
            <a:srgbClr val="1A1D21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Good morning, everyone.</a:t>
            </a:r>
            <a:r>
              <a:rPr i="0"/>
              <a:t> My name is Florent Latifi, and this work comes from my bachelor thesis at UBT, supervised by Altina Salihu.</a:t>
            </a:r>
            <a:r>
              <a:rPr i="0"/>
              <a:t> In the next ten minutes I will show how we can detect code smells in Java automatically, how accurate that detection really is, and how far we can go in fixing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Every developer knows the class that nobody wants to touch.</a:t>
            </a:r>
            <a:r>
              <a:rPr i="0"/>
              <a:t> The program works, but every change takes longer than it should.</a:t>
            </a:r>
            <a:r>
              <a:rPr i="0"/>
              <a:t> These design problems are called code smells.</a:t>
            </a:r>
            <a:r>
              <a:rPr i="0"/>
              <a:t> They are not bugs, but they make maintenance expensive.</a:t>
            </a:r>
            <a:r>
              <a:rPr i="0"/>
              <a:t> Most tools find them with fixed thresholds.</a:t>
            </a:r>
            <a:r>
              <a:rPr i="0"/>
              <a:t> For example, if a method is longer than a certain number of lines, it is a Long Method.</a:t>
            </a:r>
            <a:r>
              <a:rPr i="0"/>
              <a:t> But these numbers were calibrated on other code, and most tools only point at the problem.</a:t>
            </a:r>
            <a:r>
              <a:rPr i="0"/>
              <a:t> They do not fix it.</a:t>
            </a:r>
            <a:r>
              <a:rPr i="0"/>
              <a:t> So we asked three questions.</a:t>
            </a:r>
            <a:r>
              <a:rPr i="0"/>
              <a:t> First, how accurate are the published detection rules?</a:t>
            </a:r>
            <a:r>
              <a:rPr i="0"/>
              <a:t> Second, can machine learning do better with the same metrics?</a:t>
            </a:r>
            <a:r>
              <a:rPr i="0"/>
              <a:t> And third, can we fix smells automatically without breaking the code?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To answer them, I built a tool called JavaSmell.</a:t>
            </a:r>
            <a:r>
              <a:rPr i="0"/>
              <a:t> It reads Java code and measures 26 metrics for every class and method.</a:t>
            </a:r>
            <a:r>
              <a:rPr i="0"/>
              <a:t> On top of these metrics there are three approaches.</a:t>
            </a:r>
            <a:r>
              <a:rPr i="0"/>
              <a:t> A uses 8 detection strategies from the literature, such as Lanza and Marinescu and Fowler.</a:t>
            </a:r>
            <a:r>
              <a:rPr i="0"/>
              <a:t> B trains machine learning classifiers on the same metrics.</a:t>
            </a:r>
            <a:r>
              <a:rPr i="0"/>
              <a:t> And C is a refactoring engine.</a:t>
            </a:r>
            <a:r>
              <a:rPr i="0"/>
              <a:t> It rewrites code only when it can prove its preconditions from the syntax tree, and then it checks the result with the Java compiler.</a:t>
            </a:r>
            <a:r>
              <a:rPr i="0"/>
              <a:t> On the right you can see the web interface.</a:t>
            </a:r>
            <a:r>
              <a:rPr i="0"/>
              <a:t> It also has a plain-language mode for people without a technical background.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For a fair test, we need labels from people.</a:t>
            </a:r>
            <a:r>
              <a:rPr i="0"/>
              <a:t> We used MLCQ, a public dataset where professional developers reviewed real open-source Java code.</a:t>
            </a:r>
            <a:r>
              <a:rPr i="0"/>
              <a:t> After matching the samples to our tool, we have 9,046 labeled samples from 512 repositories, for four smells.</a:t>
            </a:r>
            <a:r>
              <a:rPr i="0"/>
              <a:t> One important detail is how we split the data.</a:t>
            </a:r>
            <a:r>
              <a:rPr i="0"/>
              <a:t> Code from the same project looks very similar, so we grouped the data by repository: a model is never tested on a project it learned from.</a:t>
            </a:r>
            <a:r>
              <a:rPr i="0"/>
              <a:t> And we report the Matthews correlation coefficient, MCC.</a:t>
            </a:r>
            <a:r>
              <a:rPr i="0"/>
              <a:t> Most samples are clean, so simple accuracy would look very good even for a detector that never fires.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Here are the main results.</a:t>
            </a:r>
            <a:r>
              <a:rPr i="0"/>
              <a:t> The gray bars are the published rules, and the blue bars are the best machine learning model for each smell.</a:t>
            </a:r>
            <a:r>
              <a:rPr i="0"/>
              <a:t> The rules are often correct when they fire, but they catch only 17 to 47 percent of the smells that developers marked.</a:t>
            </a:r>
            <a:r>
              <a:rPr i="0"/>
              <a:t> The models are better on all four smells, with MCC from 0.32 to 0.72.</a:t>
            </a:r>
            <a:r>
              <a:rPr i="0"/>
              <a:t> We also computed 95 percent confidence intervals by resampling repositories.</a:t>
            </a:r>
            <a:r>
              <a:rPr i="0"/>
              <a:t> The improvement is clearly above zero for Blob, Data Class and Long Method.</a:t>
            </a:r>
            <a:r>
              <a:rPr i="0"/>
              <a:t> For Feature Envy, the difference could be chance.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Why is Feature Envy so hard?</a:t>
            </a:r>
            <a:r>
              <a:rPr i="0"/>
              <a:t> We measured how much the human reviewers agree with each other.</a:t>
            </a:r>
            <a:r>
              <a:rPr i="0"/>
              <a:t> For Blob, Data Class and Long Method, two reviewers agree only moderately.</a:t>
            </a:r>
            <a:r>
              <a:rPr i="0"/>
              <a:t> For Feature Envy, they agree no better than chance.</a:t>
            </a:r>
            <a:r>
              <a:rPr i="0"/>
              <a:t> So the problem is not only the algorithm.</a:t>
            </a:r>
            <a:r>
              <a:rPr i="0"/>
              <a:t> It is the definition of the smell itself.</a:t>
            </a:r>
            <a:r>
              <a:rPr i="0"/>
              <a:t> If experts do not agree on what a smell is, no detector can learn it well.</a:t>
            </a:r>
            <a:r>
              <a:rPr i="0"/>
              <a:t> For me, this is the main lesson of the detection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Now the refactoring engine.</a:t>
            </a:r>
            <a:r>
              <a:rPr i="0"/>
              <a:t> It supports three transformations: Extract Method, Replace Nested Conditional with Guard Clauses, and Introduce Parameter Object.</a:t>
            </a:r>
            <a:r>
              <a:rPr i="0"/>
              <a:t> On the whole corpus it found 15,800 sites and rewrote 3,532 of them, which is 22 percent.</a:t>
            </a:r>
            <a:r>
              <a:rPr i="0"/>
              <a:t> The rest were refused, each with a reason.</a:t>
            </a:r>
            <a:r>
              <a:rPr i="0"/>
              <a:t> For us, refusing is a correct result, not a failure.</a:t>
            </a:r>
            <a:r>
              <a:rPr i="0"/>
              <a:t> After rewriting, the smell disappeared in 65 percent of the cases.</a:t>
            </a:r>
            <a:r>
              <a:rPr i="0"/>
              <a:t> Only 1.6 percent of the rewrites introduced a new type of compilation error, and those never reach the code, because the tool only writes verified rewrites.</a:t>
            </a:r>
            <a:r>
              <a:rPr i="0"/>
              <a:t> I also read 60 rewrites by hand: after reweighting, about 63 percent would be acceptable to a developer.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Here is one real example from Apache Geode.</a:t>
            </a:r>
            <a:r>
              <a:rPr i="0"/>
              <a:t> Before, the whole method is wrapped in one if statement, so everything is nested deeply.</a:t>
            </a:r>
            <a:r>
              <a:rPr i="0"/>
              <a:t> After the rewrite, the condition becomes a guard clause with an early return, and the rest of the method moves one level up.</a:t>
            </a:r>
            <a:r>
              <a:rPr i="0"/>
              <a:t> The rewrite passed the compiler check, and in my review it was acceptable as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To be honest about the limits: compiling is not the same as behaving the same.</a:t>
            </a:r>
            <a:r>
              <a:rPr i="0"/>
              <a:t> We did not run the projects' test suites, so behavior preservation is future work.</a:t>
            </a:r>
            <a:r>
              <a:rPr i="0"/>
              <a:t> We also used one dataset, four smells, and only Java.</a:t>
            </a:r>
            <a:r>
              <a:rPr i="0"/>
              <a:t> To summarize: learned boundaries beat fixed thresholds.</a:t>
            </a:r>
            <a:r>
              <a:rPr i="0"/>
              <a:t> Safe automatic refactoring is possible, but narrow, and it should be reviewed by a developer.</a:t>
            </a:r>
            <a:r>
              <a:rPr i="0"/>
              <a:t> The tool is open source, and every number in this talk can be regenerated with a script.</a:t>
            </a:r>
            <a:r>
              <a:rPr i="0"/>
              <a:t> Thank you.</a:t>
            </a:r>
            <a:r>
              <a:rPr i="0"/>
              <a:t> I am happy to take your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when asked for precision or recall per smell.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Above zero means the model's advantage is not explained by which projects happen to be in the sample.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asked whether choosing the best model inflates the result: yes, slightly. Even the weakest learning algorithm beats the rules on three of four smells.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PMD is never ahead once the confidence interval is considered. PMD has no Feature Envy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Isolated files often cannot compile because their neighbours are missing; inside the project many more compile fully.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extracted method is named 'extracted'; choosing a meaningful name is left to the developer.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They used random 5-fold cross-validation and tuned hyperparameters; we grouped by repository and did not tune. Our results are in the same range.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7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A9B8C9"/>
                </a:solidFill>
                <a:latin typeface="Segoe UI"/>
              </a:rPr>
              <a:t>15th UBT Annual International Conference on Computer Science and Engineering  · 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600200"/>
            <a:ext cx="100584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>
                <a:solidFill>
                  <a:srgbClr val="F4F6F9"/>
                </a:solidFill>
                <a:latin typeface="Segoe UI Semibold"/>
              </a:rPr>
              <a:t>Automated Code Smell Detection and Refactoring Recommendations Using Software Metrics and Machine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0690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F4F6F9"/>
                </a:solidFill>
                <a:latin typeface="Segoe UI"/>
              </a:rPr>
              <a:t>Florent Latifi  ·  Altina Salihu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600">
                <a:solidFill>
                  <a:srgbClr val="A9B8C9"/>
                </a:solidFill>
                <a:latin typeface="Segoe UI"/>
              </a:rPr>
              <a:t>UBT – Higher Education Institution, Kosovo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98932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A9B8C9"/>
                </a:solidFill>
                <a:latin typeface="Segoe UI"/>
              </a:rPr>
              <a:t>Session 1  ·  Software Engineering  ·  24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1A1D21"/>
                </a:solidFill>
                <a:latin typeface="Segoe UI Semibold"/>
              </a:rPr>
              <a:t>Code smells make every change expensive, and today's tools only point at them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Code smells are design problems, not bugs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828800"/>
            <a:ext cx="10637215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74320" indent="-274320">
              <a:spcBef>
                <a:spcPts val="0"/>
              </a:spcBef>
              <a:spcAft>
                <a:spcPts val="800"/>
              </a:spcAft>
              <a:buClr>
                <a:srgbClr val="1F4E79"/>
              </a:buClr>
              <a:buFont typeface="Arial"/>
              <a:buChar char="•"/>
            </a:pPr>
            <a:r>
              <a:rPr sz="2000">
                <a:solidFill>
                  <a:srgbClr val="1A1D21"/>
                </a:solidFill>
                <a:latin typeface="Segoe UI"/>
              </a:rPr>
              <a:t>The program works, but every change costs more than it should.</a:t>
            </a:r>
          </a:p>
          <a:p>
            <a:pPr algn="l" marL="274320" indent="-274320">
              <a:spcBef>
                <a:spcPts val="0"/>
              </a:spcBef>
              <a:spcAft>
                <a:spcPts val="800"/>
              </a:spcAft>
              <a:buClr>
                <a:srgbClr val="1F4E79"/>
              </a:buClr>
              <a:buFont typeface="Arial"/>
              <a:buChar char="•"/>
            </a:pPr>
            <a:r>
              <a:rPr sz="2000">
                <a:solidFill>
                  <a:srgbClr val="1A1D21"/>
                </a:solidFill>
                <a:latin typeface="Segoe UI"/>
              </a:rPr>
              <a:t>Existing tools use fixed thresholds, calibrated on other code.</a:t>
            </a:r>
          </a:p>
          <a:p>
            <a:pPr algn="l" marL="274320" indent="-274320">
              <a:spcBef>
                <a:spcPts val="0"/>
              </a:spcBef>
              <a:spcAft>
                <a:spcPts val="800"/>
              </a:spcAft>
              <a:buClr>
                <a:srgbClr val="1F4E79"/>
              </a:buClr>
              <a:buFont typeface="Arial"/>
              <a:buChar char="•"/>
            </a:pPr>
            <a:r>
              <a:rPr sz="2000">
                <a:solidFill>
                  <a:srgbClr val="1A1D21"/>
                </a:solidFill>
                <a:latin typeface="Segoe UI"/>
              </a:rPr>
              <a:t>They point at the problem, but rarely fix it.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3520440"/>
            <a:ext cx="3362858" cy="2377440"/>
          </a:xfrm>
          <a:prstGeom prst="roundRect">
            <a:avLst>
              <a:gd name="adj" fmla="val 3076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3749040"/>
            <a:ext cx="290565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F4E79"/>
                </a:solidFill>
                <a:latin typeface="Segoe UI Semibold"/>
              </a:rPr>
              <a:t>RQ1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2000">
                <a:solidFill>
                  <a:srgbClr val="1A1D21"/>
                </a:solidFill>
                <a:latin typeface="Segoe UI Semibold"/>
              </a:rPr>
              <a:t>How accurate are published detection rules?</a:t>
            </a:r>
          </a:p>
        </p:txBody>
      </p:sp>
      <p:sp>
        <p:nvSpPr>
          <p:cNvPr id="6" name="Oval 5"/>
          <p:cNvSpPr/>
          <p:nvPr/>
        </p:nvSpPr>
        <p:spPr>
          <a:xfrm>
            <a:off x="1005840" y="5349240"/>
            <a:ext cx="329184" cy="329184"/>
          </a:xfrm>
          <a:prstGeom prst="ellipse">
            <a:avLst/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5608" y="5349240"/>
            <a:ext cx="23774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"/>
              </a:rPr>
              <a:t>Rules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4418" y="3520440"/>
            <a:ext cx="3362858" cy="2377440"/>
          </a:xfrm>
          <a:prstGeom prst="roundRect">
            <a:avLst>
              <a:gd name="adj" fmla="val 3076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43018" y="3749040"/>
            <a:ext cx="290565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F4E79"/>
                </a:solidFill>
                <a:latin typeface="Segoe UI Semibold"/>
              </a:rPr>
              <a:t>RQ2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2000">
                <a:solidFill>
                  <a:srgbClr val="1A1D21"/>
                </a:solidFill>
                <a:latin typeface="Segoe UI Semibold"/>
              </a:rPr>
              <a:t>Does machine learning on the same metrics do better?</a:t>
            </a:r>
          </a:p>
        </p:txBody>
      </p:sp>
      <p:sp>
        <p:nvSpPr>
          <p:cNvPr id="10" name="Oval 9"/>
          <p:cNvSpPr/>
          <p:nvPr/>
        </p:nvSpPr>
        <p:spPr>
          <a:xfrm>
            <a:off x="4643018" y="5349240"/>
            <a:ext cx="329184" cy="329184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2786" y="5349240"/>
            <a:ext cx="23774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"/>
              </a:rPr>
              <a:t>Machine learning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51596" y="3520440"/>
            <a:ext cx="3362858" cy="2377440"/>
          </a:xfrm>
          <a:prstGeom prst="roundRect">
            <a:avLst>
              <a:gd name="adj" fmla="val 3076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3749040"/>
            <a:ext cx="290565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F4E79"/>
                </a:solidFill>
                <a:latin typeface="Segoe UI Semibold"/>
              </a:rPr>
              <a:t>RQ3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2000">
                <a:solidFill>
                  <a:srgbClr val="1A1D21"/>
                </a:solidFill>
                <a:latin typeface="Segoe UI Semibold"/>
              </a:rPr>
              <a:t>Can fixes be applied automatically without breaking compilation?</a:t>
            </a:r>
          </a:p>
        </p:txBody>
      </p:sp>
      <p:sp>
        <p:nvSpPr>
          <p:cNvPr id="14" name="Oval 13"/>
          <p:cNvSpPr/>
          <p:nvPr/>
        </p:nvSpPr>
        <p:spPr>
          <a:xfrm>
            <a:off x="8280196" y="5349240"/>
            <a:ext cx="329184" cy="329184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09964" y="5349240"/>
            <a:ext cx="23774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"/>
              </a:rPr>
              <a:t>Refactoring engine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1A1D21"/>
                </a:solidFill>
                <a:latin typeface="Segoe UI Semibold"/>
              </a:rPr>
              <a:t>JavaSmell measures 26 metrics once and answers with three approaches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One analyzer: A rules · B machine learning · C refactoring engine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828800"/>
            <a:ext cx="5669280" cy="475488"/>
          </a:xfrm>
          <a:prstGeom prst="roundRect">
            <a:avLst>
              <a:gd name="adj" fmla="val 15384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" y="1828800"/>
            <a:ext cx="53949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Java source code</a:t>
            </a:r>
          </a:p>
        </p:txBody>
      </p:sp>
      <p:sp>
        <p:nvSpPr>
          <p:cNvPr id="5" name="Down Arrow 4"/>
          <p:cNvSpPr/>
          <p:nvPr/>
        </p:nvSpPr>
        <p:spPr>
          <a:xfrm>
            <a:off x="3520440" y="2331720"/>
            <a:ext cx="182880" cy="128016"/>
          </a:xfrm>
          <a:prstGeom prst="downArrow">
            <a:avLst/>
          </a:prstGeom>
          <a:solidFill>
            <a:srgbClr val="C9D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2487168"/>
            <a:ext cx="5669280" cy="475488"/>
          </a:xfrm>
          <a:prstGeom prst="roundRect">
            <a:avLst>
              <a:gd name="adj" fmla="val 15384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487168"/>
            <a:ext cx="53949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26 metrics for every class and method</a:t>
            </a:r>
          </a:p>
        </p:txBody>
      </p:sp>
      <p:sp>
        <p:nvSpPr>
          <p:cNvPr id="8" name="Down Arrow 7"/>
          <p:cNvSpPr/>
          <p:nvPr/>
        </p:nvSpPr>
        <p:spPr>
          <a:xfrm>
            <a:off x="2057400" y="2990088"/>
            <a:ext cx="182880" cy="128016"/>
          </a:xfrm>
          <a:prstGeom prst="downArrow">
            <a:avLst/>
          </a:prstGeom>
          <a:solidFill>
            <a:srgbClr val="C9D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own Arrow 8"/>
          <p:cNvSpPr/>
          <p:nvPr/>
        </p:nvSpPr>
        <p:spPr>
          <a:xfrm>
            <a:off x="4983480" y="2990088"/>
            <a:ext cx="182880" cy="128016"/>
          </a:xfrm>
          <a:prstGeom prst="downArrow">
            <a:avLst/>
          </a:prstGeom>
          <a:solidFill>
            <a:srgbClr val="C9D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3145536"/>
            <a:ext cx="2743200" cy="475488"/>
          </a:xfrm>
          <a:prstGeom prst="roundRect">
            <a:avLst>
              <a:gd name="adj" fmla="val 15384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23544" y="3218688"/>
            <a:ext cx="329184" cy="329184"/>
          </a:xfrm>
          <a:prstGeom prst="ellipse">
            <a:avLst/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80744" y="3145536"/>
            <a:ext cx="201168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8 published rules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03320" y="3145536"/>
            <a:ext cx="2743200" cy="475488"/>
          </a:xfrm>
          <a:prstGeom prst="roundRect">
            <a:avLst>
              <a:gd name="adj" fmla="val 15384"/>
            </a:avLst>
          </a:prstGeom>
          <a:solidFill>
            <a:srgbClr val="E4ED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849624" y="3218688"/>
            <a:ext cx="329184" cy="329184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6824" y="3145536"/>
            <a:ext cx="201168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Machine learning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2057400" y="3648456"/>
            <a:ext cx="182880" cy="128016"/>
          </a:xfrm>
          <a:prstGeom prst="downArrow">
            <a:avLst/>
          </a:prstGeom>
          <a:solidFill>
            <a:srgbClr val="C9D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own Arrow 16"/>
          <p:cNvSpPr/>
          <p:nvPr/>
        </p:nvSpPr>
        <p:spPr>
          <a:xfrm>
            <a:off x="4983480" y="3648456"/>
            <a:ext cx="182880" cy="128016"/>
          </a:xfrm>
          <a:prstGeom prst="downArrow">
            <a:avLst/>
          </a:prstGeom>
          <a:solidFill>
            <a:srgbClr val="C9D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77240" y="3803904"/>
            <a:ext cx="5669280" cy="475488"/>
          </a:xfrm>
          <a:prstGeom prst="roundRect">
            <a:avLst>
              <a:gd name="adj" fmla="val 15384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" y="3803904"/>
            <a:ext cx="53949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Smells, each with the conditions that fired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3520440" y="4306824"/>
            <a:ext cx="182880" cy="128016"/>
          </a:xfrm>
          <a:prstGeom prst="downArrow">
            <a:avLst/>
          </a:prstGeom>
          <a:solidFill>
            <a:srgbClr val="C9D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77240" y="4462272"/>
            <a:ext cx="5669280" cy="475488"/>
          </a:xfrm>
          <a:prstGeom prst="roundRect">
            <a:avLst>
              <a:gd name="adj" fmla="val 15384"/>
            </a:avLst>
          </a:prstGeom>
          <a:solidFill>
            <a:srgbClr val="E4ED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23544" y="4535424"/>
            <a:ext cx="329184" cy="329184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80744" y="4462272"/>
            <a:ext cx="49377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Refactoring engine: rewrites only what it can prove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3520440" y="4965192"/>
            <a:ext cx="182880" cy="128016"/>
          </a:xfrm>
          <a:prstGeom prst="downArrow">
            <a:avLst/>
          </a:prstGeom>
          <a:solidFill>
            <a:srgbClr val="C9D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77240" y="5120640"/>
            <a:ext cx="5669280" cy="475488"/>
          </a:xfrm>
          <a:prstGeom prst="roundRect">
            <a:avLst>
              <a:gd name="adj" fmla="val 15384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5120640"/>
            <a:ext cx="53949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javac check, then a patch — never written in place</a:t>
            </a:r>
          </a:p>
        </p:txBody>
      </p:sp>
      <p:pic>
        <p:nvPicPr>
          <p:cNvPr id="27" name="Picture 26" descr="nderfaqja_paneli.png"/>
          <p:cNvPicPr>
            <a:picLocks noChangeAspect="1"/>
          </p:cNvPicPr>
          <p:nvPr/>
        </p:nvPicPr>
        <p:blipFill>
          <a:blip r:embed="rId3"/>
          <a:srcRect l="6771" r="54861" t="60556" b="8889"/>
          <a:stretch>
            <a:fillRect/>
          </a:stretch>
        </p:blipFill>
        <p:spPr>
          <a:xfrm>
            <a:off x="6858000" y="2331720"/>
            <a:ext cx="4556455" cy="2267918"/>
          </a:xfrm>
          <a:prstGeom prst="rect">
            <a:avLst/>
          </a:prstGeom>
          <a:ln w="9525">
            <a:solidFill>
              <a:srgbClr val="C9D0D8"/>
            </a:solidFill>
          </a:ln>
        </p:spPr>
      </p:pic>
      <p:sp>
        <p:nvSpPr>
          <p:cNvPr id="28" name="TextBox 27"/>
          <p:cNvSpPr txBox="1"/>
          <p:nvPr/>
        </p:nvSpPr>
        <p:spPr>
          <a:xfrm>
            <a:off x="6858000" y="4736798"/>
            <a:ext cx="45564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"/>
              </a:rPr>
              <a:t>Web interface, plain-language mode (Albanian): every finding shows the conditions that fired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1A1D21"/>
                </a:solidFill>
                <a:latin typeface="Segoe UI Semibold"/>
              </a:rPr>
              <a:t>Professional developers label the code; no model is tested on a project it saw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MLCQ (Madeyski &amp; Lewowski, 2020): reviewed by 26 professional developers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091879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RQ1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96551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RQ2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01223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RQ3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3362858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600">
                <a:solidFill>
                  <a:srgbClr val="1F4E79"/>
                </a:solidFill>
                <a:latin typeface="Segoe UI Semibold"/>
              </a:rPr>
              <a:t>9,046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labeled samples: a class or a method judged by a person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14418" y="1828800"/>
            <a:ext cx="3362858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600">
                <a:solidFill>
                  <a:srgbClr val="1F4E79"/>
                </a:solidFill>
                <a:latin typeface="Segoe UI Semibold"/>
              </a:rPr>
              <a:t>512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repositories, each one an open-source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51596" y="1828800"/>
            <a:ext cx="3362858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600">
                <a:solidFill>
                  <a:srgbClr val="1F4E79"/>
                </a:solidFill>
                <a:latin typeface="Segoe UI Semibold"/>
              </a:rPr>
              <a:t>4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code smells: Blob, Data Class, Feature Envy, Long Method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657600"/>
            <a:ext cx="1115568" cy="1463040"/>
          </a:xfrm>
          <a:prstGeom prst="roundRect">
            <a:avLst>
              <a:gd name="adj" fmla="val 6557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400" y="3858768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225296" y="3858768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536192" y="3858768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4400" y="4169664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225296" y="4169664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536192" y="4169664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14400" y="44805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225296" y="44805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536192" y="44805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736592"/>
            <a:ext cx="11155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"/>
              </a:rPr>
              <a:t>train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048256" y="3657600"/>
            <a:ext cx="1115568" cy="1463040"/>
          </a:xfrm>
          <a:prstGeom prst="roundRect">
            <a:avLst>
              <a:gd name="adj" fmla="val 6557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185416" y="3858768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496312" y="3858768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807208" y="3858768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185416" y="4169664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496312" y="4169664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807208" y="4169664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185416" y="44805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496312" y="44805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807208" y="44805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48256" y="4736592"/>
            <a:ext cx="11155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"/>
              </a:rPr>
              <a:t>train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319272" y="3657600"/>
            <a:ext cx="1115568" cy="1463040"/>
          </a:xfrm>
          <a:prstGeom prst="roundRect">
            <a:avLst>
              <a:gd name="adj" fmla="val 6557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456432" y="3858768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767328" y="3858768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078224" y="3858768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456432" y="4169664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3767328" y="4169664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078224" y="4169664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456432" y="44805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767328" y="44805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078224" y="44805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19272" y="4736592"/>
            <a:ext cx="11155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"/>
              </a:rPr>
              <a:t>train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90288" y="3657600"/>
            <a:ext cx="1115568" cy="1463040"/>
          </a:xfrm>
          <a:prstGeom prst="roundRect">
            <a:avLst>
              <a:gd name="adj" fmla="val 6557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727448" y="3858768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038344" y="3858768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349240" y="3858768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727448" y="4169664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038344" y="4169664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349240" y="4169664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4727448" y="44805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038344" y="44805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349240" y="44805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90288" y="4736592"/>
            <a:ext cx="11155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"/>
              </a:rPr>
              <a:t>train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861304" y="3657600"/>
            <a:ext cx="1115568" cy="1463040"/>
          </a:xfrm>
          <a:prstGeom prst="roundRect">
            <a:avLst>
              <a:gd name="adj" fmla="val 6557"/>
            </a:avLst>
          </a:prstGeom>
          <a:solidFill>
            <a:srgbClr val="E4ED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5998464" y="3858768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6309360" y="3858768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6620256" y="3858768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5998464" y="4169664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6309360" y="4169664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6620256" y="4169664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5998464" y="44805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6309360" y="44805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620256" y="44805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861304" y="4736592"/>
            <a:ext cx="11155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F4E79"/>
                </a:solidFill>
                <a:latin typeface="Segoe UI Semibold"/>
              </a:rPr>
              <a:t>test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7240" y="5257800"/>
            <a:ext cx="619963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"/>
              </a:rPr>
              <a:t>5 folds grouped by repository: each project sits in exactly one. Train on four, test on the fifth, five times.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388352" y="3657600"/>
            <a:ext cx="4026103" cy="2103120"/>
          </a:xfrm>
          <a:prstGeom prst="roundRect">
            <a:avLst>
              <a:gd name="adj" fmla="val 3478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616952" y="3840480"/>
            <a:ext cx="3568903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 Semibold"/>
              </a:rPr>
              <a:t>Why MCC, not accuracy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4000">
                <a:solidFill>
                  <a:srgbClr val="8C2F22"/>
                </a:solidFill>
                <a:latin typeface="Segoe UI Semibold"/>
              </a:rPr>
              <a:t>92.8%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accuracy of a detector that always says “clean” on Feature Envy. Its MCC is 0.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1A1D21"/>
                </a:solidFill>
                <a:latin typeface="Segoe UI Semibold"/>
              </a:rPr>
              <a:t>Learned models beat the rules on all four smells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MCC on the same samples, same scoring code · 95% bootstrap interval by repository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091879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RQ1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96551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RQ2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01223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RQ3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777240" y="1828800"/>
          <a:ext cx="7498079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641080" y="2103120"/>
            <a:ext cx="2773375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>
                <a:solidFill>
                  <a:srgbClr val="5E6874"/>
                </a:solidFill>
                <a:latin typeface="Segoe UI Semibold"/>
              </a:rPr>
              <a:t>17–47%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of the smells developers marked, caught by the rules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41080" y="3931920"/>
            <a:ext cx="2773375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>
                <a:solidFill>
                  <a:srgbClr val="1F4E79"/>
                </a:solidFill>
                <a:latin typeface="Segoe UI Semibold"/>
              </a:rPr>
              <a:t>0.32–0.72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MCC of the best model, per smell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1A1D21"/>
                </a:solidFill>
                <a:latin typeface="Segoe UI Semibold"/>
              </a:rPr>
              <a:t>For Feature Envy, even two experts agree no better than chance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Agreement between two human reviewers of the same code, as MCC · 0 = chance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091879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RQ1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96551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RQ2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01223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RQ3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777240" y="1828800"/>
          <a:ext cx="7498079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641080" y="2103120"/>
            <a:ext cx="2773375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600">
                <a:solidFill>
                  <a:srgbClr val="8C2F22"/>
                </a:solidFill>
                <a:latin typeface="Segoe UI Semibold"/>
              </a:rPr>
              <a:t>−0.07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Feature Envy: two reviewers agree at chance level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41080" y="4114800"/>
            <a:ext cx="2773375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1A1D21"/>
                </a:solidFill>
                <a:latin typeface="Segoe UI Semibold"/>
              </a:rPr>
              <a:t>If experts do not agree on what a smell is, no detector can learn it well.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1A1D21"/>
                </a:solidFill>
                <a:latin typeface="Segoe UI Semibold"/>
              </a:rPr>
              <a:t>The engine rewrites only what it can prove, and refuses the rest with a reason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Three transformations: Extract Method · Guard Clauses · Introduce Parameter Object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091879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RQ1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96551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RQ2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01223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RQ3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37215" cy="64008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4000">
                <a:solidFill>
                  <a:srgbClr val="1A1D21"/>
                </a:solidFill>
                <a:latin typeface="Segoe UI Semibold"/>
              </a:rPr>
              <a:t>15,800</a:t>
            </a:r>
            <a:r>
              <a:rPr sz="1600">
                <a:solidFill>
                  <a:srgbClr val="4C5560"/>
                </a:solidFill>
                <a:latin typeface="Segoe UI"/>
              </a:rPr>
              <a:t>   sites where a transformation could apply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606040"/>
            <a:ext cx="2377888" cy="685800"/>
          </a:xfrm>
          <a:prstGeom prst="roundRect">
            <a:avLst>
              <a:gd name="adj" fmla="val 10666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36576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FFFFFF"/>
                </a:solidFill>
                <a:latin typeface="Segoe UI Semibold"/>
              </a:rPr>
              <a:t>3,532 rewritten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"/>
              </a:rPr>
              <a:t>22.4%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848" y="2606040"/>
            <a:ext cx="8202834" cy="685800"/>
          </a:xfrm>
          <a:prstGeom prst="roundRect">
            <a:avLst>
              <a:gd name="adj" fmla="val 10666"/>
            </a:avLst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36576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 Semibold"/>
              </a:rPr>
              <a:t>12,252 refused, each with a reason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A1D21"/>
                </a:solidFill>
                <a:latin typeface="Segoe UI"/>
              </a:rPr>
              <a:t>77.5%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6118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Of the 3,532 rewrites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977639"/>
            <a:ext cx="3362858" cy="1645920"/>
          </a:xfrm>
          <a:prstGeom prst="roundRect">
            <a:avLst>
              <a:gd name="adj" fmla="val 4444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60520"/>
            <a:ext cx="2905658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>
                <a:solidFill>
                  <a:srgbClr val="1F4E79"/>
                </a:solidFill>
                <a:latin typeface="Segoe UI Semibold"/>
              </a:rPr>
              <a:t>64.8%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removed the smell they were made for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4418" y="3977639"/>
            <a:ext cx="3362858" cy="1645920"/>
          </a:xfrm>
          <a:prstGeom prst="roundRect">
            <a:avLst>
              <a:gd name="adj" fmla="val 4444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43018" y="4160520"/>
            <a:ext cx="2905658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>
                <a:solidFill>
                  <a:srgbClr val="1F4E79"/>
                </a:solidFill>
                <a:latin typeface="Segoe UI Semibold"/>
              </a:rPr>
              <a:t>1.6%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added a new kind of compile error, and are never written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1596" y="3977639"/>
            <a:ext cx="3362858" cy="1645920"/>
          </a:xfrm>
          <a:prstGeom prst="roundRect">
            <a:avLst>
              <a:gd name="adj" fmla="val 4444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80196" y="4160520"/>
            <a:ext cx="2905658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>
                <a:solidFill>
                  <a:srgbClr val="1F4E79"/>
                </a:solidFill>
                <a:latin typeface="Segoe UI Semibold"/>
              </a:rPr>
              <a:t>62.9%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acceptable to a developer in a manual review of 60 (reweighted)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1A1D21"/>
                </a:solidFill>
                <a:latin typeface="Segoe UI Semibold"/>
              </a:rPr>
              <a:t>Real code: the outer if becomes an early return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Apache Geode · DistributedRegion.checkForLimitedOrNoAccess · Guard Clauses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091879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RQ1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96551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RQ2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01223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RQ3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508760"/>
            <a:ext cx="7589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Before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9656"/>
            <a:ext cx="7589520" cy="1885950"/>
          </a:xfrm>
          <a:prstGeom prst="roundRect">
            <a:avLst>
              <a:gd name="adj" fmla="val 3878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289556"/>
            <a:ext cx="7589520" cy="189230"/>
          </a:xfrm>
          <a:prstGeom prst="rect">
            <a:avLst/>
          </a:prstGeom>
          <a:solidFill>
            <a:srgbClr val="F7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3424936"/>
            <a:ext cx="7589520" cy="189230"/>
          </a:xfrm>
          <a:prstGeom prst="rect">
            <a:avLst/>
          </a:prstGeom>
          <a:solidFill>
            <a:srgbClr val="F7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1911096"/>
            <a:ext cx="7296912" cy="17030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@Override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public void checkForLimitedOrNoAccess() {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C2F22"/>
                </a:solidFill>
                <a:latin typeface="Consolas"/>
              </a:rPr>
              <a:t>  if (this.requiresReliabilityCheck &amp;&amp; this.isMissingRequiredRoles) {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    if (getMembershipAttributes().getLossAction().isNoAccess()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        || getMembershipAttributes().getLossAction().isLimitedAccess()) {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      synchronized (this.missingRequiredRoles) { /* … 9 unchanged lines */ }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    }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  }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C2F22"/>
                </a:solidFill>
                <a:latin typeface="Consolas"/>
              </a:rPr>
              <a:t>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815334"/>
            <a:ext cx="7589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After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126230"/>
            <a:ext cx="7589520" cy="2075180"/>
          </a:xfrm>
          <a:prstGeom prst="roundRect">
            <a:avLst>
              <a:gd name="adj" fmla="val 3525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596130"/>
            <a:ext cx="7589520" cy="189230"/>
          </a:xfrm>
          <a:prstGeom prst="rect">
            <a:avLst/>
          </a:prstGeom>
          <a:solidFill>
            <a:srgbClr val="DF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4785360"/>
            <a:ext cx="7589520" cy="189230"/>
          </a:xfrm>
          <a:prstGeom prst="rect">
            <a:avLst/>
          </a:prstGeom>
          <a:solidFill>
            <a:srgbClr val="DF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4974590"/>
            <a:ext cx="7589520" cy="189230"/>
          </a:xfrm>
          <a:prstGeom prst="rect">
            <a:avLst/>
          </a:prstGeom>
          <a:solidFill>
            <a:srgbClr val="DF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4" y="4217670"/>
            <a:ext cx="7296912" cy="1892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@Override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public void checkForLimitedOrNoAccess() {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F6F45"/>
                </a:solidFill>
                <a:latin typeface="Consolas"/>
              </a:rPr>
              <a:t>  if (!(this.requiresReliabilityCheck &amp;&amp; this.isMissingRequiredRoles)) {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F6F45"/>
                </a:solidFill>
                <a:latin typeface="Consolas"/>
              </a:rPr>
              <a:t>    return;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F6F45"/>
                </a:solidFill>
                <a:latin typeface="Consolas"/>
              </a:rPr>
              <a:t>  }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  if (getMembershipAttributes().getLossAction().isNoAccess()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      || getMembershipAttributes().getLossAction().isLimitedAccess()) {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    synchronized (this.missingRequiredRoles) { /* … 9 unchanged lines */ }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  }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}</a:t>
            </a:r>
          </a:p>
        </p:txBody>
      </p:sp>
      <p:sp>
        <p:nvSpPr>
          <p:cNvPr id="17" name="Oval 16"/>
          <p:cNvSpPr/>
          <p:nvPr/>
        </p:nvSpPr>
        <p:spPr>
          <a:xfrm>
            <a:off x="8732520" y="1874519"/>
            <a:ext cx="329184" cy="329184"/>
          </a:xfrm>
          <a:prstGeom prst="ellipse">
            <a:avLst/>
          </a:prstGeom>
          <a:solidFill>
            <a:srgbClr val="2F6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9720" y="1874519"/>
            <a:ext cx="22247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The outer condition becomes a guard clause with an early return.</a:t>
            </a:r>
          </a:p>
        </p:txBody>
      </p:sp>
      <p:sp>
        <p:nvSpPr>
          <p:cNvPr id="19" name="Oval 18"/>
          <p:cNvSpPr/>
          <p:nvPr/>
        </p:nvSpPr>
        <p:spPr>
          <a:xfrm>
            <a:off x="8732520" y="3108959"/>
            <a:ext cx="329184" cy="329184"/>
          </a:xfrm>
          <a:prstGeom prst="ellipse">
            <a:avLst/>
          </a:prstGeom>
          <a:solidFill>
            <a:srgbClr val="2F6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9720" y="3108959"/>
            <a:ext cx="22247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The rest of the method moves one level up.</a:t>
            </a:r>
          </a:p>
        </p:txBody>
      </p:sp>
      <p:sp>
        <p:nvSpPr>
          <p:cNvPr id="21" name="Oval 20"/>
          <p:cNvSpPr/>
          <p:nvPr/>
        </p:nvSpPr>
        <p:spPr>
          <a:xfrm>
            <a:off x="8732520" y="4343399"/>
            <a:ext cx="329184" cy="329184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4343399"/>
            <a:ext cx="22247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Passed the javac check; judged acceptable as-is in the review.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7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F4F6F9"/>
                </a:solidFill>
                <a:latin typeface="Segoe UI Semibold"/>
              </a:rPr>
              <a:t>Limitations and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63040"/>
            <a:ext cx="504428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F08A7E"/>
                </a:solidFill>
                <a:latin typeface="Segoe UI Semibold"/>
              </a:rP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011680"/>
            <a:ext cx="5044287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74320" indent="-274320">
              <a:spcBef>
                <a:spcPts val="0"/>
              </a:spcBef>
              <a:spcAft>
                <a:spcPts val="1200"/>
              </a:spcAft>
              <a:buClr>
                <a:srgbClr val="F08A7E"/>
              </a:buClr>
              <a:buFont typeface="Arial"/>
              <a:buChar char="•"/>
            </a:pPr>
            <a:r>
              <a:rPr sz="2000">
                <a:solidFill>
                  <a:srgbClr val="F4F6F9"/>
                </a:solidFill>
                <a:latin typeface="Segoe UI"/>
              </a:rPr>
              <a:t>Compiles ≠ behaves the same: project tests were not run.</a:t>
            </a:r>
          </a:p>
          <a:p>
            <a:pPr algn="l" marL="274320" indent="-274320">
              <a:spcBef>
                <a:spcPts val="0"/>
              </a:spcBef>
              <a:spcAft>
                <a:spcPts val="1200"/>
              </a:spcAft>
              <a:buClr>
                <a:srgbClr val="F08A7E"/>
              </a:buClr>
              <a:buFont typeface="Arial"/>
              <a:buChar char="•"/>
            </a:pPr>
            <a:r>
              <a:rPr sz="2000">
                <a:solidFill>
                  <a:srgbClr val="F4F6F9"/>
                </a:solidFill>
                <a:latin typeface="Segoe UI"/>
              </a:rPr>
              <a:t>One dataset, four smells, Java only.</a:t>
            </a:r>
          </a:p>
          <a:p>
            <a:pPr algn="l" marL="274320" indent="-274320">
              <a:spcBef>
                <a:spcPts val="0"/>
              </a:spcBef>
              <a:spcAft>
                <a:spcPts val="1200"/>
              </a:spcAft>
              <a:buClr>
                <a:srgbClr val="F08A7E"/>
              </a:buClr>
              <a:buFont typeface="Arial"/>
              <a:buChar char="•"/>
            </a:pPr>
            <a:r>
              <a:rPr sz="2000">
                <a:solidFill>
                  <a:srgbClr val="F4F6F9"/>
                </a:solidFill>
                <a:latin typeface="Segoe UI"/>
              </a:rPr>
              <a:t>Best model chosen on the same predictions: slightly optimistic.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70167" y="1463040"/>
            <a:ext cx="504428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8DBBE6"/>
                </a:solidFill>
                <a:latin typeface="Segoe UI Semibold"/>
              </a:rPr>
              <a:t>Takeaways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2011680"/>
            <a:ext cx="5044287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74320" indent="-274320">
              <a:spcBef>
                <a:spcPts val="0"/>
              </a:spcBef>
              <a:spcAft>
                <a:spcPts val="1200"/>
              </a:spcAft>
              <a:buClr>
                <a:srgbClr val="8DBBE6"/>
              </a:buClr>
              <a:buFont typeface="Arial"/>
              <a:buChar char="•"/>
            </a:pPr>
            <a:r>
              <a:rPr sz="2000">
                <a:solidFill>
                  <a:srgbClr val="F4F6F9"/>
                </a:solidFill>
                <a:latin typeface="Segoe UI"/>
              </a:rPr>
              <a:t>Learned boundaries beat fixed thresholds.</a:t>
            </a:r>
          </a:p>
          <a:p>
            <a:pPr algn="l" marL="274320" indent="-274320">
              <a:spcBef>
                <a:spcPts val="0"/>
              </a:spcBef>
              <a:spcAft>
                <a:spcPts val="1200"/>
              </a:spcAft>
              <a:buClr>
                <a:srgbClr val="8DBBE6"/>
              </a:buClr>
              <a:buFont typeface="Arial"/>
              <a:buChar char="•"/>
            </a:pPr>
            <a:r>
              <a:rPr sz="2000">
                <a:solidFill>
                  <a:srgbClr val="F4F6F9"/>
                </a:solidFill>
                <a:latin typeface="Segoe UI"/>
              </a:rPr>
              <a:t>Safe automation is narrow, but measurable.</a:t>
            </a:r>
          </a:p>
          <a:p>
            <a:pPr algn="l" marL="274320" indent="-274320">
              <a:spcBef>
                <a:spcPts val="0"/>
              </a:spcBef>
              <a:spcAft>
                <a:spcPts val="1200"/>
              </a:spcAft>
              <a:buClr>
                <a:srgbClr val="8DBBE6"/>
              </a:buClr>
              <a:buFont typeface="Arial"/>
              <a:buChar char="•"/>
            </a:pPr>
            <a:r>
              <a:rPr sz="2000">
                <a:solidFill>
                  <a:srgbClr val="F4F6F9"/>
                </a:solidFill>
                <a:latin typeface="Segoe UI"/>
              </a:rPr>
              <a:t>Open source and reproducible: every number comes from a script.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892040"/>
            <a:ext cx="1063721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>
                <a:solidFill>
                  <a:srgbClr val="F4F6F9"/>
                </a:solidFill>
                <a:latin typeface="Segoe UI Semibold"/>
              </a:rPr>
              <a:t>Thank you  ·  Questions?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600">
                <a:solidFill>
                  <a:srgbClr val="A9B8C9"/>
                </a:solidFill>
                <a:latin typeface="Segoe UI"/>
              </a:rPr>
              <a:t>github.com/FlorentLatifi/Code-Smell-Detection-and-Refactoring-Recommendations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9B8C9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9B8C9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4C5560"/>
                </a:solidFill>
                <a:latin typeface="Segoe UI Semibold"/>
              </a:rPr>
              <a:t>Backup · </a:t>
            </a:r>
            <a:r>
              <a:rPr sz="2800">
                <a:solidFill>
                  <a:srgbClr val="1A1D21"/>
                </a:solidFill>
                <a:latin typeface="Segoe UI Semibold"/>
              </a:rPr>
              <a:t>Full detection results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Precision, recall and MCC for both approaches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10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828800"/>
          <a:ext cx="1063721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7747"/>
                <a:gridCol w="967019"/>
                <a:gridCol w="967019"/>
                <a:gridCol w="1243310"/>
                <a:gridCol w="2624767"/>
                <a:gridCol w="967019"/>
                <a:gridCol w="967019"/>
                <a:gridCol w="1243310"/>
              </a:tblGrid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Smell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Rules P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Rules R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Rules MCC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Model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Model P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Model R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Model MCC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Blob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0.816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0.174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0.336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Logistic regression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0.510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0.770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0.539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Data Class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0.765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0.230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0.367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Gradient boosting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0.546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0.590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0.473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Feature Envy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0.413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0.188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0.243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Gradient boosting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0.438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0.297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0.321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Long Method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0.888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0.470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0.617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Random forest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0.690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0.833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0.723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4C5560"/>
                </a:solidFill>
                <a:latin typeface="Segoe UI Semibold"/>
              </a:rPr>
              <a:t>Backup · </a:t>
            </a:r>
            <a:r>
              <a:rPr sz="2800">
                <a:solidFill>
                  <a:srgbClr val="1A1D21"/>
                </a:solidFill>
                <a:latin typeface="Segoe UI Semibold"/>
              </a:rPr>
              <a:t>Confidence intervals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95% bootstrap intervals, resampling whole repositories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11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828800"/>
          <a:ext cx="10637212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3793"/>
                <a:gridCol w="2291092"/>
                <a:gridCol w="2291092"/>
                <a:gridCol w="2454741"/>
                <a:gridCol w="1636494"/>
              </a:tblGrid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Smell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Rules (A)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Model (B)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B − A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Above zero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Blob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[0.274, 0.393]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[0.494, 0.581]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[0.138, 0.271]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yes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Data Class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[0.313, 0.423]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[0.419, 0.530]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[0.050, 0.163]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yes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Feature Envy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[0.158, 0.330]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[0.246, 0.398]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[-0.012, 0.166]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Long Method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[0.559, 0.667]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[0.681, 0.768]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[0.050, 0.165]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yes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4C5560"/>
                </a:solidFill>
                <a:latin typeface="Segoe UI Semibold"/>
              </a:rPr>
              <a:t>Backup · </a:t>
            </a:r>
            <a:r>
              <a:rPr sz="2800">
                <a:solidFill>
                  <a:srgbClr val="1A1D21"/>
                </a:solidFill>
                <a:latin typeface="Segoe UI Semibold"/>
              </a:rPr>
              <a:t>Every algorithm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MCC of each classifier, same folds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12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828800"/>
          <a:ext cx="10637212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3522"/>
                <a:gridCol w="2887244"/>
                <a:gridCol w="1975482"/>
                <a:gridCol w="2583323"/>
                <a:gridCol w="1367641"/>
              </a:tblGrid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Smell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Logistic regression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Random forest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Gradient boosting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Rules (A)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Blob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0.539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0.510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0.505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0.336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Data Class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0.426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0.471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0.473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0.367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Feature Envy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0.241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0.296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0.321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0.243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Long Method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0.707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0.723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0.700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0.617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4C5560"/>
                </a:solidFill>
                <a:latin typeface="Segoe UI Semibold"/>
              </a:rPr>
              <a:t>Backup · </a:t>
            </a:r>
            <a:r>
              <a:rPr sz="2800">
                <a:solidFill>
                  <a:srgbClr val="1A1D21"/>
                </a:solidFill>
                <a:latin typeface="Segoe UI Semibold"/>
              </a:rPr>
              <a:t>Comparison with PMD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PMD 7.27.0 with its default thresholds, same samples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13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828800"/>
          <a:ext cx="10637214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67878"/>
                <a:gridCol w="1262042"/>
                <a:gridCol w="1262042"/>
                <a:gridCol w="3245252"/>
              </a:tblGrid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Smell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PMD MCC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Our MCC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Difference, 95% CI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Blob (strategy)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0.382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0.342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-0.088 to +0.008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Blob (with size)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0.382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0.487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+0.054 to +0.158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Data Class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0.319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0.365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-0.012 to +0.101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Feature Envy (LawOfDemeter)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0.056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Long Method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0.221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0.615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+0.316 to +0.475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4C5560"/>
                </a:solidFill>
                <a:latin typeface="Segoe UI Semibold"/>
              </a:rPr>
              <a:t>Backup · </a:t>
            </a:r>
            <a:r>
              <a:rPr sz="2800">
                <a:solidFill>
                  <a:srgbClr val="1A1D21"/>
                </a:solidFill>
                <a:latin typeface="Segoe UI Semibold"/>
              </a:rPr>
              <a:t>Verification in detail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Why sites were refused, and what compiling inside the project shows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10637215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74320" indent="-274320">
              <a:spcBef>
                <a:spcPts val="0"/>
              </a:spcBef>
              <a:spcAft>
                <a:spcPts val="1200"/>
              </a:spcAft>
              <a:buClr>
                <a:srgbClr val="1F4E79"/>
              </a:buClr>
              <a:buFont typeface="Arial"/>
              <a:buChar char="•"/>
            </a:pPr>
            <a:r>
              <a:rPr sz="2000">
                <a:solidFill>
                  <a:srgbClr val="1A1D21"/>
                </a:solidFill>
                <a:latin typeface="Segoe UI"/>
              </a:rPr>
              <a:t>Code shape does not match the transformation: 7,154 sites (45.3%)</a:t>
            </a:r>
          </a:p>
          <a:p>
            <a:pPr algn="l" marL="274320" indent="-274320">
              <a:spcBef>
                <a:spcPts val="0"/>
              </a:spcBef>
              <a:spcAft>
                <a:spcPts val="1200"/>
              </a:spcAft>
              <a:buClr>
                <a:srgbClr val="1F4E79"/>
              </a:buClr>
              <a:buFont typeface="Arial"/>
              <a:buChar char="•"/>
            </a:pPr>
            <a:r>
              <a:rPr sz="2000">
                <a:solidFill>
                  <a:srgbClr val="1A1D21"/>
                </a:solidFill>
                <a:latin typeface="Segoe UI"/>
              </a:rPr>
              <a:t>A return, break or continue leaves the block: 4,050 sites (25.6%)</a:t>
            </a:r>
          </a:p>
          <a:p>
            <a:pPr algn="l" marL="274320" indent="-274320">
              <a:spcBef>
                <a:spcPts val="0"/>
              </a:spcBef>
              <a:spcAft>
                <a:spcPts val="1200"/>
              </a:spcAft>
              <a:buClr>
                <a:srgbClr val="1F4E79"/>
              </a:buClr>
              <a:buFont typeface="Arial"/>
              <a:buChar char="•"/>
            </a:pPr>
            <a:r>
              <a:rPr sz="2000">
                <a:solidFill>
                  <a:srgbClr val="1A1D21"/>
                </a:solidFill>
                <a:latin typeface="Segoe UI"/>
              </a:rPr>
              <a:t>An input value is not definitely assigned: 621 sites (3.9%)</a:t>
            </a:r>
          </a:p>
          <a:p>
            <a:pPr algn="l" marL="274320" indent="-274320">
              <a:spcBef>
                <a:spcPts val="0"/>
              </a:spcBef>
              <a:spcAft>
                <a:spcPts val="1200"/>
              </a:spcAft>
              <a:buClr>
                <a:srgbClr val="1F4E79"/>
              </a:buClr>
              <a:buFont typeface="Arial"/>
              <a:buChar char="•"/>
            </a:pPr>
            <a:r>
              <a:rPr sz="2000">
                <a:solidFill>
                  <a:srgbClr val="1A1D21"/>
                </a:solidFill>
                <a:latin typeface="Segoe UI"/>
              </a:rPr>
              <a:t>Same 201 rewrites compiled inside their project: 4 → 66 compile fully, 2 add a new error.</a:t>
            </a:r>
          </a:p>
          <a:p>
            <a:pPr algn="l" marL="274320" indent="-274320">
              <a:spcBef>
                <a:spcPts val="0"/>
              </a:spcBef>
              <a:spcAft>
                <a:spcPts val="1200"/>
              </a:spcAft>
              <a:buClr>
                <a:srgbClr val="1F4E79"/>
              </a:buClr>
              <a:buFont typeface="Arial"/>
              <a:buChar char="•"/>
            </a:pPr>
            <a:r>
              <a:rPr sz="2000">
                <a:solidFill>
                  <a:srgbClr val="1A1D21"/>
                </a:solidFill>
                <a:latin typeface="Segoe UI"/>
              </a:rPr>
              <a:t>After rewriting, 865 new smells appeared, mostly Long Parameter List from Extract Method.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4C5560"/>
                </a:solidFill>
                <a:latin typeface="Segoe UI Semibold"/>
              </a:rPr>
              <a:t>Backup · </a:t>
            </a:r>
            <a:r>
              <a:rPr sz="2800">
                <a:solidFill>
                  <a:srgbClr val="1A1D21"/>
                </a:solidFill>
                <a:latin typeface="Segoe UI Semibold"/>
              </a:rPr>
              <a:t>Extract Method in the interface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jsoup · NodeTraversor.traverse, preview before any file is touched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15</a:t>
            </a:r>
          </a:p>
        </p:txBody>
      </p:sp>
      <p:pic>
        <p:nvPicPr>
          <p:cNvPr id="5" name="Picture 4" descr="nderfaqja_rishkrim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828800"/>
            <a:ext cx="10637215" cy="3462487"/>
          </a:xfrm>
          <a:prstGeom prst="rect">
            <a:avLst/>
          </a:prstGeom>
          <a:ln w="9525">
            <a:solidFill>
              <a:srgbClr val="C9D0D8"/>
            </a:solidFill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4C5560"/>
                </a:solidFill>
                <a:latin typeface="Segoe UI Semibold"/>
              </a:rPr>
              <a:t>Backup · </a:t>
            </a:r>
            <a:r>
              <a:rPr sz="2800">
                <a:solidFill>
                  <a:srgbClr val="1A1D21"/>
                </a:solidFill>
                <a:latin typeface="Segoe UI Semibold"/>
              </a:rPr>
              <a:t>Comparison with the literature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Madeyski &amp; Lewowski (2023), same MLCQ dataset, DS1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16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828800"/>
          <a:ext cx="10637214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3825"/>
                <a:gridCol w="1772869"/>
                <a:gridCol w="1772869"/>
                <a:gridCol w="4727651"/>
              </a:tblGrid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Smell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Rules (A)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Model (B)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Madeyski &amp; Lewowski 2023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Blob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0.336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0.539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0.51 (RF)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Data Class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0.367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0.473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0.57 (RF)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Feature Envy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0.243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0.321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0.31 (FDA)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Long Method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0.617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0.723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&gt; 0.75 (RF)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