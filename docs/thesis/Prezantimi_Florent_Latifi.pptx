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Rreth 13 minuta; pyetjet vijnë pas.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Këtu vendoset pse punimi mat edhe tavanin e pajtimit mes rishikuesve, e jo vetëm saktësinë kundrejt etiketave.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PK3 pyet vetëm për atë që matet: kompilimin dhe heqjen e erës. Ruajtja e sjelljes nuk matet, dhe kjo thuhet hapur më vonë.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Theksi: A dhe B pikëzohen me të njëjtin kod. Kjo i bën shifrat e krahasueshme dhe është një nga tri kontributet.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Nëse pyesin për mbulimin: 95.4% e mostrave u materializuan; pjesa tjetër është kufizim i raportuar.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Ky sllajd i përgjigjet pyetjes më të mundshme: a janë fryrë numrat.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Pragjet janë ato të botuara, të pandryshuara. Nuk u kalibruan për t'i zbukuruar numrat.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Modeli del më lart te të katër erërat; me intervale besimi të grupuara sipas depos, përparësia mbetet mbi zero te tri prej tyre, por jo te Feature Envy.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Ky sllajd e parandalon pyetjen «pse MCC-ja juaj është kaq e ulët».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Numri i vogël i aplikuar është zgjedhje konservatore dhe raportohet si e tillë.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Nëse pyesin pse nuk u testua sjellja: rishkarkimi i korpusit me varësi ishte jashtë kohës dhe hapësirës; kufizimi është i shkruar te Kapitulli 3 dhe 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Guard Clauses 100%, Extract Method 65%, Introduce Parameter Object 0%. Extract Method do emër tjetër në vend të «extracted»; një rishkrim i tij nuk kompilon, ndonëse kishte verdiktin «pa gabim të ri» — gabimi ishte i të njëjtit lloj si ata që skedari i izoluar kishte tashmë.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Formulimi i PK3 u ngushtua me kërkesë të mentores; arsyeja është te DECISIONS.md.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Më mirë t'i thuash vetë kufizimet se t'i nxjerrin 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Mbyll me riprodhueshmërinë: është ajo që e dallon këtë punim.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Sllajdet rezervë vijnë pas kësaj.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Fshirja mat qëndrueshmëri, nuk zgjedh pragje. Dy pragje dolën të ndjeshme dhe nuk u adoptuan.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Rëndësia matet jashtë fold-it, ndaj nuk anon drejt veçorive me shumë vlera.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194560"/>
            <a:ext cx="1063721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0">
                <a:solidFill>
                  <a:srgbClr val="1A1D21"/>
                </a:solidFill>
                <a:latin typeface="Times New Roman"/>
              </a:defRPr>
            </a:pPr>
            <a:r>
              <a:t>Detektimi i code smells dhe rekomandimet për refaktorim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3657600"/>
            <a:ext cx="1063721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4C5560"/>
                </a:solidFill>
                <a:latin typeface="Segoe UI"/>
              </a:defRPr>
            </a:pPr>
            <a:r>
              <a:t>Florent Latifi  ·  Mentore: MSc. Altina Salihu</a:t>
            </a:r>
          </a:p>
          <a:p>
            <a:pPr>
              <a:defRPr sz="1400">
                <a:solidFill>
                  <a:srgbClr val="838D99"/>
                </a:solidFill>
                <a:latin typeface="Segoe UI"/>
              </a:defRPr>
            </a:pPr>
            <a:r>
              <a:t>Shkenca Kompjuterike dhe Inxhinieri · UBT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106372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0">
                <a:solidFill>
                  <a:srgbClr val="1A1D21"/>
                </a:solidFill>
                <a:latin typeface="Times New Roman"/>
              </a:defRPr>
            </a:pPr>
            <a:r>
              <a:t>Problemi</a:t>
            </a:r>
          </a:p>
          <a:p>
            <a:pPr>
              <a:defRPr sz="1400">
                <a:solidFill>
                  <a:srgbClr val="838D99"/>
                </a:solidFill>
                <a:latin typeface="Segoe UI"/>
              </a:defRPr>
            </a:pPr>
            <a:r>
              <a:t>Pse detektimi i code smells nuk është i zgjidhur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737360"/>
            <a:ext cx="1063721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 b="0">
                <a:solidFill>
                  <a:srgbClr val="1A1D21"/>
                </a:solidFill>
                <a:latin typeface="Segoe UI"/>
              </a:defRPr>
            </a:pPr>
            <a:r>
              <a:t>·  Një code smell është simptomë dizajni, jo defekt: kodi funksionon, por ndryshimi i tij kushton.</a:t>
            </a:r>
          </a:p>
          <a:p>
            <a:pPr>
              <a:spcAft>
                <a:spcPts val="1400"/>
              </a:spcAft>
              <a:defRPr sz="1900">
                <a:solidFill>
                  <a:srgbClr val="1A1D21"/>
                </a:solidFill>
                <a:latin typeface="Segoe UI"/>
              </a:defRPr>
            </a:pPr>
            <a:r>
              <a:t>·  Përkufizimet janë cilësore. Nuk ka prag të botuar që e pranojnë të gjithë.</a:t>
            </a:r>
          </a:p>
          <a:p>
            <a:pPr>
              <a:spcAft>
                <a:spcPts val="1400"/>
              </a:spcAft>
              <a:defRPr sz="1900">
                <a:solidFill>
                  <a:srgbClr val="1A1D21"/>
                </a:solidFill>
                <a:latin typeface="Segoe UI"/>
              </a:defRPr>
            </a:pPr>
            <a:r>
              <a:t>·  Vetë zhvilluesit profesionistë nuk pajtohen mes tyre në një pjesë të madhe të gjykimeve, dhe për Feature Envy pothuajse aspak.</a:t>
            </a:r>
          </a:p>
          <a:p>
            <a:pPr>
              <a:spcAft>
                <a:spcPts val="1400"/>
              </a:spcAft>
              <a:defRPr sz="1900">
                <a:solidFill>
                  <a:srgbClr val="1A1D21"/>
                </a:solidFill>
                <a:latin typeface="Segoe UI"/>
              </a:defRPr>
            </a:pPr>
            <a:r>
              <a:t>·  Rrjedhimisht «sa i saktë është një detektor» varet nga kundrejt kujt matet.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106372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0">
                <a:solidFill>
                  <a:srgbClr val="1A1D21"/>
                </a:solidFill>
                <a:latin typeface="Times New Roman"/>
              </a:defRPr>
            </a:pPr>
            <a:r>
              <a:t>Tri pyetje kërkimore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737360"/>
            <a:ext cx="1063721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 b="0">
                <a:solidFill>
                  <a:srgbClr val="1A1D21"/>
                </a:solidFill>
                <a:latin typeface="Segoe UI"/>
              </a:defRPr>
            </a:pPr>
            <a:r>
              <a:t>·  PK1 — Sa e saktë është detektimi me strategji metrikash, krahasuar me etiketimet e zhvilluesve profesionistë?</a:t>
            </a:r>
          </a:p>
          <a:p>
            <a:pPr>
              <a:spcAft>
                <a:spcPts val="1400"/>
              </a:spcAft>
              <a:defRPr sz="1900">
                <a:solidFill>
                  <a:srgbClr val="1A1D21"/>
                </a:solidFill>
                <a:latin typeface="Segoe UI"/>
              </a:defRPr>
            </a:pPr>
            <a:r>
              <a:t>·  PK2 — A e përmirëson një model i mësimit të makinës, i trajnuar mbi të njëjtat metrika, saktësinë krahasuar me pragjet fikse?</a:t>
            </a:r>
          </a:p>
          <a:p>
            <a:pPr>
              <a:spcAft>
                <a:spcPts val="1400"/>
              </a:spcAft>
              <a:defRPr sz="1900">
                <a:solidFill>
                  <a:srgbClr val="1A1D21"/>
                </a:solidFill>
                <a:latin typeface="Segoe UI"/>
              </a:defRPr>
            </a:pPr>
            <a:r>
              <a:t>·  PK3 — A mund të aplikohen automatikisht refaktorimet pa shtuar gabime të reja kompilimi, dhe a e heqin erën sipas rimatjes?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106372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0">
                <a:solidFill>
                  <a:srgbClr val="1A1D21"/>
                </a:solidFill>
                <a:latin typeface="Times New Roman"/>
              </a:defRPr>
            </a:pPr>
            <a:r>
              <a:t>Çka u ndërtua</a:t>
            </a:r>
          </a:p>
          <a:p>
            <a:pPr>
              <a:defRPr sz="1400">
                <a:solidFill>
                  <a:srgbClr val="838D99"/>
                </a:solidFill>
                <a:latin typeface="Segoe UI"/>
              </a:defRPr>
            </a:pPr>
            <a:r>
              <a:t>Tri qasje të pavarura mbi një sistem të vetëm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737360"/>
            <a:ext cx="1063721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 b="0">
                <a:solidFill>
                  <a:srgbClr val="1A1D21"/>
                </a:solidFill>
                <a:latin typeface="Segoe UI"/>
              </a:defRPr>
            </a:pPr>
            <a:r>
              <a:t>·  A — Strategji detektimi nga literatura (Lanza &amp; Marinescu), me pragje të cituara.</a:t>
            </a:r>
          </a:p>
          <a:p>
            <a:pPr>
              <a:spcAft>
                <a:spcPts val="1400"/>
              </a:spcAft>
              <a:defRPr sz="1900">
                <a:solidFill>
                  <a:srgbClr val="1A1D21"/>
                </a:solidFill>
                <a:latin typeface="Segoe UI"/>
              </a:defRPr>
            </a:pPr>
            <a:r>
              <a:t>·  B — Klasifikues i trajnuar mbi të njëjtat metrika, me etiketat e MLCQ-së.</a:t>
            </a:r>
          </a:p>
          <a:p>
            <a:pPr>
              <a:spcAft>
                <a:spcPts val="1400"/>
              </a:spcAft>
              <a:defRPr sz="1900">
                <a:solidFill>
                  <a:srgbClr val="1A1D21"/>
                </a:solidFill>
                <a:latin typeface="Segoe UI"/>
              </a:defRPr>
            </a:pPr>
            <a:r>
              <a:t>·  C — Motor refaktorimi mbi AST: transformime deterministike, të verifikuara me kompilator.</a:t>
            </a:r>
          </a:p>
          <a:p>
            <a:pPr>
              <a:spcAft>
                <a:spcPts val="1400"/>
              </a:spcAft>
              <a:defRPr sz="1900">
                <a:solidFill>
                  <a:srgbClr val="1A1D21"/>
                </a:solidFill>
                <a:latin typeface="Segoe UI"/>
              </a:defRPr>
            </a:pPr>
            <a:r>
              <a:t>·  Të tria ndajnë një parser, një grup metrikash dhe të njëjtin kod pikëzimi.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106372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0">
                <a:solidFill>
                  <a:srgbClr val="1A1D21"/>
                </a:solidFill>
                <a:latin typeface="Times New Roman"/>
              </a:defRPr>
            </a:pPr>
            <a:r>
              <a:t>Të dhënat</a:t>
            </a:r>
          </a:p>
          <a:p>
            <a:pPr>
              <a:defRPr sz="1400">
                <a:solidFill>
                  <a:srgbClr val="838D99"/>
                </a:solidFill>
                <a:latin typeface="Segoe UI"/>
              </a:defRPr>
            </a:pPr>
            <a:r>
              <a:t>MLCQ: etiketime nga zhvillues profesionistë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28800"/>
            <a:ext cx="354573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0">
                <a:solidFill>
                  <a:srgbClr val="1F4E79"/>
                </a:solidFill>
                <a:latin typeface="Times New Roman"/>
              </a:defRPr>
            </a:pPr>
            <a:r>
              <a:t>9 046</a:t>
            </a:r>
          </a:p>
          <a:p>
            <a:pPr>
              <a:defRPr sz="1400">
                <a:solidFill>
                  <a:srgbClr val="838D99"/>
                </a:solidFill>
                <a:latin typeface="Segoe UI"/>
              </a:defRPr>
            </a:pPr>
            <a:r>
              <a:t>mostra të matura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2978" y="1828800"/>
            <a:ext cx="354573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0">
                <a:solidFill>
                  <a:srgbClr val="1F4E79"/>
                </a:solidFill>
                <a:latin typeface="Times New Roman"/>
              </a:defRPr>
            </a:pPr>
            <a:r>
              <a:t>512</a:t>
            </a:r>
          </a:p>
          <a:p>
            <a:pPr>
              <a:defRPr sz="1400">
                <a:solidFill>
                  <a:srgbClr val="838D99"/>
                </a:solidFill>
                <a:latin typeface="Segoe UI"/>
              </a:defRPr>
            </a:pPr>
            <a:r>
              <a:t>depo Java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8716" y="1828800"/>
            <a:ext cx="354573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0">
                <a:solidFill>
                  <a:srgbClr val="1F4E79"/>
                </a:solidFill>
                <a:latin typeface="Times New Roman"/>
              </a:defRPr>
            </a:pPr>
            <a:r>
              <a:t>4</a:t>
            </a:r>
          </a:p>
          <a:p>
            <a:pPr>
              <a:defRPr sz="1400">
                <a:solidFill>
                  <a:srgbClr val="838D99"/>
                </a:solidFill>
                <a:latin typeface="Segoe UI"/>
              </a:defRPr>
            </a:pPr>
            <a:r>
              <a:t>erëra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840480"/>
            <a:ext cx="1063721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0">
                <a:solidFill>
                  <a:srgbClr val="1A1D21"/>
                </a:solidFill>
                <a:latin typeface="Segoe UI"/>
              </a:defRPr>
            </a:pPr>
            <a:r>
              <a:t>·  Korpusi shkarkohet nga commit-et që MLCQ-ja emërton, jo nga HEAD.</a:t>
            </a:r>
          </a:p>
          <a:p>
            <a:pPr>
              <a:spcAft>
                <a:spcPts val="1400"/>
              </a:spcAft>
              <a:defRPr sz="1400">
                <a:solidFill>
                  <a:srgbClr val="1A1D21"/>
                </a:solidFill>
                <a:latin typeface="Segoe UI"/>
              </a:defRPr>
            </a:pPr>
            <a:r>
              <a:t>·  Çdo mostër lidhet me entitetin e vet përmes rangut të rreshtave, jo emrit.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106372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0">
                <a:solidFill>
                  <a:srgbClr val="1A1D21"/>
                </a:solidFill>
                <a:latin typeface="Times New Roman"/>
              </a:defRPr>
            </a:pPr>
            <a:r>
              <a:t>Si matet</a:t>
            </a:r>
          </a:p>
          <a:p>
            <a:pPr>
              <a:defRPr sz="1400">
                <a:solidFill>
                  <a:srgbClr val="838D99"/>
                </a:solidFill>
                <a:latin typeface="Segoe UI"/>
              </a:defRPr>
            </a:pPr>
            <a:r>
              <a:t>Ndarja është vendi ku rezultatet fryhen më lehtë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737360"/>
            <a:ext cx="1063721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 b="0">
                <a:solidFill>
                  <a:srgbClr val="1A1D21"/>
                </a:solidFill>
                <a:latin typeface="Segoe UI"/>
              </a:defRPr>
            </a:pPr>
            <a:r>
              <a:t>·  Ndarja është e grupuar sipas depos: asnjë projekt nuk shfaqet në të dyja anët.</a:t>
            </a:r>
          </a:p>
          <a:p>
            <a:pPr>
              <a:spcAft>
                <a:spcPts val="1400"/>
              </a:spcAft>
              <a:defRPr sz="1900">
                <a:solidFill>
                  <a:srgbClr val="1A1D21"/>
                </a:solidFill>
                <a:latin typeface="Segoe UI"/>
              </a:defRPr>
            </a:pPr>
            <a:r>
              <a:t>·  Një ndarje e rastësishme sipas rreshtave do të vinte kod të kopjuar nga i njëjti projekt në të dy anët, dhe do t'i fryjë të gjitha shifrat.</a:t>
            </a:r>
          </a:p>
          <a:p>
            <a:pPr>
              <a:spcAft>
                <a:spcPts val="1400"/>
              </a:spcAft>
              <a:defRPr sz="1900">
                <a:solidFill>
                  <a:srgbClr val="1A1D21"/>
                </a:solidFill>
                <a:latin typeface="Segoe UI"/>
              </a:defRPr>
            </a:pPr>
            <a:r>
              <a:t>·  Raportohet MCC, jo saktësia: kur shumica e etiketave janë «asnjë erë», një detektor që nuk ndez kurrë duket i shkëlqyer.</a:t>
            </a:r>
          </a:p>
          <a:p>
            <a:pPr>
              <a:spcAft>
                <a:spcPts val="1400"/>
              </a:spcAft>
              <a:defRPr sz="1900">
                <a:solidFill>
                  <a:srgbClr val="1A1D21"/>
                </a:solidFill>
                <a:latin typeface="Segoe UI"/>
              </a:defRPr>
            </a:pPr>
            <a:r>
              <a:t>·  Klasifikuesi i shumicës raportohet për çdo erë, si kontroll.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106372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0">
                <a:solidFill>
                  <a:srgbClr val="1A1D21"/>
                </a:solidFill>
                <a:latin typeface="Times New Roman"/>
              </a:defRPr>
            </a:pPr>
            <a:r>
              <a:t>PK1 — Qasja A: strategjitë</a:t>
            </a:r>
          </a:p>
          <a:p>
            <a:pPr>
              <a:defRPr sz="1400">
                <a:solidFill>
                  <a:srgbClr val="838D99"/>
                </a:solidFill>
                <a:latin typeface="Segoe UI"/>
              </a:defRPr>
            </a:pPr>
            <a:r>
              <a:t>Precizion i lartë, recall i ulët, kudo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77240" y="1828800"/>
          <a:ext cx="10637215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7443"/>
                <a:gridCol w="2127443"/>
                <a:gridCol w="2127443"/>
                <a:gridCol w="2127443"/>
                <a:gridCol w="2127443"/>
              </a:tblGrid>
              <a:tr h="91440">
                <a:tc>
                  <a:txBody>
                    <a:bodyPr/>
                    <a:lstStyle/>
                    <a:p>
                      <a:pPr>
                        <a:defRPr sz="1400" b="1">
                          <a:latin typeface="Segoe UI"/>
                        </a:defRPr>
                      </a:pPr>
                      <a:r>
                        <a:t>Erë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latin typeface="Segoe UI"/>
                        </a:defRPr>
                      </a:pPr>
                      <a:r>
                        <a:t>Precizion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latin typeface="Segoe UI"/>
                        </a:defRPr>
                      </a:pPr>
                      <a:r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latin typeface="Segoe UI"/>
                        </a:defRPr>
                      </a:pPr>
                      <a:r>
                        <a:t>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latin typeface="Segoe UI"/>
                        </a:defRPr>
                      </a:pPr>
                      <a:r>
                        <a:t>MCC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pPr>
                        <a:defRPr sz="1600">
                          <a:latin typeface="Segoe UI"/>
                        </a:defRPr>
                      </a:pPr>
                      <a:r>
                        <a:t>Blob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600">
                          <a:latin typeface="Segoe UI"/>
                        </a:defRPr>
                      </a:pPr>
                      <a:r>
                        <a:t>0.816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600">
                          <a:latin typeface="Segoe UI"/>
                        </a:defRPr>
                      </a:pPr>
                      <a:r>
                        <a:t>0.174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600">
                          <a:latin typeface="Segoe UI"/>
                        </a:defRPr>
                      </a:pPr>
                      <a:r>
                        <a:t>0.286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600">
                          <a:latin typeface="Segoe UI"/>
                        </a:defRPr>
                      </a:pPr>
                      <a:r>
                        <a:t>0.336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pPr>
                        <a:defRPr sz="1600">
                          <a:latin typeface="Segoe UI"/>
                        </a:defRPr>
                      </a:pPr>
                      <a:r>
                        <a:t>Data 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600">
                          <a:latin typeface="Segoe UI"/>
                        </a:defRPr>
                      </a:pPr>
                      <a:r>
                        <a:t>0.765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600">
                          <a:latin typeface="Segoe UI"/>
                        </a:defRPr>
                      </a:pPr>
                      <a:r>
                        <a:t>0.230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600">
                          <a:latin typeface="Segoe UI"/>
                        </a:defRPr>
                      </a:pPr>
                      <a:r>
                        <a:t>0.353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600">
                          <a:latin typeface="Segoe UI"/>
                        </a:defRPr>
                      </a:pPr>
                      <a:r>
                        <a:t>0.367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pPr>
                        <a:defRPr sz="1600">
                          <a:latin typeface="Segoe UI"/>
                        </a:defRPr>
                      </a:pPr>
                      <a:r>
                        <a:t>Feature Envy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600">
                          <a:latin typeface="Segoe UI"/>
                        </a:defRPr>
                      </a:pPr>
                      <a:r>
                        <a:t>0.413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600">
                          <a:latin typeface="Segoe UI"/>
                        </a:defRPr>
                      </a:pPr>
                      <a:r>
                        <a:t>0.188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600">
                          <a:latin typeface="Segoe UI"/>
                        </a:defRPr>
                      </a:pPr>
                      <a:r>
                        <a:t>0.258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600">
                          <a:latin typeface="Segoe UI"/>
                        </a:defRPr>
                      </a:pPr>
                      <a:r>
                        <a:t>0.243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pPr>
                        <a:defRPr sz="1600">
                          <a:latin typeface="Segoe UI"/>
                        </a:defRPr>
                      </a:pPr>
                      <a:r>
                        <a:t>Long 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600">
                          <a:latin typeface="Segoe UI"/>
                        </a:defRPr>
                      </a:pPr>
                      <a:r>
                        <a:t>0.888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600">
                          <a:latin typeface="Segoe UI"/>
                        </a:defRPr>
                      </a:pPr>
                      <a:r>
                        <a:t>0.470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600">
                          <a:latin typeface="Segoe UI"/>
                        </a:defRPr>
                      </a:pPr>
                      <a:r>
                        <a:t>0.615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600">
                          <a:latin typeface="Segoe UI"/>
                        </a:defRPr>
                      </a:pPr>
                      <a:r>
                        <a:t>0.617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77240" y="4846320"/>
            <a:ext cx="1063721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0">
                <a:solidFill>
                  <a:srgbClr val="1A1D21"/>
                </a:solidFill>
                <a:latin typeface="Segoe UI"/>
              </a:defRPr>
            </a:pPr>
            <a:r>
              <a:t>·  Kur strategjia ndez, zakonisht ka të drejtë. Por ndez rrallë.</a:t>
            </a:r>
          </a:p>
          <a:p>
            <a:pPr>
              <a:spcAft>
                <a:spcPts val="1400"/>
              </a:spcAft>
              <a:defRPr sz="1400">
                <a:solidFill>
                  <a:srgbClr val="1A1D21"/>
                </a:solidFill>
                <a:latin typeface="Segoe UI"/>
              </a:defRPr>
            </a:pPr>
            <a:r>
              <a:t>·  PMD-ja, me të njëjtat strategji dhe pragjet e veta, nuk del përpara në asnjë krahasim; te Long Method dhe te Blob me madhësinë del pas.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106372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0">
                <a:solidFill>
                  <a:srgbClr val="1A1D21"/>
                </a:solidFill>
                <a:latin typeface="Times New Roman"/>
              </a:defRPr>
            </a:pPr>
            <a:r>
              <a:t>PK2 — Qasja B kundrejt A</a:t>
            </a:r>
          </a:p>
          <a:p>
            <a:pPr>
              <a:defRPr sz="1400">
                <a:solidFill>
                  <a:srgbClr val="838D99"/>
                </a:solidFill>
                <a:latin typeface="Segoe UI"/>
              </a:defRPr>
            </a:pPr>
            <a:r>
              <a:t>I njëjti korpus, i njëjti kod pikëzimi</a:t>
            </a:r>
          </a:p>
        </p:txBody>
      </p:sp>
      <p:pic>
        <p:nvPicPr>
          <p:cNvPr id="3" name="Picture 2" descr="mcc_a_vs_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5196" y="1737360"/>
            <a:ext cx="6941302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106372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0">
                <a:solidFill>
                  <a:srgbClr val="1A1D21"/>
                </a:solidFill>
                <a:latin typeface="Times New Roman"/>
              </a:defRPr>
            </a:pPr>
            <a:r>
              <a:t>Sa të mira janë vërtet këto shifra?</a:t>
            </a:r>
          </a:p>
          <a:p>
            <a:pPr>
              <a:defRPr sz="1400">
                <a:solidFill>
                  <a:srgbClr val="838D99"/>
                </a:solidFill>
                <a:latin typeface="Segoe UI"/>
              </a:defRPr>
            </a:pPr>
            <a:r>
              <a:t>Tavani nuk është 1.0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77240" y="1828800"/>
          <a:ext cx="10637215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9303"/>
                <a:gridCol w="2659303"/>
                <a:gridCol w="2659303"/>
                <a:gridCol w="2659306"/>
              </a:tblGrid>
              <a:tr h="91440">
                <a:tc>
                  <a:txBody>
                    <a:bodyPr/>
                    <a:lstStyle/>
                    <a:p>
                      <a:pPr>
                        <a:defRPr sz="1400" b="1">
                          <a:latin typeface="Segoe UI"/>
                        </a:defRPr>
                      </a:pPr>
                      <a:r>
                        <a:t>Erë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latin typeface="Segoe UI"/>
                        </a:defRPr>
                      </a:pPr>
                      <a:r>
                        <a:t>MCC: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latin typeface="Segoe UI"/>
                        </a:defRPr>
                      </a:pPr>
                      <a:r>
                        <a:t>MCC: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latin typeface="Segoe UI"/>
                        </a:defRPr>
                      </a:pPr>
                      <a:r>
                        <a:t>MCC mes rishikuesve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pPr>
                        <a:defRPr sz="1600">
                          <a:latin typeface="Segoe UI"/>
                        </a:defRPr>
                      </a:pPr>
                      <a:r>
                        <a:t>Blob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600">
                          <a:latin typeface="Segoe UI"/>
                        </a:defRPr>
                      </a:pPr>
                      <a:r>
                        <a:t>0.336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600">
                          <a:latin typeface="Segoe UI"/>
                        </a:defRPr>
                      </a:pPr>
                      <a:r>
                        <a:t>0.539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600">
                          <a:latin typeface="Segoe UI"/>
                        </a:defRPr>
                      </a:pPr>
                      <a:r>
                        <a:t>0.312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pPr>
                        <a:defRPr sz="1600">
                          <a:latin typeface="Segoe UI"/>
                        </a:defRPr>
                      </a:pPr>
                      <a:r>
                        <a:t>Data 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600">
                          <a:latin typeface="Segoe UI"/>
                        </a:defRPr>
                      </a:pPr>
                      <a:r>
                        <a:t>0.367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600">
                          <a:latin typeface="Segoe UI"/>
                        </a:defRPr>
                      </a:pPr>
                      <a:r>
                        <a:t>0.473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600">
                          <a:latin typeface="Segoe UI"/>
                        </a:defRPr>
                      </a:pPr>
                      <a:r>
                        <a:t>0.396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pPr>
                        <a:defRPr sz="1600">
                          <a:latin typeface="Segoe UI"/>
                        </a:defRPr>
                      </a:pPr>
                      <a:r>
                        <a:t>Feature Envy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600">
                          <a:latin typeface="Segoe UI"/>
                        </a:defRPr>
                      </a:pPr>
                      <a:r>
                        <a:t>0.243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600">
                          <a:latin typeface="Segoe UI"/>
                        </a:defRPr>
                      </a:pPr>
                      <a:r>
                        <a:t>0.321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600">
                          <a:latin typeface="Segoe UI"/>
                        </a:defRPr>
                      </a:pPr>
                      <a:r>
                        <a:t>-0.071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pPr>
                        <a:defRPr sz="1600">
                          <a:latin typeface="Segoe UI"/>
                        </a:defRPr>
                      </a:pPr>
                      <a:r>
                        <a:t>Long 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600">
                          <a:latin typeface="Segoe UI"/>
                        </a:defRPr>
                      </a:pPr>
                      <a:r>
                        <a:t>0.617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600">
                          <a:latin typeface="Segoe UI"/>
                        </a:defRPr>
                      </a:pPr>
                      <a:r>
                        <a:t>0.723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600">
                          <a:latin typeface="Segoe UI"/>
                        </a:defRPr>
                      </a:pPr>
                      <a:r>
                        <a:t>0.567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77240" y="4846320"/>
            <a:ext cx="1063721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0">
                <a:solidFill>
                  <a:srgbClr val="1A1D21"/>
                </a:solidFill>
                <a:latin typeface="Segoe UI"/>
              </a:defRPr>
            </a:pPr>
            <a:r>
              <a:t>·  Vetë rishikuesit pajtohen mes tyre me MCC -0.071–0.567. Kjo i vendos të gjitha shifrat e mësipërme në një shkallë tjetër.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106372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0">
                <a:solidFill>
                  <a:srgbClr val="1A1D21"/>
                </a:solidFill>
                <a:latin typeface="Times New Roman"/>
              </a:defRPr>
            </a:pPr>
            <a:r>
              <a:t>PK3 — Qasja C: motori i refaktorimit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28800"/>
            <a:ext cx="354573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0">
                <a:solidFill>
                  <a:srgbClr val="1F4E79"/>
                </a:solidFill>
                <a:latin typeface="Times New Roman"/>
              </a:defRPr>
            </a:pPr>
            <a:r>
              <a:t>15 800</a:t>
            </a:r>
          </a:p>
          <a:p>
            <a:pPr>
              <a:defRPr sz="1400">
                <a:solidFill>
                  <a:srgbClr val="838D99"/>
                </a:solidFill>
                <a:latin typeface="Segoe UI"/>
              </a:defRPr>
            </a:pPr>
            <a:r>
              <a:t>vende të gjetura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2978" y="1828800"/>
            <a:ext cx="354573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0">
                <a:solidFill>
                  <a:srgbClr val="1F4E79"/>
                </a:solidFill>
                <a:latin typeface="Times New Roman"/>
              </a:defRPr>
            </a:pPr>
            <a:r>
              <a:t>3 532</a:t>
            </a:r>
          </a:p>
          <a:p>
            <a:pPr>
              <a:defRPr sz="1400">
                <a:solidFill>
                  <a:srgbClr val="838D99"/>
                </a:solidFill>
                <a:latin typeface="Segoe UI"/>
              </a:defRPr>
            </a:pPr>
            <a:r>
              <a:t>të transformuara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8716" y="1828800"/>
            <a:ext cx="354573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0">
                <a:solidFill>
                  <a:srgbClr val="1F4E79"/>
                </a:solidFill>
                <a:latin typeface="Times New Roman"/>
              </a:defRPr>
            </a:pPr>
            <a:r>
              <a:t>22%</a:t>
            </a:r>
          </a:p>
          <a:p>
            <a:pPr>
              <a:defRPr sz="1400">
                <a:solidFill>
                  <a:srgbClr val="838D99"/>
                </a:solidFill>
                <a:latin typeface="Segoe UI"/>
              </a:defRPr>
            </a:pPr>
            <a:r>
              <a:t>e vendeve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840480"/>
            <a:ext cx="1063721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0">
                <a:solidFill>
                  <a:srgbClr val="1A1D21"/>
                </a:solidFill>
                <a:latin typeface="Segoe UI"/>
              </a:defRPr>
            </a:pPr>
            <a:r>
              <a:t>·  Refuzimi është rezultat i saktë, jo dështim: motori nuk e prek kodin kur parakushti nuk provohet nga pema e analizës.</a:t>
            </a:r>
          </a:p>
          <a:p>
            <a:pPr>
              <a:spcAft>
                <a:spcPts val="1400"/>
              </a:spcAft>
              <a:defRPr sz="1400">
                <a:solidFill>
                  <a:srgbClr val="1A1D21"/>
                </a:solidFill>
                <a:latin typeface="Segoe UI"/>
              </a:defRPr>
            </a:pPr>
            <a:r>
              <a:t>·  Arsyeja kryesore është që forma e kodit nuk përputhet — 45% e vendeve.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106372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0">
                <a:solidFill>
                  <a:srgbClr val="1A1D21"/>
                </a:solidFill>
                <a:latin typeface="Times New Roman"/>
              </a:defRPr>
            </a:pPr>
            <a:r>
              <a:t>Verifikimi, dhe ku ndalet</a:t>
            </a:r>
          </a:p>
          <a:p>
            <a:pPr>
              <a:defRPr sz="1400">
                <a:solidFill>
                  <a:srgbClr val="838D99"/>
                </a:solidFill>
                <a:latin typeface="Segoe UI"/>
              </a:defRPr>
            </a:pPr>
            <a:r>
              <a:t>Sjellja nuk matet, ndaj nuk është pjesë e PK3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737360"/>
            <a:ext cx="1063721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 b="0">
                <a:solidFill>
                  <a:srgbClr val="1A1D21"/>
                </a:solidFill>
                <a:latin typeface="Segoe UI"/>
              </a:defRPr>
            </a:pPr>
            <a:r>
              <a:t>·  Çdo rishkrim kalon nga javac. Pretendimi është «kompilon» ose «nuk shton lloj të ri gabimi», dhe i dyti nuk është garanci.</a:t>
            </a:r>
          </a:p>
          <a:p>
            <a:pPr>
              <a:spcAft>
                <a:spcPts val="1400"/>
              </a:spcAft>
              <a:defRPr sz="1900">
                <a:solidFill>
                  <a:srgbClr val="1A1D21"/>
                </a:solidFill>
                <a:latin typeface="Segoe UI"/>
              </a:defRPr>
            </a:pPr>
            <a:r>
              <a:t>·  I kompiluar brenda projektit të vet, verdikti më i fortë ngjitet nga 4 te 66 nga 201 rishkrime të mostrës.</a:t>
            </a:r>
          </a:p>
          <a:p>
            <a:pPr>
              <a:spcAft>
                <a:spcPts val="1400"/>
              </a:spcAft>
              <a:defRPr sz="1900">
                <a:solidFill>
                  <a:srgbClr val="1A1D21"/>
                </a:solidFill>
                <a:latin typeface="Segoe UI"/>
              </a:defRPr>
            </a:pPr>
            <a:r>
              <a:t>·  Ruajtja e sjelljes nuk verifikohet: korpusi mban vetëm skedarë .java, pa skedarë ndërtimi dhe pa varësi, ndaj asnjë suitë testesh nuk ekzekutohet dot.</a:t>
            </a:r>
          </a:p>
          <a:p>
            <a:pPr>
              <a:spcAft>
                <a:spcPts val="1400"/>
              </a:spcAft>
              <a:defRPr sz="1900">
                <a:solidFill>
                  <a:srgbClr val="1A1D21"/>
                </a:solidFill>
                <a:latin typeface="Segoe UI"/>
              </a:defRPr>
            </a:pPr>
            <a:r>
              <a:t>·  Kjo raportohet si kufizim, jo si pretendim i arritur.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106372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0">
                <a:solidFill>
                  <a:srgbClr val="1A1D21"/>
                </a:solidFill>
                <a:latin typeface="Times New Roman"/>
              </a:defRPr>
            </a:pPr>
            <a:r>
              <a:t>A ia vlejnë rishkrimet?</a:t>
            </a:r>
          </a:p>
          <a:p>
            <a:pPr>
              <a:defRPr sz="1400">
                <a:solidFill>
                  <a:srgbClr val="838D99"/>
                </a:solidFill>
                <a:latin typeface="Segoe UI"/>
              </a:defRPr>
            </a:pPr>
            <a:r>
              <a:t>60 rishkrime të lexuara sipas një rubrike, pa parë verdiktin e kompilatorit</a:t>
            </a:r>
          </a:p>
        </p:txBody>
      </p:sp>
      <p:pic>
        <p:nvPicPr>
          <p:cNvPr id="3" name="Picture 2" descr="pranueshmeria_e_rishkrime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1307" y="1737360"/>
            <a:ext cx="7049080" cy="3108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" y="4937760"/>
            <a:ext cx="1063721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0">
                <a:solidFill>
                  <a:srgbClr val="1A1D21"/>
                </a:solidFill>
                <a:latin typeface="Segoe UI"/>
              </a:defRPr>
            </a:pPr>
            <a:r>
              <a:t>·  Të ripeshuara: 63% të pranueshme për një zhvillues, zakonisht pas një ndreqjeje të vogël.</a:t>
            </a:r>
          </a:p>
          <a:p>
            <a:pPr>
              <a:spcAft>
                <a:spcPts val="1400"/>
              </a:spcAft>
              <a:defRPr sz="1400">
                <a:solidFill>
                  <a:srgbClr val="1A1D21"/>
                </a:solidFill>
                <a:latin typeface="Segoe UI"/>
              </a:defRPr>
            </a:pPr>
            <a:r>
              <a:t>·  Introduce Parameter Object e heq erën nga matja, jo nga kodi: lista e gjatë kalon te konstruktori.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106372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0">
                <a:solidFill>
                  <a:srgbClr val="1A1D21"/>
                </a:solidFill>
                <a:latin typeface="Times New Roman"/>
              </a:defRPr>
            </a:pPr>
            <a:r>
              <a:t>Përgjigjet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737360"/>
            <a:ext cx="1063721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 b="0">
                <a:solidFill>
                  <a:srgbClr val="1A1D21"/>
                </a:solidFill>
                <a:latin typeface="Segoe UI"/>
              </a:defRPr>
            </a:pPr>
            <a:r>
              <a:t>·  PK1 — Strategjitë janë të sakta kur ndezin, por e humbin shumicën e rasteve.</a:t>
            </a:r>
          </a:p>
          <a:p>
            <a:pPr>
              <a:spcAft>
                <a:spcPts val="1400"/>
              </a:spcAft>
              <a:defRPr sz="1900">
                <a:solidFill>
                  <a:srgbClr val="1A1D21"/>
                </a:solidFill>
                <a:latin typeface="Segoe UI"/>
              </a:defRPr>
            </a:pPr>
            <a:r>
              <a:t>·  PK2 — Po, te tri nga katër erërat. Modeli i tejkalon pragjet fikse mbi të njëjtën ndarje; te Feature Envy dallimi nuk dallohet nga zeroja.</a:t>
            </a:r>
          </a:p>
          <a:p>
            <a:pPr>
              <a:spcAft>
                <a:spcPts val="1400"/>
              </a:spcAft>
              <a:defRPr sz="1900">
                <a:solidFill>
                  <a:srgbClr val="1A1D21"/>
                </a:solidFill>
                <a:latin typeface="Segoe UI"/>
              </a:defRPr>
            </a:pPr>
            <a:r>
              <a:t>·  PK3 — Pjesërisht. Rishkrimet u verifikuan me kompilator dhe u rimatën; struktura përmirësohet te Guard Clauses dhe Extract Method, jo te Introduce Parameter Object. Sjellja nuk u mat.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106372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0">
                <a:solidFill>
                  <a:srgbClr val="1A1D21"/>
                </a:solidFill>
                <a:latin typeface="Times New Roman"/>
              </a:defRPr>
            </a:pPr>
            <a:r>
              <a:t>Kufizimet</a:t>
            </a:r>
          </a:p>
          <a:p>
            <a:pPr>
              <a:defRPr sz="1400">
                <a:solidFill>
                  <a:srgbClr val="838D99"/>
                </a:solidFill>
                <a:latin typeface="Segoe UI"/>
              </a:defRPr>
            </a:pPr>
            <a:r>
              <a:t>Të raportuara, jo të zbutura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737360"/>
            <a:ext cx="1063721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 b="0">
                <a:solidFill>
                  <a:srgbClr val="1A1D21"/>
                </a:solidFill>
                <a:latin typeface="Segoe UI"/>
              </a:defRPr>
            </a:pPr>
            <a:r>
              <a:t>·  E vërteta bazë është subjektive: rishikuesit pajtohen vetëm mesatarisht, dhe për Feature Envy aspak.</a:t>
            </a:r>
          </a:p>
          <a:p>
            <a:pPr>
              <a:spcAft>
                <a:spcPts val="1400"/>
              </a:spcAft>
              <a:defRPr sz="1900">
                <a:solidFill>
                  <a:srgbClr val="1A1D21"/>
                </a:solidFill>
                <a:latin typeface="Segoe UI"/>
              </a:defRPr>
            </a:pPr>
            <a:r>
              <a:t>·  Analiza është statike dhe nuk zgjidh tipa: varësitë semantike trajtohen konservativisht.</a:t>
            </a:r>
          </a:p>
          <a:p>
            <a:pPr>
              <a:spcAft>
                <a:spcPts val="1400"/>
              </a:spcAft>
              <a:defRPr sz="1900">
                <a:solidFill>
                  <a:srgbClr val="1A1D21"/>
                </a:solidFill>
                <a:latin typeface="Segoe UI"/>
              </a:defRPr>
            </a:pPr>
            <a:r>
              <a:t>·  Ashpërsia e derivuar u krahasua me atë të rishikuesve, rezultati doli negativ, dhe pretendimi u hoq.</a:t>
            </a:r>
          </a:p>
          <a:p>
            <a:pPr>
              <a:spcAft>
                <a:spcPts val="1400"/>
              </a:spcAft>
              <a:defRPr sz="1900">
                <a:solidFill>
                  <a:srgbClr val="1A1D21"/>
                </a:solidFill>
                <a:latin typeface="Segoe UI"/>
              </a:defRPr>
            </a:pPr>
            <a:r>
              <a:t>·  Sjellja e kodit të rishkruar mbetet e paverifikuar.</a:t>
            </a:r>
          </a:p>
          <a:p>
            <a:pPr>
              <a:spcAft>
                <a:spcPts val="1400"/>
              </a:spcAft>
              <a:defRPr sz="1900">
                <a:solidFill>
                  <a:srgbClr val="1A1D21"/>
                </a:solidFill>
                <a:latin typeface="Segoe UI"/>
              </a:defRPr>
            </a:pPr>
            <a:r>
              <a:t>·  Cilësia e rishkrimeve u gjykua nga një rishikues i vetëm.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106372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0">
                <a:solidFill>
                  <a:srgbClr val="1A1D21"/>
                </a:solidFill>
                <a:latin typeface="Times New Roman"/>
              </a:defRPr>
            </a:pPr>
            <a:r>
              <a:t>Kontributi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737360"/>
            <a:ext cx="1063721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 b="0">
                <a:solidFill>
                  <a:srgbClr val="1A1D21"/>
                </a:solidFill>
                <a:latin typeface="Segoe UI"/>
              </a:defRPr>
            </a:pPr>
            <a:r>
              <a:t>·  Dy qasje detektimi të vlerësuara mbi të njëjtin korpus me të njëjtin kod pikëzimi, me ndarje të grupuar dhe të deklaruar.</a:t>
            </a:r>
          </a:p>
          <a:p>
            <a:pPr>
              <a:spcAft>
                <a:spcPts val="1400"/>
              </a:spcAft>
              <a:defRPr sz="1900">
                <a:solidFill>
                  <a:srgbClr val="1A1D21"/>
                </a:solidFill>
                <a:latin typeface="Segoe UI"/>
              </a:defRPr>
            </a:pPr>
            <a:r>
              <a:t>·  Lidhja mes detektimit dhe refaktorimit e matur empirikisht: sa nga rastet e gjetura arrijnë të transformohen vërtet.</a:t>
            </a:r>
          </a:p>
          <a:p>
            <a:pPr>
              <a:spcAft>
                <a:spcPts val="1400"/>
              </a:spcAft>
              <a:defRPr sz="1900">
                <a:solidFill>
                  <a:srgbClr val="1A1D21"/>
                </a:solidFill>
                <a:latin typeface="Segoe UI"/>
              </a:defRPr>
            </a:pPr>
            <a:r>
              <a:t>·  Rezultatet negative të raportuara, jo të fshehura.</a:t>
            </a:r>
          </a:p>
          <a:p>
            <a:pPr>
              <a:spcAft>
                <a:spcPts val="1400"/>
              </a:spcAft>
              <a:defRPr sz="1900">
                <a:solidFill>
                  <a:srgbClr val="1A1D21"/>
                </a:solidFill>
                <a:latin typeface="Segoe UI"/>
              </a:defRPr>
            </a:pPr>
            <a:r>
              <a:t>·  Çdo shifër e riprodhueshme nga një skript, dhe riprodhimi u vu në provë.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743200"/>
            <a:ext cx="106372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0">
                <a:solidFill>
                  <a:srgbClr val="1A1D21"/>
                </a:solidFill>
                <a:latin typeface="Times New Roman"/>
              </a:defRPr>
            </a:pPr>
            <a:r>
              <a:t>Faleminderit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3749039"/>
            <a:ext cx="106372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838D99"/>
                </a:solidFill>
                <a:latin typeface="Segoe UI"/>
              </a:defRPr>
            </a:pPr>
            <a:r>
              <a:t>Pyetje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106372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0">
                <a:solidFill>
                  <a:srgbClr val="1A1D21"/>
                </a:solidFill>
                <a:latin typeface="Times New Roman"/>
              </a:defRPr>
            </a:pPr>
            <a:r>
              <a:t>Rezervë — ndjeshmëria ndaj pragjeve</a:t>
            </a:r>
          </a:p>
        </p:txBody>
      </p:sp>
      <p:pic>
        <p:nvPicPr>
          <p:cNvPr id="3" name="Picture 2" descr="ndjeshmeria_e_pragje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2974" y="1737360"/>
            <a:ext cx="6345747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57200"/>
            <a:ext cx="106372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0">
                <a:solidFill>
                  <a:srgbClr val="1A1D21"/>
                </a:solidFill>
                <a:latin typeface="Times New Roman"/>
              </a:defRPr>
            </a:pPr>
            <a:r>
              <a:t>Rezervë — çka zgjodhi modeli</a:t>
            </a:r>
          </a:p>
        </p:txBody>
      </p:sp>
      <p:pic>
        <p:nvPicPr>
          <p:cNvPr id="3" name="Picture 2" descr="rendesia_e_vecor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4982" y="1737360"/>
            <a:ext cx="4621731" cy="39319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